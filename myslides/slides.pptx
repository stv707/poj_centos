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Tempoh Slaid: 2 minit
Masa Kumulatif: 00:00 - 00:02
Selamat petang dan salam sejahtera kepada warga Jabatan Kehakiman Malaysia (POJ Putrajaya).
Selamat datang ke bengkel "Pentadbiran CentOS Stream 10: Siasatan Sistem, Keselamatan, Storan LVM &amp; Automasi."
Nama saya Steven Nagendran daripada Cognitoz I.T Training.
Sesi 2 jam ini dirangka khas untuk pentadbir sistem dengan pendekatan amali berasaskan bukti kukuh.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Tempoh Slaid: 2 minit
Masa Kumulatif: 00:02 - 00:04
Perkongsian hari ini menggabungkan amalan pentadbiran CentOS Stream 10 bertaraf enterprise dengan automasi dan standard keselamatan sektor awam.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Tempoh Slaid: 3 minit
Masa Kumulatif: 00:04 - 00:07
Kita membahagikan 120 minit ini kepada 5 bahagian penting. Setiap modul akan diiringi sesi hands-on di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Tempoh Slaid: 3 minit
Masa Kumulatif: 00:07 - 00:10
Setiap pelatih mempunyai satu droplet penuh CentOS Stream 10. Anda mempunyai hak penuh pengurusan kernel dan storan.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Tempoh Slaid: 5 minit
Masa Kumulatif: 00:10 - 00:15
systemd adalah nadi sistem operasi. Ia menguruskan segala-galanya daripada perkhidmatan hinggalah kawalan memori.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Tempoh Slaid: 5 minit
Masa Kumulatif: 00:15 - 00:20
Jangan terus merestart servis berulang kali secara rawak. Gunakan kaedah 5-Langkah ini untuk mengesan punca sebenar.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Tempoh Slaid: 5 minit
Masa Kumulatif: 00:20 - 00:25
journalctl membolehkan kita menapis log dengan tepat tanpa perlu membuka fail teks yang besar menggunakan grep atau 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Tempoh Slaid: 10 minit
Masa Kumulatif: 00:25 - 00:35
Sila beralih ke terminal masing-masing dan mulakan Latihan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Tempoh Slaid: 5 minit
Masa Kumulatif: 00:35 - 00:40
Dalam CentOS, standard keselamatan adalah menggunakan kumpulan wheel dan fail modular di /etc/sudoers.d/.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Tempoh Slaid: 5 minit
Masa Kumulatif: 00:40 - 00:45
SetGID menyelesaikan masalah kolaborasi berkumpulan tanpa perlu campur tangan pentadbir setiap kali ada fail baharu.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Tempoh Slaid: 5 minit
Masa Kumulatif: 00:45 - 00:50
Granular sudo membolehkan pegawai audit menyemak log tanpa membenarkan mereka mengubah fail sistem.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Tempoh Slaid: 10 minit
Masa Kumulatif: 00:50 - 01:00
Mari kita jalankan Latihan 2 di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Tempoh Slaid: 5 minit
Masa Kumulatif: 01:00 - 01:05
LVM memberikan fleksibiliti mutlak. Kita boleh membesarkan storan pangkalan data atau fail kehakiman tanpa mengganggu operasi sistem.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Tempoh Slaid: 5 minit
Masa Kumulatif: 01:05 - 01:10
Ciri xfs_growfs membolehkan storan pangkalan data dibesarkan ketika pengguna sedang menggunakan sistem.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Tempoh Slaid: 10 minit
Masa Kumulatif: 01:10 - 01:20
Sila buka terminal dan jalankan Latihan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Tempoh Slaid: 5 minit
Masa Kumulatif: 01:20 - 01:25
Dalam CentOS, kita menggunakan ss untuk audit dan firewalld untuk kawalan akses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Tempoh Slaid: 5 minit
Masa Kumulatif: 01:25 - 01:30
Rich Rules membolehkan kita membuka port hanya kepada pegawai tertentu, bukan kepada seluruh dunia.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Tempoh Slaid: 10 minit
Masa Kumulatif: 01:30 - 01:40
Mari kita jalankan Latihan 4 di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Tempoh Slaid: 5 minit
Masa Kumulatif: 01:40 - 01:45
DNF history dan rpm -V membolehkan audit sistem dijalankan dengan pantas, manakala cron menjamin automasi berterusan.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Tempoh Slaid: 10 minit
Masa Kumulatif: 01:45 - 01:55
Sila beralih ke terminal untuk latihan amali terakhir, Latihan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Tempoh Slaid: 2 minit
Masa Kumulatif: 01:55 - 01:57
Ini adalah 5 teras utama pentadbiran CentOS yang membezakan pentadbir profesional dengan amatur.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Tempoh Slaid: 3 minit
Masa Kumulatif: 01:57 - 02:00
Kita kini membuka ruang untuk sebarang soalan teknikal dan perbincangan terbuka.
Sila luangkan masa untuk mengimbas kod QR dan mengisi borang maklum balas bengkel.
Bagi pihak Cognitoz I.T Training, terima kasih banyak dan selamat maju jaya!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3044952" cy="73152"/>
          </a:xfrm>
          <a:prstGeom prst="rect">
            <a:avLst/>
          </a:prstGeom>
          <a:solidFill>
            <a:srgbClr val="7E22CE"/>
          </a:solidFill>
          <a:ln/>
        </p:spPr>
      </p:sp>
      <p:sp>
        <p:nvSpPr>
          <p:cNvPr id="3" name="Shape 1"/>
          <p:cNvSpPr/>
          <p:nvPr/>
        </p:nvSpPr>
        <p:spPr>
          <a:xfrm>
            <a:off x="3044952" y="0"/>
            <a:ext cx="3044952" cy="73152"/>
          </a:xfrm>
          <a:prstGeom prst="rect">
            <a:avLst/>
          </a:prstGeom>
          <a:solidFill>
            <a:srgbClr val="0078D4"/>
          </a:solidFill>
          <a:ln/>
        </p:spPr>
      </p:sp>
      <p:sp>
        <p:nvSpPr>
          <p:cNvPr id="4" name="Shape 2"/>
          <p:cNvSpPr/>
          <p:nvPr/>
        </p:nvSpPr>
        <p:spPr>
          <a:xfrm>
            <a:off x="6089904" y="0"/>
            <a:ext cx="3044952" cy="73152"/>
          </a:xfrm>
          <a:prstGeom prst="rect">
            <a:avLst/>
          </a:prstGeom>
          <a:solidFill>
            <a:srgbClr val="009E96"/>
          </a:solidFill>
          <a:ln/>
        </p:spPr>
      </p:sp>
      <p:sp>
        <p:nvSpPr>
          <p:cNvPr id="5" name="Shape 3"/>
          <p:cNvSpPr/>
          <p:nvPr/>
        </p:nvSpPr>
        <p:spPr>
          <a:xfrm>
            <a:off x="9134856" y="0"/>
            <a:ext cx="3054096" cy="73152"/>
          </a:xfrm>
          <a:prstGeom prst="rect">
            <a:avLst/>
          </a:prstGeom>
          <a:solidFill>
            <a:srgbClr val="D97706"/>
          </a:solidFill>
          <a:ln/>
        </p:spPr>
      </p:sp>
      <p:pic>
        <p:nvPicPr>
          <p:cNvPr id="6" name="Image 0" descr="D:/betalab.cognitoz.com/workshops/poj_centos/public/cognitoz-logo.png">    </p:cNvPr>
          <p:cNvPicPr>
            <a:picLocks noChangeAspect="1"/>
          </p:cNvPicPr>
          <p:nvPr/>
        </p:nvPicPr>
        <p:blipFill>
          <a:blip r:embed="rId1"/>
          <a:stretch>
            <a:fillRect/>
          </a:stretch>
        </p:blipFill>
        <p:spPr>
          <a:xfrm>
            <a:off x="731520" y="320040"/>
            <a:ext cx="1828800" cy="502920"/>
          </a:xfrm>
          <a:prstGeom prst="rect">
            <a:avLst/>
          </a:prstGeom>
        </p:spPr>
      </p:pic>
      <p:sp>
        <p:nvSpPr>
          <p:cNvPr id="7" name="Shape 4"/>
          <p:cNvSpPr/>
          <p:nvPr/>
        </p:nvSpPr>
        <p:spPr>
          <a:xfrm>
            <a:off x="7772400" y="365760"/>
            <a:ext cx="3749040" cy="384048"/>
          </a:xfrm>
          <a:prstGeom prst="roundRect">
            <a:avLst>
              <a:gd name="adj" fmla="val 50000"/>
            </a:avLst>
          </a:prstGeom>
          <a:solidFill>
            <a:srgbClr val="FFFFFF"/>
          </a:solidFill>
          <a:ln w="12700">
            <a:solidFill>
              <a:srgbClr val="E2E8F0"/>
            </a:solidFill>
            <a:prstDash val="solid"/>
          </a:ln>
        </p:spPr>
      </p:sp>
      <p:sp>
        <p:nvSpPr>
          <p:cNvPr id="8" name="Text 5"/>
          <p:cNvSpPr/>
          <p:nvPr/>
        </p:nvSpPr>
        <p:spPr>
          <a:xfrm>
            <a:off x="7772400" y="365760"/>
            <a:ext cx="3749040" cy="384048"/>
          </a:xfrm>
          <a:prstGeom prst="rect">
            <a:avLst/>
          </a:prstGeom>
          <a:noFill/>
          <a:ln/>
        </p:spPr>
        <p:txBody>
          <a:bodyPr wrap="square" rtlCol="0" anchor="ctr"/>
          <a:lstStyle/>
          <a:p>
            <a:pPr algn="ctr" indent="0" marL="0">
              <a:buNone/>
            </a:pPr>
            <a:r>
              <a:rPr lang="en-US" sz="950" b="1" dirty="0">
                <a:solidFill>
                  <a:srgbClr val="7E22CE"/>
                </a:solidFill>
              </a:rPr>
              <a:t>CentOS Stream 10  |  Enterprise Linux</a:t>
            </a:r>
            <a:endParaRPr lang="en-US" sz="950" dirty="0"/>
          </a:p>
        </p:txBody>
      </p:sp>
      <p:sp>
        <p:nvSpPr>
          <p:cNvPr id="9" name="Text 6"/>
          <p:cNvSpPr/>
          <p:nvPr/>
        </p:nvSpPr>
        <p:spPr>
          <a:xfrm>
            <a:off x="731520" y="1325880"/>
            <a:ext cx="10698480" cy="640080"/>
          </a:xfrm>
          <a:prstGeom prst="rect">
            <a:avLst/>
          </a:prstGeom>
          <a:noFill/>
          <a:ln/>
        </p:spPr>
        <p:txBody>
          <a:bodyPr wrap="square" rtlCol="0" anchor="ctr"/>
          <a:lstStyle/>
          <a:p>
            <a:pPr indent="0" marL="0">
              <a:buNone/>
            </a:pPr>
            <a:r>
              <a:rPr lang="en-US" sz="2700" b="1" dirty="0">
                <a:solidFill>
                  <a:srgbClr val="0F172A"/>
                </a:solidFill>
              </a:rPr>
              <a:t>PENTADBIRAN CENTOS STREAM 10 MODEN</a:t>
            </a:r>
            <a:endParaRPr lang="en-US" sz="2700" dirty="0"/>
          </a:p>
        </p:txBody>
      </p:sp>
      <p:sp>
        <p:nvSpPr>
          <p:cNvPr id="10" name="Text 7"/>
          <p:cNvSpPr/>
          <p:nvPr/>
        </p:nvSpPr>
        <p:spPr>
          <a:xfrm>
            <a:off x="731520" y="2011680"/>
            <a:ext cx="10698480" cy="411480"/>
          </a:xfrm>
          <a:prstGeom prst="rect">
            <a:avLst/>
          </a:prstGeom>
          <a:noFill/>
          <a:ln/>
        </p:spPr>
        <p:txBody>
          <a:bodyPr wrap="square" rtlCol="0" anchor="ctr"/>
          <a:lstStyle/>
          <a:p>
            <a:pPr indent="0" marL="0">
              <a:buNone/>
            </a:pPr>
            <a:r>
              <a:rPr lang="en-US" sz="1500" b="1" dirty="0">
                <a:solidFill>
                  <a:srgbClr val="0078D4"/>
                </a:solidFill>
              </a:rPr>
              <a:t>Siasatan Sistem, Keselamatan, Storan LVM &amp; Automasi Operasi</a:t>
            </a:r>
            <a:endParaRPr lang="en-US" sz="1500" dirty="0"/>
          </a:p>
        </p:txBody>
      </p:sp>
      <p:sp>
        <p:nvSpPr>
          <p:cNvPr id="11" name="Shape 8"/>
          <p:cNvSpPr/>
          <p:nvPr/>
        </p:nvSpPr>
        <p:spPr>
          <a:xfrm>
            <a:off x="731520" y="2606040"/>
            <a:ext cx="2423160" cy="365760"/>
          </a:xfrm>
          <a:prstGeom prst="roundRect">
            <a:avLst>
              <a:gd name="adj" fmla="val 20000"/>
            </a:avLst>
          </a:prstGeom>
          <a:solidFill>
            <a:srgbClr val="EFF6FF"/>
          </a:solidFill>
          <a:ln w="10160">
            <a:solidFill>
              <a:srgbClr val="CBD5E1"/>
            </a:solidFill>
            <a:prstDash val="solid"/>
          </a:ln>
        </p:spPr>
      </p:sp>
      <p:sp>
        <p:nvSpPr>
          <p:cNvPr id="12" name="Text 9"/>
          <p:cNvSpPr/>
          <p:nvPr/>
        </p:nvSpPr>
        <p:spPr>
          <a:xfrm>
            <a:off x="731520" y="2606040"/>
            <a:ext cx="2423160" cy="365760"/>
          </a:xfrm>
          <a:prstGeom prst="rect">
            <a:avLst/>
          </a:prstGeom>
          <a:noFill/>
          <a:ln/>
        </p:spPr>
        <p:txBody>
          <a:bodyPr wrap="square" rtlCol="0" anchor="ctr"/>
          <a:lstStyle/>
          <a:p>
            <a:pPr algn="ctr" indent="0" marL="0">
              <a:buNone/>
            </a:pPr>
            <a:r>
              <a:rPr lang="en-US" sz="950" b="1" dirty="0">
                <a:solidFill>
                  <a:srgbClr val="1D4ED8"/>
                </a:solidFill>
              </a:rPr>
              <a:t>POJ Putrajaya</a:t>
            </a:r>
            <a:endParaRPr lang="en-US" sz="950" dirty="0"/>
          </a:p>
        </p:txBody>
      </p:sp>
      <p:sp>
        <p:nvSpPr>
          <p:cNvPr id="13" name="Shape 10"/>
          <p:cNvSpPr/>
          <p:nvPr/>
        </p:nvSpPr>
        <p:spPr>
          <a:xfrm>
            <a:off x="3291840" y="2606040"/>
            <a:ext cx="2423160" cy="365760"/>
          </a:xfrm>
          <a:prstGeom prst="roundRect">
            <a:avLst>
              <a:gd name="adj" fmla="val 20000"/>
            </a:avLst>
          </a:prstGeom>
          <a:solidFill>
            <a:srgbClr val="ECFDF5"/>
          </a:solidFill>
          <a:ln w="10160">
            <a:solidFill>
              <a:srgbClr val="CBD5E1"/>
            </a:solidFill>
            <a:prstDash val="solid"/>
          </a:ln>
        </p:spPr>
      </p:sp>
      <p:sp>
        <p:nvSpPr>
          <p:cNvPr id="14" name="Text 11"/>
          <p:cNvSpPr/>
          <p:nvPr/>
        </p:nvSpPr>
        <p:spPr>
          <a:xfrm>
            <a:off x="3291840" y="2606040"/>
            <a:ext cx="2423160" cy="365760"/>
          </a:xfrm>
          <a:prstGeom prst="rect">
            <a:avLst/>
          </a:prstGeom>
          <a:noFill/>
          <a:ln/>
        </p:spPr>
        <p:txBody>
          <a:bodyPr wrap="square" rtlCol="0" anchor="ctr"/>
          <a:lstStyle/>
          <a:p>
            <a:pPr algn="ctr" indent="0" marL="0">
              <a:buNone/>
            </a:pPr>
            <a:r>
              <a:rPr lang="en-US" sz="950" b="1" dirty="0">
                <a:solidFill>
                  <a:srgbClr val="047857"/>
                </a:solidFill>
              </a:rPr>
              <a:t>29 September 2026</a:t>
            </a:r>
            <a:endParaRPr lang="en-US" sz="950" dirty="0"/>
          </a:p>
        </p:txBody>
      </p:sp>
      <p:sp>
        <p:nvSpPr>
          <p:cNvPr id="15" name="Shape 12"/>
          <p:cNvSpPr/>
          <p:nvPr/>
        </p:nvSpPr>
        <p:spPr>
          <a:xfrm>
            <a:off x="5852160" y="2606040"/>
            <a:ext cx="2423160" cy="365760"/>
          </a:xfrm>
          <a:prstGeom prst="roundRect">
            <a:avLst>
              <a:gd name="adj" fmla="val 20000"/>
            </a:avLst>
          </a:prstGeom>
          <a:solidFill>
            <a:srgbClr val="F5F3FF"/>
          </a:solidFill>
          <a:ln w="10160">
            <a:solidFill>
              <a:srgbClr val="CBD5E1"/>
            </a:solidFill>
            <a:prstDash val="solid"/>
          </a:ln>
        </p:spPr>
      </p:sp>
      <p:sp>
        <p:nvSpPr>
          <p:cNvPr id="16" name="Text 13"/>
          <p:cNvSpPr/>
          <p:nvPr/>
        </p:nvSpPr>
        <p:spPr>
          <a:xfrm>
            <a:off x="5852160" y="2606040"/>
            <a:ext cx="2423160" cy="365760"/>
          </a:xfrm>
          <a:prstGeom prst="rect">
            <a:avLst/>
          </a:prstGeom>
          <a:noFill/>
          <a:ln/>
        </p:spPr>
        <p:txBody>
          <a:bodyPr wrap="square" rtlCol="0" anchor="ctr"/>
          <a:lstStyle/>
          <a:p>
            <a:pPr algn="ctr" indent="0" marL="0">
              <a:buNone/>
            </a:pPr>
            <a:r>
              <a:rPr lang="en-US" sz="950" b="1" dirty="0">
                <a:solidFill>
                  <a:srgbClr val="6D28D9"/>
                </a:solidFill>
              </a:rPr>
              <a:t>120 Minit (Teori + Amali)</a:t>
            </a:r>
            <a:endParaRPr lang="en-US" sz="950" dirty="0"/>
          </a:p>
        </p:txBody>
      </p:sp>
      <p:sp>
        <p:nvSpPr>
          <p:cNvPr id="17" name="Shape 14"/>
          <p:cNvSpPr/>
          <p:nvPr/>
        </p:nvSpPr>
        <p:spPr>
          <a:xfrm>
            <a:off x="8412480" y="2606040"/>
            <a:ext cx="2423160" cy="365760"/>
          </a:xfrm>
          <a:prstGeom prst="roundRect">
            <a:avLst>
              <a:gd name="adj" fmla="val 20000"/>
            </a:avLst>
          </a:prstGeom>
          <a:solidFill>
            <a:srgbClr val="F8FAFC"/>
          </a:solidFill>
          <a:ln w="10160">
            <a:solidFill>
              <a:srgbClr val="CBD5E1"/>
            </a:solidFill>
            <a:prstDash val="solid"/>
          </a:ln>
        </p:spPr>
      </p:sp>
      <p:sp>
        <p:nvSpPr>
          <p:cNvPr id="18" name="Text 15"/>
          <p:cNvSpPr/>
          <p:nvPr/>
        </p:nvSpPr>
        <p:spPr>
          <a:xfrm>
            <a:off x="8412480" y="2606040"/>
            <a:ext cx="2423160" cy="365760"/>
          </a:xfrm>
          <a:prstGeom prst="rect">
            <a:avLst/>
          </a:prstGeom>
          <a:noFill/>
          <a:ln/>
        </p:spPr>
        <p:txBody>
          <a:bodyPr wrap="square" rtlCol="0" anchor="ctr"/>
          <a:lstStyle/>
          <a:p>
            <a:pPr algn="ctr" indent="0" marL="0">
              <a:buNone/>
            </a:pPr>
            <a:r>
              <a:rPr lang="en-US" sz="950" b="1" dirty="0">
                <a:solidFill>
                  <a:srgbClr val="334155"/>
                </a:solidFill>
              </a:rPr>
              <a:t>Anjuran Cognitoz</a:t>
            </a:r>
            <a:endParaRPr lang="en-US" sz="950" dirty="0"/>
          </a:p>
        </p:txBody>
      </p:sp>
      <p:sp>
        <p:nvSpPr>
          <p:cNvPr id="19" name="Shape 16"/>
          <p:cNvSpPr/>
          <p:nvPr/>
        </p:nvSpPr>
        <p:spPr>
          <a:xfrm>
            <a:off x="731520" y="3246120"/>
            <a:ext cx="3337560" cy="2651760"/>
          </a:xfrm>
          <a:prstGeom prst="roundRect">
            <a:avLst>
              <a:gd name="adj" fmla="val 5172"/>
            </a:avLst>
          </a:prstGeom>
          <a:solidFill>
            <a:srgbClr val="FFFFFF"/>
          </a:solidFill>
          <a:ln w="12700">
            <a:solidFill>
              <a:srgbClr val="E2E8F0"/>
            </a:solidFill>
            <a:prstDash val="solid"/>
          </a:ln>
        </p:spPr>
      </p:sp>
      <p:sp>
        <p:nvSpPr>
          <p:cNvPr id="20" name="Shape 17"/>
          <p:cNvSpPr/>
          <p:nvPr/>
        </p:nvSpPr>
        <p:spPr>
          <a:xfrm>
            <a:off x="731520" y="3246120"/>
            <a:ext cx="3337560" cy="73152"/>
          </a:xfrm>
          <a:prstGeom prst="roundRect">
            <a:avLst>
              <a:gd name="adj" fmla="val 50000"/>
            </a:avLst>
          </a:prstGeom>
          <a:solidFill>
            <a:srgbClr val="0078D4"/>
          </a:solidFill>
          <a:ln w="12700">
            <a:solidFill>
              <a:srgbClr val="0078D4"/>
            </a:solidFill>
            <a:prstDash val="solid"/>
          </a:ln>
        </p:spPr>
      </p:sp>
      <p:sp>
        <p:nvSpPr>
          <p:cNvPr id="21" name="Text 18"/>
          <p:cNvSpPr/>
          <p:nvPr/>
        </p:nvSpPr>
        <p:spPr>
          <a:xfrm>
            <a:off x="960120" y="3474720"/>
            <a:ext cx="2880360" cy="411480"/>
          </a:xfrm>
          <a:prstGeom prst="rect">
            <a:avLst/>
          </a:prstGeom>
          <a:noFill/>
          <a:ln/>
        </p:spPr>
        <p:txBody>
          <a:bodyPr wrap="square" rtlCol="0" anchor="ctr"/>
          <a:lstStyle/>
          <a:p>
            <a:pPr indent="0" marL="0">
              <a:buNone/>
            </a:pPr>
            <a:r>
              <a:rPr lang="en-US" sz="1200" b="1" dirty="0">
                <a:solidFill>
                  <a:srgbClr val="0078D4"/>
                </a:solidFill>
              </a:rPr>
              <a:t>[1] Diagnostik systemd &amp; journalctl</a:t>
            </a:r>
            <a:endParaRPr lang="en-US" sz="1200" dirty="0"/>
          </a:p>
        </p:txBody>
      </p:sp>
      <p:sp>
        <p:nvSpPr>
          <p:cNvPr id="22" name="Text 19"/>
          <p:cNvSpPr/>
          <p:nvPr/>
        </p:nvSpPr>
        <p:spPr>
          <a:xfrm>
            <a:off x="960120" y="3977640"/>
            <a:ext cx="2880360" cy="1645920"/>
          </a:xfrm>
          <a:prstGeom prst="rect">
            <a:avLst/>
          </a:prstGeom>
          <a:noFill/>
          <a:ln/>
        </p:spPr>
        <p:txBody>
          <a:bodyPr wrap="square" rtlCol="0" anchor="ctr"/>
          <a:lstStyle/>
          <a:p>
            <a:pPr indent="0" marL="0">
              <a:lnSpc>
                <a:spcPts val="1600"/>
              </a:lnSpc>
              <a:buNone/>
            </a:pPr>
            <a:r>
              <a:rPr lang="en-US" sz="1000" dirty="0">
                <a:solidFill>
                  <a:srgbClr val="334155"/>
                </a:solidFill>
              </a:rPr>
              <a:t>Siasatan punca kegagalan servis berpandukan bukti telemetri rasmi, status unit PID 1, dan analisis log masa nyata.</a:t>
            </a:r>
            <a:endParaRPr lang="en-US" sz="1000" dirty="0"/>
          </a:p>
        </p:txBody>
      </p:sp>
      <p:sp>
        <p:nvSpPr>
          <p:cNvPr id="23" name="Shape 20"/>
          <p:cNvSpPr/>
          <p:nvPr/>
        </p:nvSpPr>
        <p:spPr>
          <a:xfrm>
            <a:off x="4251960" y="3246120"/>
            <a:ext cx="3337560" cy="2651760"/>
          </a:xfrm>
          <a:prstGeom prst="roundRect">
            <a:avLst>
              <a:gd name="adj" fmla="val 5172"/>
            </a:avLst>
          </a:prstGeom>
          <a:solidFill>
            <a:srgbClr val="FFFFFF"/>
          </a:solidFill>
          <a:ln w="12700">
            <a:solidFill>
              <a:srgbClr val="E2E8F0"/>
            </a:solidFill>
            <a:prstDash val="solid"/>
          </a:ln>
        </p:spPr>
      </p:sp>
      <p:sp>
        <p:nvSpPr>
          <p:cNvPr id="24" name="Shape 21"/>
          <p:cNvSpPr/>
          <p:nvPr/>
        </p:nvSpPr>
        <p:spPr>
          <a:xfrm>
            <a:off x="4251960" y="3246120"/>
            <a:ext cx="3337560" cy="73152"/>
          </a:xfrm>
          <a:prstGeom prst="roundRect">
            <a:avLst>
              <a:gd name="adj" fmla="val 50000"/>
            </a:avLst>
          </a:prstGeom>
          <a:solidFill>
            <a:srgbClr val="009E96"/>
          </a:solidFill>
          <a:ln w="12700">
            <a:solidFill>
              <a:srgbClr val="009E96"/>
            </a:solidFill>
            <a:prstDash val="solid"/>
          </a:ln>
        </p:spPr>
      </p:sp>
      <p:sp>
        <p:nvSpPr>
          <p:cNvPr id="25" name="Text 22"/>
          <p:cNvSpPr/>
          <p:nvPr/>
        </p:nvSpPr>
        <p:spPr>
          <a:xfrm>
            <a:off x="4480560" y="3474720"/>
            <a:ext cx="2880360" cy="411480"/>
          </a:xfrm>
          <a:prstGeom prst="rect">
            <a:avLst/>
          </a:prstGeom>
          <a:noFill/>
          <a:ln/>
        </p:spPr>
        <p:txBody>
          <a:bodyPr wrap="square" rtlCol="0" anchor="ctr"/>
          <a:lstStyle/>
          <a:p>
            <a:pPr indent="0" marL="0">
              <a:buNone/>
            </a:pPr>
            <a:r>
              <a:rPr lang="en-US" sz="1200" b="1" dirty="0">
                <a:solidFill>
                  <a:srgbClr val="009E96"/>
                </a:solidFill>
              </a:rPr>
              <a:t>[2] Keselamatan Pengguna &amp; Sudo (RBAC)</a:t>
            </a:r>
            <a:endParaRPr lang="en-US" sz="1200" dirty="0"/>
          </a:p>
        </p:txBody>
      </p:sp>
      <p:sp>
        <p:nvSpPr>
          <p:cNvPr id="26" name="Text 23"/>
          <p:cNvSpPr/>
          <p:nvPr/>
        </p:nvSpPr>
        <p:spPr>
          <a:xfrm>
            <a:off x="4480560" y="3977640"/>
            <a:ext cx="2880360" cy="1645920"/>
          </a:xfrm>
          <a:prstGeom prst="rect">
            <a:avLst/>
          </a:prstGeom>
          <a:noFill/>
          <a:ln/>
        </p:spPr>
        <p:txBody>
          <a:bodyPr wrap="square" rtlCol="0" anchor="ctr"/>
          <a:lstStyle/>
          <a:p>
            <a:pPr indent="0" marL="0">
              <a:lnSpc>
                <a:spcPts val="1600"/>
              </a:lnSpc>
              <a:buNone/>
            </a:pPr>
            <a:r>
              <a:rPr lang="en-US" sz="1000" dirty="0">
                <a:solidFill>
                  <a:srgbClr val="334155"/>
                </a:solidFill>
              </a:rPr>
              <a:t>Penguatkuasaan dasar Least Privilege, kawalan direktori kehakiman dengan setgid 2770, dan sekatan hak akses sudoers terperinci.</a:t>
            </a:r>
            <a:endParaRPr lang="en-US" sz="1000" dirty="0"/>
          </a:p>
        </p:txBody>
      </p:sp>
      <p:sp>
        <p:nvSpPr>
          <p:cNvPr id="27" name="Shape 24"/>
          <p:cNvSpPr/>
          <p:nvPr/>
        </p:nvSpPr>
        <p:spPr>
          <a:xfrm>
            <a:off x="7772400" y="3246120"/>
            <a:ext cx="3337560" cy="2651760"/>
          </a:xfrm>
          <a:prstGeom prst="roundRect">
            <a:avLst>
              <a:gd name="adj" fmla="val 5172"/>
            </a:avLst>
          </a:prstGeom>
          <a:solidFill>
            <a:srgbClr val="FFFFFF"/>
          </a:solidFill>
          <a:ln w="12700">
            <a:solidFill>
              <a:srgbClr val="E2E8F0"/>
            </a:solidFill>
            <a:prstDash val="solid"/>
          </a:ln>
        </p:spPr>
      </p:sp>
      <p:sp>
        <p:nvSpPr>
          <p:cNvPr id="28" name="Shape 25"/>
          <p:cNvSpPr/>
          <p:nvPr/>
        </p:nvSpPr>
        <p:spPr>
          <a:xfrm>
            <a:off x="7772400" y="3246120"/>
            <a:ext cx="3337560" cy="73152"/>
          </a:xfrm>
          <a:prstGeom prst="roundRect">
            <a:avLst>
              <a:gd name="adj" fmla="val 50000"/>
            </a:avLst>
          </a:prstGeom>
          <a:solidFill>
            <a:srgbClr val="7E22CE"/>
          </a:solidFill>
          <a:ln w="12700">
            <a:solidFill>
              <a:srgbClr val="7E22CE"/>
            </a:solidFill>
            <a:prstDash val="solid"/>
          </a:ln>
        </p:spPr>
      </p:sp>
      <p:sp>
        <p:nvSpPr>
          <p:cNvPr id="29" name="Text 26"/>
          <p:cNvSpPr/>
          <p:nvPr/>
        </p:nvSpPr>
        <p:spPr>
          <a:xfrm>
            <a:off x="8001000" y="3474720"/>
            <a:ext cx="2880360" cy="411480"/>
          </a:xfrm>
          <a:prstGeom prst="rect">
            <a:avLst/>
          </a:prstGeom>
          <a:noFill/>
          <a:ln/>
        </p:spPr>
        <p:txBody>
          <a:bodyPr wrap="square" rtlCol="0" anchor="ctr"/>
          <a:lstStyle/>
          <a:p>
            <a:pPr indent="0" marL="0">
              <a:buNone/>
            </a:pPr>
            <a:r>
              <a:rPr lang="en-US" sz="1200" b="1" dirty="0">
                <a:solidFill>
                  <a:srgbClr val="7E22CE"/>
                </a:solidFill>
              </a:rPr>
              <a:t>[3] Storan LVM, Firewall &amp; Cron</a:t>
            </a:r>
            <a:endParaRPr lang="en-US" sz="1200" dirty="0"/>
          </a:p>
        </p:txBody>
      </p:sp>
      <p:sp>
        <p:nvSpPr>
          <p:cNvPr id="30" name="Text 27"/>
          <p:cNvSpPr/>
          <p:nvPr/>
        </p:nvSpPr>
        <p:spPr>
          <a:xfrm>
            <a:off x="8001000" y="3977640"/>
            <a:ext cx="2880360" cy="1645920"/>
          </a:xfrm>
          <a:prstGeom prst="rect">
            <a:avLst/>
          </a:prstGeom>
          <a:noFill/>
          <a:ln/>
        </p:spPr>
        <p:txBody>
          <a:bodyPr wrap="square" rtlCol="0" anchor="ctr"/>
          <a:lstStyle/>
          <a:p>
            <a:pPr indent="0" marL="0">
              <a:lnSpc>
                <a:spcPts val="1600"/>
              </a:lnSpc>
              <a:buNone/>
            </a:pPr>
            <a:r>
              <a:rPr lang="en-US" sz="1000" dirty="0">
                <a:solidFill>
                  <a:srgbClr val="334155"/>
                </a:solidFill>
              </a:rPr>
              <a:t>Pengurusan storan anjal PV/VG/LV dengan pembesaran online XFS, kawalan keselamatan firewalld, dan automasi sandaran berkala.</a:t>
            </a:r>
            <a:endParaRPr lang="en-US" sz="1000" dirty="0"/>
          </a:p>
        </p:txBody>
      </p:sp>
      <p:sp>
        <p:nvSpPr>
          <p:cNvPr id="31" name="Shape 28"/>
          <p:cNvSpPr/>
          <p:nvPr/>
        </p:nvSpPr>
        <p:spPr>
          <a:xfrm>
            <a:off x="640080" y="6400800"/>
            <a:ext cx="10881360" cy="0"/>
          </a:xfrm>
          <a:prstGeom prst="line">
            <a:avLst/>
          </a:prstGeom>
          <a:noFill/>
          <a:ln w="12700">
            <a:solidFill>
              <a:srgbClr val="E2E8F0"/>
            </a:solidFill>
            <a:prstDash val="solid"/>
          </a:ln>
        </p:spPr>
      </p:sp>
      <p:sp>
        <p:nvSpPr>
          <p:cNvPr id="32" name="Text 29"/>
          <p:cNvSpPr/>
          <p:nvPr/>
        </p:nvSpPr>
        <p:spPr>
          <a:xfrm>
            <a:off x="640080" y="6446520"/>
            <a:ext cx="4572000" cy="320040"/>
          </a:xfrm>
          <a:prstGeom prst="rect">
            <a:avLst/>
          </a:prstGeom>
          <a:noFill/>
          <a:ln/>
        </p:spPr>
        <p:txBody>
          <a:bodyPr wrap="square" rtlCol="0" anchor="ctr"/>
          <a:lstStyle/>
          <a:p>
            <a:pPr indent="0" marL="0">
              <a:buNone/>
            </a:pPr>
            <a:r>
              <a:rPr lang="en-US" sz="900" b="1" dirty="0">
                <a:solidFill>
                  <a:srgbClr val="64748B"/>
                </a:solidFill>
              </a:rPr>
              <a:t>Cognitoz BetaLab  |  Jabatan Kehakiman Malaysia (POJ)</a:t>
            </a:r>
            <a:endParaRPr lang="en-US" sz="900" dirty="0"/>
          </a:p>
        </p:txBody>
      </p:sp>
      <p:sp>
        <p:nvSpPr>
          <p:cNvPr id="33" name="Text 30"/>
          <p:cNvSpPr/>
          <p:nvPr/>
        </p:nvSpPr>
        <p:spPr>
          <a:xfrm>
            <a:off x="4389120" y="6446520"/>
            <a:ext cx="5029200" cy="320040"/>
          </a:xfrm>
          <a:prstGeom prst="rect">
            <a:avLst/>
          </a:prstGeom>
          <a:noFill/>
          <a:ln/>
        </p:spPr>
        <p:txBody>
          <a:bodyPr wrap="square" rtlCol="0" anchor="ctr"/>
          <a:lstStyle/>
          <a:p>
            <a:pPr algn="ctr" indent="0" marL="0">
              <a:buNone/>
            </a:pPr>
            <a:r>
              <a:rPr lang="en-US" sz="850" dirty="0">
                <a:solidFill>
                  <a:srgbClr val="64748B"/>
                </a:solidFill>
              </a:rPr>
              <a:t>Copyright © 2026 Cognitoz I.T Training Sdn Bhd — www.cognitoz.com</a:t>
            </a:r>
            <a:endParaRPr lang="en-US" sz="850" dirty="0"/>
          </a:p>
        </p:txBody>
      </p:sp>
      <p:sp>
        <p:nvSpPr>
          <p:cNvPr id="34" name="Text 31"/>
          <p:cNvSpPr/>
          <p:nvPr/>
        </p:nvSpPr>
        <p:spPr>
          <a:xfrm>
            <a:off x="9601200" y="6446520"/>
            <a:ext cx="1920240" cy="320040"/>
          </a:xfrm>
          <a:prstGeom prst="rect">
            <a:avLst/>
          </a:prstGeom>
          <a:noFill/>
          <a:ln/>
        </p:spPr>
        <p:txBody>
          <a:bodyPr wrap="square" rtlCol="0" anchor="ctr"/>
          <a:lstStyle/>
          <a:p>
            <a:pPr algn="r" indent="0" marL="0">
              <a:buNone/>
            </a:pPr>
            <a:r>
              <a:rPr lang="en-US" sz="900" b="1" dirty="0">
                <a:solidFill>
                  <a:srgbClr val="64748B"/>
                </a:solidFill>
              </a:rPr>
              <a:t>1 / 22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3044952" cy="54864"/>
          </a:xfrm>
          <a:prstGeom prst="rect">
            <a:avLst/>
          </a:prstGeom>
          <a:solidFill>
            <a:srgbClr val="7E22CE"/>
          </a:solidFill>
          <a:ln/>
        </p:spPr>
      </p:sp>
      <p:sp>
        <p:nvSpPr>
          <p:cNvPr id="3" name="Shape 1"/>
          <p:cNvSpPr/>
          <p:nvPr/>
        </p:nvSpPr>
        <p:spPr>
          <a:xfrm>
            <a:off x="3044952" y="0"/>
            <a:ext cx="3044952" cy="54864"/>
          </a:xfrm>
          <a:prstGeom prst="rect">
            <a:avLst/>
          </a:prstGeom>
          <a:solidFill>
            <a:srgbClr val="0078D4"/>
          </a:solidFill>
          <a:ln/>
        </p:spPr>
      </p:sp>
      <p:sp>
        <p:nvSpPr>
          <p:cNvPr id="4" name="Shape 2"/>
          <p:cNvSpPr/>
          <p:nvPr/>
        </p:nvSpPr>
        <p:spPr>
          <a:xfrm>
            <a:off x="6089904" y="0"/>
            <a:ext cx="3044952" cy="54864"/>
          </a:xfrm>
          <a:prstGeom prst="rect">
            <a:avLst/>
          </a:prstGeom>
          <a:solidFill>
            <a:srgbClr val="009E96"/>
          </a:solidFill>
          <a:ln/>
        </p:spPr>
      </p:sp>
      <p:sp>
        <p:nvSpPr>
          <p:cNvPr id="5" name="Shape 3"/>
          <p:cNvSpPr/>
          <p:nvPr/>
        </p:nvSpPr>
        <p:spPr>
          <a:xfrm>
            <a:off x="9134856" y="0"/>
            <a:ext cx="3054096" cy="54864"/>
          </a:xfrm>
          <a:prstGeom prst="rect">
            <a:avLst/>
          </a:prstGeom>
          <a:solidFill>
            <a:srgbClr val="D97706"/>
          </a:solidFill>
          <a:ln/>
        </p:spPr>
      </p:sp>
      <p:pic>
        <p:nvPicPr>
          <p:cNvPr id="6" name="Image 0" descr="D:/betalab.cognitoz.com/workshops/poj_centos/public/cognitoz-logo.png">    </p:cNvPr>
          <p:cNvPicPr>
            <a:picLocks noChangeAspect="1"/>
          </p:cNvPicPr>
          <p:nvPr/>
        </p:nvPicPr>
        <p:blipFill>
          <a:blip r:embed="rId1"/>
          <a:stretch>
            <a:fillRect/>
          </a:stretch>
        </p:blipFill>
        <p:spPr>
          <a:xfrm>
            <a:off x="640080" y="201168"/>
            <a:ext cx="1463040" cy="411480"/>
          </a:xfrm>
          <a:prstGeom prst="rect">
            <a:avLst/>
          </a:prstGeom>
        </p:spPr>
      </p:pic>
      <p:sp>
        <p:nvSpPr>
          <p:cNvPr id="7" name="Shape 4"/>
          <p:cNvSpPr/>
          <p:nvPr/>
        </p:nvSpPr>
        <p:spPr>
          <a:xfrm>
            <a:off x="7863840" y="228600"/>
            <a:ext cx="3657600" cy="347472"/>
          </a:xfrm>
          <a:prstGeom prst="roundRect">
            <a:avLst>
              <a:gd name="adj" fmla="val 47368"/>
            </a:avLst>
          </a:prstGeom>
          <a:solidFill>
            <a:srgbClr val="FFFFFF"/>
          </a:solidFill>
          <a:ln w="12700">
            <a:solidFill>
              <a:srgbClr val="E2E8F0"/>
            </a:solidFill>
            <a:prstDash val="solid"/>
          </a:ln>
        </p:spPr>
      </p:sp>
      <p:sp>
        <p:nvSpPr>
          <p:cNvPr id="8" name="Text 5"/>
          <p:cNvSpPr/>
          <p:nvPr/>
        </p:nvSpPr>
        <p:spPr>
          <a:xfrm>
            <a:off x="7863840" y="228600"/>
            <a:ext cx="3657600" cy="347472"/>
          </a:xfrm>
          <a:prstGeom prst="rect">
            <a:avLst/>
          </a:prstGeom>
          <a:noFill/>
          <a:ln/>
        </p:spPr>
        <p:txBody>
          <a:bodyPr wrap="square" rtlCol="0" anchor="ctr"/>
          <a:lstStyle/>
          <a:p>
            <a:pPr algn="ctr" indent="0" marL="0">
              <a:buNone/>
            </a:pPr>
            <a:r>
              <a:rPr lang="en-US" sz="900" b="1" dirty="0">
                <a:solidFill>
                  <a:srgbClr val="7E22CE"/>
                </a:solidFill>
              </a:rPr>
              <a:t>CentOS Stream 10  |  POJ Putrajaya</a:t>
            </a:r>
            <a:endParaRPr lang="en-US" sz="900" dirty="0"/>
          </a:p>
        </p:txBody>
      </p:sp>
      <p:sp>
        <p:nvSpPr>
          <p:cNvPr id="9" name="Text 6"/>
          <p:cNvSpPr/>
          <p:nvPr/>
        </p:nvSpPr>
        <p:spPr>
          <a:xfrm>
            <a:off x="640080" y="777240"/>
            <a:ext cx="10881360" cy="274320"/>
          </a:xfrm>
          <a:prstGeom prst="rect">
            <a:avLst/>
          </a:prstGeom>
          <a:noFill/>
          <a:ln/>
        </p:spPr>
        <p:txBody>
          <a:bodyPr wrap="square" rtlCol="0" anchor="ctr"/>
          <a:lstStyle/>
          <a:p>
            <a:pPr indent="0" marL="0">
              <a:buNone/>
            </a:pPr>
            <a:r>
              <a:rPr lang="en-US" sz="1000" b="1" spc="150" kern="0" dirty="0">
                <a:solidFill>
                  <a:srgbClr val="0078D4"/>
                </a:solidFill>
              </a:rPr>
              <a:t>PROFIL PENGAJAR</a:t>
            </a:r>
            <a:endParaRPr lang="en-US" sz="1000" dirty="0"/>
          </a:p>
        </p:txBody>
      </p:sp>
      <p:sp>
        <p:nvSpPr>
          <p:cNvPr id="10" name="Text 7"/>
          <p:cNvSpPr/>
          <p:nvPr/>
        </p:nvSpPr>
        <p:spPr>
          <a:xfrm>
            <a:off x="640080" y="1024128"/>
            <a:ext cx="10881360" cy="502920"/>
          </a:xfrm>
          <a:prstGeom prst="rect">
            <a:avLst/>
          </a:prstGeom>
          <a:noFill/>
          <a:ln/>
        </p:spPr>
        <p:txBody>
          <a:bodyPr wrap="square" rtlCol="0" anchor="ctr"/>
          <a:lstStyle/>
          <a:p>
            <a:pPr indent="0" marL="0">
              <a:buNone/>
            </a:pPr>
            <a:r>
              <a:rPr lang="en-US" sz="2100" b="1" dirty="0">
                <a:solidFill>
                  <a:srgbClr val="0F172A"/>
                </a:solidFill>
              </a:rPr>
              <a:t>Steven Nagendran</a:t>
            </a:r>
            <a:endParaRPr lang="en-US" sz="2100" dirty="0"/>
          </a:p>
        </p:txBody>
      </p:sp>
      <p:sp>
        <p:nvSpPr>
          <p:cNvPr id="11" name="Text 8"/>
          <p:cNvSpPr/>
          <p:nvPr/>
        </p:nvSpPr>
        <p:spPr>
          <a:xfrm>
            <a:off x="640080" y="1536192"/>
            <a:ext cx="10881360" cy="320040"/>
          </a:xfrm>
          <a:prstGeom prst="rect">
            <a:avLst/>
          </a:prstGeom>
          <a:noFill/>
          <a:ln/>
        </p:spPr>
        <p:txBody>
          <a:bodyPr wrap="square" rtlCol="0" anchor="ctr"/>
          <a:lstStyle/>
          <a:p>
            <a:pPr indent="0" marL="0">
              <a:buNone/>
            </a:pPr>
            <a:r>
              <a:rPr lang="en-US" sz="1200" dirty="0">
                <a:solidFill>
                  <a:srgbClr val="64748B"/>
                </a:solidFill>
              </a:rPr>
              <a:t>Arkitek Infrastruktur Perusahaan &amp; Perunding Teknikal Utama</a:t>
            </a:r>
            <a:endParaRPr lang="en-US" sz="1200" dirty="0"/>
          </a:p>
        </p:txBody>
      </p:sp>
      <p:sp>
        <p:nvSpPr>
          <p:cNvPr id="12" name="Shape 9"/>
          <p:cNvSpPr/>
          <p:nvPr/>
        </p:nvSpPr>
        <p:spPr>
          <a:xfrm>
            <a:off x="640080" y="1920240"/>
            <a:ext cx="6949440" cy="4206240"/>
          </a:xfrm>
          <a:prstGeom prst="roundRect">
            <a:avLst>
              <a:gd name="adj" fmla="val 3261"/>
            </a:avLst>
          </a:prstGeom>
          <a:solidFill>
            <a:srgbClr val="FFFFFF"/>
          </a:solidFill>
          <a:ln w="12700">
            <a:solidFill>
              <a:srgbClr val="E2E8F0"/>
            </a:solidFill>
            <a:prstDash val="solid"/>
          </a:ln>
        </p:spPr>
      </p:sp>
      <p:sp>
        <p:nvSpPr>
          <p:cNvPr id="13" name="Shape 10"/>
          <p:cNvSpPr/>
          <p:nvPr/>
        </p:nvSpPr>
        <p:spPr>
          <a:xfrm>
            <a:off x="868680" y="2103120"/>
            <a:ext cx="2148840" cy="320040"/>
          </a:xfrm>
          <a:prstGeom prst="roundRect">
            <a:avLst>
              <a:gd name="adj" fmla="val 48571"/>
            </a:avLst>
          </a:prstGeom>
          <a:solidFill>
            <a:srgbClr val="EFF6FF"/>
          </a:solidFill>
          <a:ln w="10160">
            <a:solidFill>
              <a:srgbClr val="CBD5E1"/>
            </a:solidFill>
            <a:prstDash val="solid"/>
          </a:ln>
        </p:spPr>
      </p:sp>
      <p:sp>
        <p:nvSpPr>
          <p:cNvPr id="14" name="Text 11"/>
          <p:cNvSpPr/>
          <p:nvPr/>
        </p:nvSpPr>
        <p:spPr>
          <a:xfrm>
            <a:off x="868680" y="2103120"/>
            <a:ext cx="2148840" cy="320040"/>
          </a:xfrm>
          <a:prstGeom prst="rect">
            <a:avLst/>
          </a:prstGeom>
          <a:noFill/>
          <a:ln/>
        </p:spPr>
        <p:txBody>
          <a:bodyPr wrap="square" rtlCol="0" anchor="ctr"/>
          <a:lstStyle/>
          <a:p>
            <a:pPr algn="ctr" indent="0" marL="0">
              <a:buNone/>
            </a:pPr>
            <a:r>
              <a:rPr lang="en-US" sz="800" b="1" dirty="0">
                <a:solidFill>
                  <a:srgbClr val="1D4ED8"/>
                </a:solidFill>
              </a:rPr>
              <a:t>Microsoft Certified Trainer (MCT)</a:t>
            </a:r>
            <a:endParaRPr lang="en-US" sz="800" dirty="0"/>
          </a:p>
        </p:txBody>
      </p:sp>
      <p:sp>
        <p:nvSpPr>
          <p:cNvPr id="15" name="Shape 12"/>
          <p:cNvSpPr/>
          <p:nvPr/>
        </p:nvSpPr>
        <p:spPr>
          <a:xfrm>
            <a:off x="3108960" y="2103120"/>
            <a:ext cx="2148840" cy="320040"/>
          </a:xfrm>
          <a:prstGeom prst="roundRect">
            <a:avLst>
              <a:gd name="adj" fmla="val 48571"/>
            </a:avLst>
          </a:prstGeom>
          <a:solidFill>
            <a:srgbClr val="FEF2F2"/>
          </a:solidFill>
          <a:ln w="10160">
            <a:solidFill>
              <a:srgbClr val="CBD5E1"/>
            </a:solidFill>
            <a:prstDash val="solid"/>
          </a:ln>
        </p:spPr>
      </p:sp>
      <p:sp>
        <p:nvSpPr>
          <p:cNvPr id="16" name="Text 13"/>
          <p:cNvSpPr/>
          <p:nvPr/>
        </p:nvSpPr>
        <p:spPr>
          <a:xfrm>
            <a:off x="3108960" y="2103120"/>
            <a:ext cx="2148840" cy="320040"/>
          </a:xfrm>
          <a:prstGeom prst="rect">
            <a:avLst/>
          </a:prstGeom>
          <a:noFill/>
          <a:ln/>
        </p:spPr>
        <p:txBody>
          <a:bodyPr wrap="square" rtlCol="0" anchor="ctr"/>
          <a:lstStyle/>
          <a:p>
            <a:pPr algn="ctr" indent="0" marL="0">
              <a:buNone/>
            </a:pPr>
            <a:r>
              <a:rPr lang="en-US" sz="800" b="1" dirty="0">
                <a:solidFill>
                  <a:srgbClr val="B91C1C"/>
                </a:solidFill>
              </a:rPr>
              <a:t>Red Hat Certified Instructor</a:t>
            </a:r>
            <a:endParaRPr lang="en-US" sz="800" dirty="0"/>
          </a:p>
        </p:txBody>
      </p:sp>
      <p:sp>
        <p:nvSpPr>
          <p:cNvPr id="17" name="Shape 14"/>
          <p:cNvSpPr/>
          <p:nvPr/>
        </p:nvSpPr>
        <p:spPr>
          <a:xfrm>
            <a:off x="5349240" y="2103120"/>
            <a:ext cx="2148840" cy="320040"/>
          </a:xfrm>
          <a:prstGeom prst="roundRect">
            <a:avLst>
              <a:gd name="adj" fmla="val 48571"/>
            </a:avLst>
          </a:prstGeom>
          <a:solidFill>
            <a:srgbClr val="F0FDF4"/>
          </a:solidFill>
          <a:ln w="10160">
            <a:solidFill>
              <a:srgbClr val="CBD5E1"/>
            </a:solidFill>
            <a:prstDash val="solid"/>
          </a:ln>
        </p:spPr>
      </p:sp>
      <p:sp>
        <p:nvSpPr>
          <p:cNvPr id="18" name="Text 15"/>
          <p:cNvSpPr/>
          <p:nvPr/>
        </p:nvSpPr>
        <p:spPr>
          <a:xfrm>
            <a:off x="5349240" y="2103120"/>
            <a:ext cx="2148840" cy="320040"/>
          </a:xfrm>
          <a:prstGeom prst="rect">
            <a:avLst/>
          </a:prstGeom>
          <a:noFill/>
          <a:ln/>
        </p:spPr>
        <p:txBody>
          <a:bodyPr wrap="square" rtlCol="0" anchor="ctr"/>
          <a:lstStyle/>
          <a:p>
            <a:pPr algn="ctr" indent="0" marL="0">
              <a:buNone/>
            </a:pPr>
            <a:r>
              <a:rPr lang="en-US" sz="800" b="1" dirty="0">
                <a:solidFill>
                  <a:srgbClr val="15803D"/>
                </a:solidFill>
              </a:rPr>
              <a:t>Cognitoz I.T Training</a:t>
            </a:r>
            <a:endParaRPr lang="en-US" sz="800" dirty="0"/>
          </a:p>
        </p:txBody>
      </p:sp>
      <p:sp>
        <p:nvSpPr>
          <p:cNvPr id="19" name="Text 16"/>
          <p:cNvSpPr/>
          <p:nvPr/>
        </p:nvSpPr>
        <p:spPr>
          <a:xfrm>
            <a:off x="868680" y="2606040"/>
            <a:ext cx="6492240" cy="3291840"/>
          </a:xfrm>
          <a:prstGeom prst="rect">
            <a:avLst/>
          </a:prstGeom>
          <a:noFill/>
          <a:ln/>
        </p:spPr>
        <p:txBody>
          <a:bodyPr wrap="square" rtlCol="0" anchor="t"/>
          <a:lstStyle/>
          <a:p>
            <a:pPr marL="342900" indent="-342900">
              <a:lnSpc>
                <a:spcPts val="1500"/>
              </a:lnSpc>
              <a:buSzPct val="100000"/>
              <a:buChar char="•"/>
            </a:pPr>
            <a:r>
              <a:rPr lang="en-US" sz="1000" dirty="0">
                <a:solidFill>
                  <a:srgbClr val="334155"/>
                </a:solidFill>
              </a:rPr>
              <a:t>22+ Tahun Pengalaman Industri dalam reka bentuk seni bina pusat data, kejuruteraan sistem operasi Linux enterprise, dan keselamatan pelayan kerajaan.</a:t>
            </a:r>
            <a:endParaRPr lang="en-US" sz="1000" dirty="0"/>
          </a:p>
          <a:p>
            <a:pPr marL="342900" indent="-342900">
              <a:lnSpc>
                <a:spcPts val="1500"/>
              </a:lnSpc>
              <a:buSzPct val="100000"/>
              <a:buChar char="•"/>
            </a:pPr>
            <a:r>
              <a:rPr lang="en-US" sz="1000" dirty="0">
                <a:solidFill>
                  <a:srgbClr val="334155"/>
                </a:solidFill>
              </a:rPr>
              <a:t>Telah membimbing ribuan pentadbir sistem daripada pelbagai agensi sektor awam Malaysia, institusi kehakiman, perbankan, dan syarikat GLC.</a:t>
            </a:r>
            <a:endParaRPr lang="en-US" sz="1000" dirty="0"/>
          </a:p>
          <a:p>
            <a:pPr marL="342900" indent="-342900">
              <a:lnSpc>
                <a:spcPts val="1500"/>
              </a:lnSpc>
              <a:buSzPct val="100000"/>
              <a:buChar char="•"/>
            </a:pPr>
            <a:r>
              <a:rPr lang="en-US" sz="1000" dirty="0">
                <a:solidFill>
                  <a:srgbClr val="334155"/>
                </a:solidFill>
              </a:rPr>
              <a:t>Pakar merentasi ekosistem Enterprise Linux (CentOS/RHEL), Windows Server, Kubernetes, dan automasi Ansible bertaraf produksi.</a:t>
            </a:r>
            <a:endParaRPr lang="en-US" sz="1000" dirty="0"/>
          </a:p>
          <a:p>
            <a:pPr marL="342900" indent="-342900">
              <a:lnSpc>
                <a:spcPts val="1500"/>
              </a:lnSpc>
              <a:buSzPct val="100000"/>
              <a:buChar char="•"/>
            </a:pPr>
            <a:r>
              <a:rPr lang="en-US" sz="1000" dirty="0">
                <a:solidFill>
                  <a:srgbClr val="334155"/>
                </a:solidFill>
              </a:rPr>
              <a:t>Fokus Latihan POJ: Membina keupayaan menyiasat dan menyelesaikan isu sistem berdasarkan bukti telemetri — pantas, selamat, dan berintegriti.</a:t>
            </a:r>
            <a:endParaRPr lang="en-US" sz="1000" dirty="0"/>
          </a:p>
        </p:txBody>
      </p:sp>
      <p:sp>
        <p:nvSpPr>
          <p:cNvPr id="20" name="Shape 17"/>
          <p:cNvSpPr/>
          <p:nvPr/>
        </p:nvSpPr>
        <p:spPr>
          <a:xfrm>
            <a:off x="7863840" y="1920240"/>
            <a:ext cx="3657600" cy="4206240"/>
          </a:xfrm>
          <a:prstGeom prst="roundRect">
            <a:avLst>
              <a:gd name="adj" fmla="val 3750"/>
            </a:avLst>
          </a:prstGeom>
          <a:solidFill>
            <a:srgbClr val="FFFFFF"/>
          </a:solidFill>
          <a:ln w="12700">
            <a:solidFill>
              <a:srgbClr val="E2E8F0"/>
            </a:solidFill>
            <a:prstDash val="solid"/>
          </a:ln>
        </p:spPr>
      </p:sp>
      <p:pic>
        <p:nvPicPr>
          <p:cNvPr id="21" name="Image 1" descr="D:/betalab.cognitoz.com/workshops/poj_centos/public/steven-qr.png">    </p:cNvPr>
          <p:cNvPicPr>
            <a:picLocks noChangeAspect="1"/>
          </p:cNvPicPr>
          <p:nvPr/>
        </p:nvPicPr>
        <p:blipFill>
          <a:blip r:embed="rId2"/>
          <a:stretch>
            <a:fillRect/>
          </a:stretch>
        </p:blipFill>
        <p:spPr>
          <a:xfrm>
            <a:off x="8778240" y="2194560"/>
            <a:ext cx="1828800" cy="1828800"/>
          </a:xfrm>
          <a:prstGeom prst="rect">
            <a:avLst/>
          </a:prstGeom>
        </p:spPr>
      </p:pic>
      <p:sp>
        <p:nvSpPr>
          <p:cNvPr id="22" name="Text 18"/>
          <p:cNvSpPr/>
          <p:nvPr/>
        </p:nvSpPr>
        <p:spPr>
          <a:xfrm>
            <a:off x="8046720" y="4160520"/>
            <a:ext cx="3291840" cy="411480"/>
          </a:xfrm>
          <a:prstGeom prst="rect">
            <a:avLst/>
          </a:prstGeom>
          <a:noFill/>
          <a:ln/>
        </p:spPr>
        <p:txBody>
          <a:bodyPr wrap="square" rtlCol="0" anchor="ctr"/>
          <a:lstStyle/>
          <a:p>
            <a:pPr algn="ctr" indent="0" marL="0">
              <a:buNone/>
            </a:pPr>
            <a:r>
              <a:rPr lang="en-US" sz="900" dirty="0">
                <a:solidFill>
                  <a:srgbClr val="64748B"/>
                </a:solidFill>
              </a:rPr>
              <a:t>Imbas untuk Profil LinkedIn &amp; Hubungan Profesional</a:t>
            </a:r>
            <a:endParaRPr lang="en-US" sz="900" dirty="0"/>
          </a:p>
        </p:txBody>
      </p:sp>
      <p:sp>
        <p:nvSpPr>
          <p:cNvPr id="23" name="Shape 19"/>
          <p:cNvSpPr/>
          <p:nvPr/>
        </p:nvSpPr>
        <p:spPr>
          <a:xfrm>
            <a:off x="8321040" y="4709160"/>
            <a:ext cx="2743200" cy="365760"/>
          </a:xfrm>
          <a:prstGeom prst="roundRect">
            <a:avLst>
              <a:gd name="adj" fmla="val 20000"/>
            </a:avLst>
          </a:prstGeom>
          <a:solidFill>
            <a:srgbClr val="F1F5F9"/>
          </a:solidFill>
          <a:ln w="10160">
            <a:solidFill>
              <a:srgbClr val="E2E8F0"/>
            </a:solidFill>
            <a:prstDash val="solid"/>
          </a:ln>
        </p:spPr>
      </p:sp>
      <p:sp>
        <p:nvSpPr>
          <p:cNvPr id="24" name="Text 20"/>
          <p:cNvSpPr/>
          <p:nvPr/>
        </p:nvSpPr>
        <p:spPr>
          <a:xfrm>
            <a:off x="8321040" y="4709160"/>
            <a:ext cx="2743200" cy="365760"/>
          </a:xfrm>
          <a:prstGeom prst="rect">
            <a:avLst/>
          </a:prstGeom>
          <a:noFill/>
          <a:ln/>
        </p:spPr>
        <p:txBody>
          <a:bodyPr wrap="square" rtlCol="0" anchor="ctr"/>
          <a:lstStyle/>
          <a:p>
            <a:pPr algn="ctr" indent="0" marL="0">
              <a:buNone/>
            </a:pPr>
            <a:r>
              <a:rPr lang="en-US" sz="900" b="1" dirty="0">
                <a:solidFill>
                  <a:srgbClr val="003545"/>
                </a:solidFill>
              </a:rPr>
              <a:t>steven@cognitoz.com</a:t>
            </a:r>
            <a:endParaRPr lang="en-US" sz="900" dirty="0"/>
          </a:p>
        </p:txBody>
      </p:sp>
      <p:sp>
        <p:nvSpPr>
          <p:cNvPr id="25" name="Text 21"/>
          <p:cNvSpPr/>
          <p:nvPr/>
        </p:nvSpPr>
        <p:spPr>
          <a:xfrm>
            <a:off x="8046720" y="5257800"/>
            <a:ext cx="3291840" cy="320040"/>
          </a:xfrm>
          <a:prstGeom prst="rect">
            <a:avLst/>
          </a:prstGeom>
          <a:noFill/>
          <a:ln/>
        </p:spPr>
        <p:txBody>
          <a:bodyPr wrap="square" rtlCol="0" anchor="ctr"/>
          <a:lstStyle/>
          <a:p>
            <a:pPr algn="ctr" indent="0" marL="0">
              <a:buNone/>
            </a:pPr>
            <a:r>
              <a:rPr lang="en-US" sz="850" dirty="0">
                <a:solidFill>
                  <a:srgbClr val="64748B"/>
                </a:solidFill>
              </a:rPr>
              <a:t>Kuala Lumpur &amp; Putrajaya, Malaysia</a:t>
            </a:r>
            <a:endParaRPr lang="en-US" sz="850" dirty="0"/>
          </a:p>
        </p:txBody>
      </p:sp>
      <p:sp>
        <p:nvSpPr>
          <p:cNvPr id="26" name="Shape 22"/>
          <p:cNvSpPr/>
          <p:nvPr/>
        </p:nvSpPr>
        <p:spPr>
          <a:xfrm>
            <a:off x="640080" y="6400800"/>
            <a:ext cx="10881360" cy="0"/>
          </a:xfrm>
          <a:prstGeom prst="line">
            <a:avLst/>
          </a:prstGeom>
          <a:noFill/>
          <a:ln w="12700">
            <a:solidFill>
              <a:srgbClr val="E2E8F0"/>
            </a:solidFill>
            <a:prstDash val="solid"/>
          </a:ln>
        </p:spPr>
      </p:sp>
      <p:sp>
        <p:nvSpPr>
          <p:cNvPr id="27" name="Text 23"/>
          <p:cNvSpPr/>
          <p:nvPr/>
        </p:nvSpPr>
        <p:spPr>
          <a:xfrm>
            <a:off x="640080" y="6446520"/>
            <a:ext cx="4572000" cy="320040"/>
          </a:xfrm>
          <a:prstGeom prst="rect">
            <a:avLst/>
          </a:prstGeom>
          <a:noFill/>
          <a:ln/>
        </p:spPr>
        <p:txBody>
          <a:bodyPr wrap="square" rtlCol="0" anchor="ctr"/>
          <a:lstStyle/>
          <a:p>
            <a:pPr indent="0" marL="0">
              <a:buNone/>
            </a:pPr>
            <a:r>
              <a:rPr lang="en-US" sz="900" b="1" dirty="0">
                <a:solidFill>
                  <a:srgbClr val="64748B"/>
                </a:solidFill>
              </a:rPr>
              <a:t>Cognitoz BetaLab  |  Jabatan Kehakiman Malaysia (POJ)</a:t>
            </a:r>
            <a:endParaRPr lang="en-US" sz="900" dirty="0"/>
          </a:p>
        </p:txBody>
      </p:sp>
      <p:sp>
        <p:nvSpPr>
          <p:cNvPr id="28" name="Text 24"/>
          <p:cNvSpPr/>
          <p:nvPr/>
        </p:nvSpPr>
        <p:spPr>
          <a:xfrm>
            <a:off x="4389120" y="6446520"/>
            <a:ext cx="5029200" cy="320040"/>
          </a:xfrm>
          <a:prstGeom prst="rect">
            <a:avLst/>
          </a:prstGeom>
          <a:noFill/>
          <a:ln/>
        </p:spPr>
        <p:txBody>
          <a:bodyPr wrap="square" rtlCol="0" anchor="ctr"/>
          <a:lstStyle/>
          <a:p>
            <a:pPr algn="ctr" indent="0" marL="0">
              <a:buNone/>
            </a:pPr>
            <a:r>
              <a:rPr lang="en-US" sz="850" dirty="0">
                <a:solidFill>
                  <a:srgbClr val="64748B"/>
                </a:solidFill>
              </a:rPr>
              <a:t>Copyright © 2026 Cognitoz I.T Training Sdn Bhd — www.cognitoz.com</a:t>
            </a:r>
            <a:endParaRPr lang="en-US" sz="850" dirty="0"/>
          </a:p>
        </p:txBody>
      </p:sp>
      <p:sp>
        <p:nvSpPr>
          <p:cNvPr id="29" name="Text 25"/>
          <p:cNvSpPr/>
          <p:nvPr/>
        </p:nvSpPr>
        <p:spPr>
          <a:xfrm>
            <a:off x="9601200" y="6446520"/>
            <a:ext cx="1920240" cy="320040"/>
          </a:xfrm>
          <a:prstGeom prst="rect">
            <a:avLst/>
          </a:prstGeom>
          <a:noFill/>
          <a:ln/>
        </p:spPr>
        <p:txBody>
          <a:bodyPr wrap="square" rtlCol="0" anchor="ctr"/>
          <a:lstStyle/>
          <a:p>
            <a:pPr algn="r" indent="0" marL="0">
              <a:buNone/>
            </a:pPr>
            <a:r>
              <a:rPr lang="en-US" sz="900" b="1" dirty="0">
                <a:solidFill>
                  <a:srgbClr val="64748B"/>
                </a:solidFill>
              </a:rPr>
              <a:t>2 / 22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3044952" cy="54864"/>
          </a:xfrm>
          <a:prstGeom prst="rect">
            <a:avLst/>
          </a:prstGeom>
          <a:solidFill>
            <a:srgbClr val="7E22CE"/>
          </a:solidFill>
          <a:ln/>
        </p:spPr>
      </p:sp>
      <p:sp>
        <p:nvSpPr>
          <p:cNvPr id="3" name="Shape 1"/>
          <p:cNvSpPr/>
          <p:nvPr/>
        </p:nvSpPr>
        <p:spPr>
          <a:xfrm>
            <a:off x="3044952" y="0"/>
            <a:ext cx="3044952" cy="54864"/>
          </a:xfrm>
          <a:prstGeom prst="rect">
            <a:avLst/>
          </a:prstGeom>
          <a:solidFill>
            <a:srgbClr val="0078D4"/>
          </a:solidFill>
          <a:ln/>
        </p:spPr>
      </p:sp>
      <p:sp>
        <p:nvSpPr>
          <p:cNvPr id="4" name="Shape 2"/>
          <p:cNvSpPr/>
          <p:nvPr/>
        </p:nvSpPr>
        <p:spPr>
          <a:xfrm>
            <a:off x="6089904" y="0"/>
            <a:ext cx="3044952" cy="54864"/>
          </a:xfrm>
          <a:prstGeom prst="rect">
            <a:avLst/>
          </a:prstGeom>
          <a:solidFill>
            <a:srgbClr val="009E96"/>
          </a:solidFill>
          <a:ln/>
        </p:spPr>
      </p:sp>
      <p:sp>
        <p:nvSpPr>
          <p:cNvPr id="5" name="Shape 3"/>
          <p:cNvSpPr/>
          <p:nvPr/>
        </p:nvSpPr>
        <p:spPr>
          <a:xfrm>
            <a:off x="9134856" y="0"/>
            <a:ext cx="3054096" cy="54864"/>
          </a:xfrm>
          <a:prstGeom prst="rect">
            <a:avLst/>
          </a:prstGeom>
          <a:solidFill>
            <a:srgbClr val="D97706"/>
          </a:solidFill>
          <a:ln/>
        </p:spPr>
      </p:sp>
      <p:pic>
        <p:nvPicPr>
          <p:cNvPr id="6" name="Image 0" descr="D:/betalab.cognitoz.com/workshops/poj_centos/public/cognitoz-logo.png">    </p:cNvPr>
          <p:cNvPicPr>
            <a:picLocks noChangeAspect="1"/>
          </p:cNvPicPr>
          <p:nvPr/>
        </p:nvPicPr>
        <p:blipFill>
          <a:blip r:embed="rId1"/>
          <a:stretch>
            <a:fillRect/>
          </a:stretch>
        </p:blipFill>
        <p:spPr>
          <a:xfrm>
            <a:off x="640080" y="201168"/>
            <a:ext cx="1463040" cy="411480"/>
          </a:xfrm>
          <a:prstGeom prst="rect">
            <a:avLst/>
          </a:prstGeom>
        </p:spPr>
      </p:pic>
      <p:sp>
        <p:nvSpPr>
          <p:cNvPr id="7" name="Shape 4"/>
          <p:cNvSpPr/>
          <p:nvPr/>
        </p:nvSpPr>
        <p:spPr>
          <a:xfrm>
            <a:off x="7863840" y="228600"/>
            <a:ext cx="3657600" cy="347472"/>
          </a:xfrm>
          <a:prstGeom prst="roundRect">
            <a:avLst>
              <a:gd name="adj" fmla="val 47368"/>
            </a:avLst>
          </a:prstGeom>
          <a:solidFill>
            <a:srgbClr val="FFFFFF"/>
          </a:solidFill>
          <a:ln w="12700">
            <a:solidFill>
              <a:srgbClr val="E2E8F0"/>
            </a:solidFill>
            <a:prstDash val="solid"/>
          </a:ln>
        </p:spPr>
      </p:sp>
      <p:sp>
        <p:nvSpPr>
          <p:cNvPr id="8" name="Text 5"/>
          <p:cNvSpPr/>
          <p:nvPr/>
        </p:nvSpPr>
        <p:spPr>
          <a:xfrm>
            <a:off x="7863840" y="228600"/>
            <a:ext cx="3657600" cy="347472"/>
          </a:xfrm>
          <a:prstGeom prst="rect">
            <a:avLst/>
          </a:prstGeom>
          <a:noFill/>
          <a:ln/>
        </p:spPr>
        <p:txBody>
          <a:bodyPr wrap="square" rtlCol="0" anchor="ctr"/>
          <a:lstStyle/>
          <a:p>
            <a:pPr algn="ctr" indent="0" marL="0">
              <a:buNone/>
            </a:pPr>
            <a:r>
              <a:rPr lang="en-US" sz="900" b="1" dirty="0">
                <a:solidFill>
                  <a:srgbClr val="7E22CE"/>
                </a:solidFill>
              </a:rPr>
              <a:t>CentOS Stream 10  |  POJ Putrajaya</a:t>
            </a:r>
            <a:endParaRPr lang="en-US" sz="900" dirty="0"/>
          </a:p>
        </p:txBody>
      </p:sp>
      <p:sp>
        <p:nvSpPr>
          <p:cNvPr id="9" name="Text 6"/>
          <p:cNvSpPr/>
          <p:nvPr/>
        </p:nvSpPr>
        <p:spPr>
          <a:xfrm>
            <a:off x="640080" y="777240"/>
            <a:ext cx="10881360" cy="274320"/>
          </a:xfrm>
          <a:prstGeom prst="rect">
            <a:avLst/>
          </a:prstGeom>
          <a:noFill/>
          <a:ln/>
        </p:spPr>
        <p:txBody>
          <a:bodyPr wrap="square" rtlCol="0" anchor="ctr"/>
          <a:lstStyle/>
          <a:p>
            <a:pPr indent="0" marL="0">
              <a:buNone/>
            </a:pPr>
            <a:r>
              <a:rPr lang="en-US" sz="1000" b="1" spc="150" kern="0" dirty="0">
                <a:solidFill>
                  <a:srgbClr val="0078D4"/>
                </a:solidFill>
              </a:rPr>
              <a:t>ALIRAN BENGKEL 120 MINIT</a:t>
            </a:r>
            <a:endParaRPr lang="en-US" sz="1000" dirty="0"/>
          </a:p>
        </p:txBody>
      </p:sp>
      <p:sp>
        <p:nvSpPr>
          <p:cNvPr id="10" name="Text 7"/>
          <p:cNvSpPr/>
          <p:nvPr/>
        </p:nvSpPr>
        <p:spPr>
          <a:xfrm>
            <a:off x="640080" y="1024128"/>
            <a:ext cx="10881360" cy="502920"/>
          </a:xfrm>
          <a:prstGeom prst="rect">
            <a:avLst/>
          </a:prstGeom>
          <a:noFill/>
          <a:ln/>
        </p:spPr>
        <p:txBody>
          <a:bodyPr wrap="square" rtlCol="0" anchor="ctr"/>
          <a:lstStyle/>
          <a:p>
            <a:pPr indent="0" marL="0">
              <a:buNone/>
            </a:pPr>
            <a:r>
              <a:rPr lang="en-US" sz="2100" b="1" dirty="0">
                <a:solidFill>
                  <a:srgbClr val="0F172A"/>
                </a:solidFill>
              </a:rPr>
              <a:t>Perjalanan Pembelajaran &amp; Agihan Masa</a:t>
            </a:r>
            <a:endParaRPr lang="en-US" sz="2100" dirty="0"/>
          </a:p>
        </p:txBody>
      </p:sp>
      <p:sp>
        <p:nvSpPr>
          <p:cNvPr id="11" name="Text 8"/>
          <p:cNvSpPr/>
          <p:nvPr/>
        </p:nvSpPr>
        <p:spPr>
          <a:xfrm>
            <a:off x="640080" y="1536192"/>
            <a:ext cx="10881360" cy="320040"/>
          </a:xfrm>
          <a:prstGeom prst="rect">
            <a:avLst/>
          </a:prstGeom>
          <a:noFill/>
          <a:ln/>
        </p:spPr>
        <p:txBody>
          <a:bodyPr wrap="square" rtlCol="0" anchor="ctr"/>
          <a:lstStyle/>
          <a:p>
            <a:pPr indent="0" marL="0">
              <a:buNone/>
            </a:pPr>
            <a:r>
              <a:rPr lang="en-US" sz="1200" dirty="0">
                <a:solidFill>
                  <a:srgbClr val="64748B"/>
                </a:solidFill>
              </a:rPr>
              <a:t>5 Modul Teori &amp; Praktikal Disusun Mengikut Fasa Pentadbiran Enterprise</a:t>
            </a:r>
            <a:endParaRPr lang="en-US" sz="1200" dirty="0"/>
          </a:p>
        </p:txBody>
      </p:sp>
      <p:sp>
        <p:nvSpPr>
          <p:cNvPr id="12" name="Shape 9"/>
          <p:cNvSpPr/>
          <p:nvPr/>
        </p:nvSpPr>
        <p:spPr>
          <a:xfrm>
            <a:off x="640080" y="1920240"/>
            <a:ext cx="2606040" cy="4023360"/>
          </a:xfrm>
          <a:prstGeom prst="roundRect">
            <a:avLst>
              <a:gd name="adj" fmla="val 5263"/>
            </a:avLst>
          </a:prstGeom>
          <a:solidFill>
            <a:srgbClr val="FFFFFF"/>
          </a:solidFill>
          <a:ln w="12700">
            <a:solidFill>
              <a:srgbClr val="E2E8F0"/>
            </a:solidFill>
            <a:prstDash val="solid"/>
          </a:ln>
        </p:spPr>
      </p:sp>
      <p:sp>
        <p:nvSpPr>
          <p:cNvPr id="13" name="Shape 10"/>
          <p:cNvSpPr/>
          <p:nvPr/>
        </p:nvSpPr>
        <p:spPr>
          <a:xfrm>
            <a:off x="640080" y="1920240"/>
            <a:ext cx="2606040" cy="457200"/>
          </a:xfrm>
          <a:prstGeom prst="roundRect">
            <a:avLst>
              <a:gd name="adj" fmla="val 30000"/>
            </a:avLst>
          </a:prstGeom>
          <a:solidFill>
            <a:srgbClr val="0078D4"/>
          </a:solidFill>
          <a:ln w="12700">
            <a:solidFill>
              <a:srgbClr val="0078D4"/>
            </a:solidFill>
            <a:prstDash val="solid"/>
          </a:ln>
        </p:spPr>
      </p:sp>
      <p:sp>
        <p:nvSpPr>
          <p:cNvPr id="14" name="Text 11"/>
          <p:cNvSpPr/>
          <p:nvPr/>
        </p:nvSpPr>
        <p:spPr>
          <a:xfrm>
            <a:off x="777240" y="1965960"/>
            <a:ext cx="2331720" cy="365760"/>
          </a:xfrm>
          <a:prstGeom prst="rect">
            <a:avLst/>
          </a:prstGeom>
          <a:noFill/>
          <a:ln/>
        </p:spPr>
        <p:txBody>
          <a:bodyPr wrap="square" rtlCol="0" anchor="ctr"/>
          <a:lstStyle/>
          <a:p>
            <a:pPr algn="ctr" indent="0" marL="0">
              <a:buNone/>
            </a:pPr>
            <a:r>
              <a:rPr lang="en-US" sz="950" b="1" dirty="0">
                <a:solidFill>
                  <a:srgbClr val="FFFFFF"/>
                </a:solidFill>
              </a:rPr>
              <a:t>MODUL 1 (25 MIN)</a:t>
            </a:r>
            <a:endParaRPr lang="en-US" sz="950" dirty="0"/>
          </a:p>
        </p:txBody>
      </p:sp>
      <p:sp>
        <p:nvSpPr>
          <p:cNvPr id="15" name="Text 12"/>
          <p:cNvSpPr/>
          <p:nvPr/>
        </p:nvSpPr>
        <p:spPr>
          <a:xfrm>
            <a:off x="777240" y="2514600"/>
            <a:ext cx="2331720" cy="411480"/>
          </a:xfrm>
          <a:prstGeom prst="rect">
            <a:avLst/>
          </a:prstGeom>
          <a:noFill/>
          <a:ln/>
        </p:spPr>
        <p:txBody>
          <a:bodyPr wrap="square" rtlCol="0" anchor="ctr"/>
          <a:lstStyle/>
          <a:p>
            <a:pPr algn="ctr" indent="0" marL="0">
              <a:buNone/>
            </a:pPr>
            <a:r>
              <a:rPr lang="en-US" sz="1150" b="1" dirty="0">
                <a:solidFill>
                  <a:srgbClr val="0F172A"/>
                </a:solidFill>
              </a:rPr>
              <a:t>systemd &amp; Triage</a:t>
            </a:r>
            <a:endParaRPr lang="en-US" sz="1150" dirty="0"/>
          </a:p>
        </p:txBody>
      </p:sp>
      <p:sp>
        <p:nvSpPr>
          <p:cNvPr id="16" name="Text 13"/>
          <p:cNvSpPr/>
          <p:nvPr/>
        </p:nvSpPr>
        <p:spPr>
          <a:xfrm>
            <a:off x="777240" y="3017520"/>
            <a:ext cx="2331720" cy="2743200"/>
          </a:xfrm>
          <a:prstGeom prst="rect">
            <a:avLst/>
          </a:prstGeom>
          <a:noFill/>
          <a:ln/>
        </p:spPr>
        <p:txBody>
          <a:bodyPr wrap="square" rtlCol="0" anchor="t"/>
          <a:lstStyle/>
          <a:p>
            <a:pPr marL="342900" indent="-342900">
              <a:buSzPct val="100000"/>
              <a:buChar char="•"/>
            </a:pPr>
            <a:r>
              <a:rPr lang="en-US" sz="900" dirty="0">
                <a:solidFill>
                  <a:srgbClr val="334155"/>
                </a:solidFill>
              </a:rPr>
              <a:t>Seni bina PID 1 &amp; cgroups</a:t>
            </a:r>
            <a:endParaRPr lang="en-US" sz="900" dirty="0"/>
          </a:p>
          <a:p>
            <a:pPr marL="342900" indent="-342900">
              <a:buSzPct val="100000"/>
              <a:buChar char="•"/>
            </a:pPr>
            <a:r>
              <a:rPr lang="en-US" sz="900" dirty="0">
                <a:solidFill>
                  <a:srgbClr val="334155"/>
                </a:solidFill>
              </a:rPr>
              <a:t>Analisis log journalctl -u</a:t>
            </a:r>
            <a:endParaRPr lang="en-US" sz="900" dirty="0"/>
          </a:p>
          <a:p>
            <a:pPr marL="342900" indent="-342900">
              <a:buSzPct val="100000"/>
              <a:buChar char="•"/>
            </a:pPr>
            <a:r>
              <a:rPr lang="en-US" sz="900" dirty="0">
                <a:solidFill>
                  <a:srgbClr val="334155"/>
                </a:solidFill>
              </a:rPr>
              <a:t>Siasatan exit-code &amp; crash</a:t>
            </a:r>
            <a:endParaRPr lang="en-US" sz="900" dirty="0"/>
          </a:p>
          <a:p>
            <a:pPr marL="342900" indent="-342900">
              <a:buSzPct val="100000"/>
              <a:buChar char="•"/>
            </a:pPr>
            <a:r>
              <a:rPr lang="en-US" sz="900" dirty="0">
                <a:solidFill>
                  <a:srgbClr val="334155"/>
                </a:solidFill>
              </a:rPr>
              <a:t>Demo 1: Triage servis gagal</a:t>
            </a:r>
            <a:endParaRPr lang="en-US" sz="900" dirty="0"/>
          </a:p>
        </p:txBody>
      </p:sp>
      <p:sp>
        <p:nvSpPr>
          <p:cNvPr id="17" name="Shape 14"/>
          <p:cNvSpPr/>
          <p:nvPr/>
        </p:nvSpPr>
        <p:spPr>
          <a:xfrm>
            <a:off x="3429000" y="1920240"/>
            <a:ext cx="2606040" cy="4023360"/>
          </a:xfrm>
          <a:prstGeom prst="roundRect">
            <a:avLst>
              <a:gd name="adj" fmla="val 5263"/>
            </a:avLst>
          </a:prstGeom>
          <a:solidFill>
            <a:srgbClr val="FFFFFF"/>
          </a:solidFill>
          <a:ln w="12700">
            <a:solidFill>
              <a:srgbClr val="E2E8F0"/>
            </a:solidFill>
            <a:prstDash val="solid"/>
          </a:ln>
        </p:spPr>
      </p:sp>
      <p:sp>
        <p:nvSpPr>
          <p:cNvPr id="18" name="Shape 15"/>
          <p:cNvSpPr/>
          <p:nvPr/>
        </p:nvSpPr>
        <p:spPr>
          <a:xfrm>
            <a:off x="3429000" y="1920240"/>
            <a:ext cx="2606040" cy="457200"/>
          </a:xfrm>
          <a:prstGeom prst="roundRect">
            <a:avLst>
              <a:gd name="adj" fmla="val 30000"/>
            </a:avLst>
          </a:prstGeom>
          <a:solidFill>
            <a:srgbClr val="009E96"/>
          </a:solidFill>
          <a:ln w="12700">
            <a:solidFill>
              <a:srgbClr val="009E96"/>
            </a:solidFill>
            <a:prstDash val="solid"/>
          </a:ln>
        </p:spPr>
      </p:sp>
      <p:sp>
        <p:nvSpPr>
          <p:cNvPr id="19" name="Text 16"/>
          <p:cNvSpPr/>
          <p:nvPr/>
        </p:nvSpPr>
        <p:spPr>
          <a:xfrm>
            <a:off x="3566160" y="1965960"/>
            <a:ext cx="2331720" cy="365760"/>
          </a:xfrm>
          <a:prstGeom prst="rect">
            <a:avLst/>
          </a:prstGeom>
          <a:noFill/>
          <a:ln/>
        </p:spPr>
        <p:txBody>
          <a:bodyPr wrap="square" rtlCol="0" anchor="ctr"/>
          <a:lstStyle/>
          <a:p>
            <a:pPr algn="ctr" indent="0" marL="0">
              <a:buNone/>
            </a:pPr>
            <a:r>
              <a:rPr lang="en-US" sz="950" b="1" dirty="0">
                <a:solidFill>
                  <a:srgbClr val="FFFFFF"/>
                </a:solidFill>
              </a:rPr>
              <a:t>MODUL 2 (25 MIN)</a:t>
            </a:r>
            <a:endParaRPr lang="en-US" sz="950" dirty="0"/>
          </a:p>
        </p:txBody>
      </p:sp>
      <p:sp>
        <p:nvSpPr>
          <p:cNvPr id="20" name="Text 17"/>
          <p:cNvSpPr/>
          <p:nvPr/>
        </p:nvSpPr>
        <p:spPr>
          <a:xfrm>
            <a:off x="3566160" y="2514600"/>
            <a:ext cx="2331720" cy="411480"/>
          </a:xfrm>
          <a:prstGeom prst="rect">
            <a:avLst/>
          </a:prstGeom>
          <a:noFill/>
          <a:ln/>
        </p:spPr>
        <p:txBody>
          <a:bodyPr wrap="square" rtlCol="0" anchor="ctr"/>
          <a:lstStyle/>
          <a:p>
            <a:pPr algn="ctr" indent="0" marL="0">
              <a:buNone/>
            </a:pPr>
            <a:r>
              <a:rPr lang="en-US" sz="1150" b="1" dirty="0">
                <a:solidFill>
                  <a:srgbClr val="0F172A"/>
                </a:solidFill>
              </a:rPr>
              <a:t>Akaun &amp; Sudo</a:t>
            </a:r>
            <a:endParaRPr lang="en-US" sz="1150" dirty="0"/>
          </a:p>
        </p:txBody>
      </p:sp>
      <p:sp>
        <p:nvSpPr>
          <p:cNvPr id="21" name="Text 18"/>
          <p:cNvSpPr/>
          <p:nvPr/>
        </p:nvSpPr>
        <p:spPr>
          <a:xfrm>
            <a:off x="3566160" y="3017520"/>
            <a:ext cx="2331720" cy="2743200"/>
          </a:xfrm>
          <a:prstGeom prst="rect">
            <a:avLst/>
          </a:prstGeom>
          <a:noFill/>
          <a:ln/>
        </p:spPr>
        <p:txBody>
          <a:bodyPr wrap="square" rtlCol="0" anchor="t"/>
          <a:lstStyle/>
          <a:p>
            <a:pPr marL="342900" indent="-342900">
              <a:buSzPct val="100000"/>
              <a:buChar char="•"/>
            </a:pPr>
            <a:r>
              <a:rPr lang="en-US" sz="900" dirty="0">
                <a:solidFill>
                  <a:srgbClr val="334155"/>
                </a:solidFill>
              </a:rPr>
              <a:t>Kumpulan wheel &amp; PAM auth</a:t>
            </a:r>
            <a:endParaRPr lang="en-US" sz="900" dirty="0"/>
          </a:p>
          <a:p>
            <a:pPr marL="342900" indent="-342900">
              <a:buSzPct val="100000"/>
              <a:buChar char="•"/>
            </a:pPr>
            <a:r>
              <a:rPr lang="en-US" sz="900" dirty="0">
                <a:solidFill>
                  <a:srgbClr val="334155"/>
                </a:solidFill>
              </a:rPr>
              <a:t>SetGID 2770 kolaborasi fail</a:t>
            </a:r>
            <a:endParaRPr lang="en-US" sz="900" dirty="0"/>
          </a:p>
          <a:p>
            <a:pPr marL="342900" indent="-342900">
              <a:buSzPct val="100000"/>
              <a:buChar char="•"/>
            </a:pPr>
            <a:r>
              <a:rPr lang="en-US" sz="900" dirty="0">
                <a:solidFill>
                  <a:srgbClr val="334155"/>
                </a:solidFill>
              </a:rPr>
              <a:t>Granular sudoers.d RBAC</a:t>
            </a:r>
            <a:endParaRPr lang="en-US" sz="900" dirty="0"/>
          </a:p>
          <a:p>
            <a:pPr marL="342900" indent="-342900">
              <a:buSzPct val="100000"/>
              <a:buChar char="•"/>
            </a:pPr>
            <a:r>
              <a:rPr lang="en-US" sz="900" dirty="0">
                <a:solidFill>
                  <a:srgbClr val="334155"/>
                </a:solidFill>
              </a:rPr>
              <a:t>Demo 2: Sekatan hak akses</a:t>
            </a:r>
            <a:endParaRPr lang="en-US" sz="900" dirty="0"/>
          </a:p>
        </p:txBody>
      </p:sp>
      <p:sp>
        <p:nvSpPr>
          <p:cNvPr id="22" name="Shape 19"/>
          <p:cNvSpPr/>
          <p:nvPr/>
        </p:nvSpPr>
        <p:spPr>
          <a:xfrm>
            <a:off x="6217920" y="1920240"/>
            <a:ext cx="2606040" cy="4023360"/>
          </a:xfrm>
          <a:prstGeom prst="roundRect">
            <a:avLst>
              <a:gd name="adj" fmla="val 5263"/>
            </a:avLst>
          </a:prstGeom>
          <a:solidFill>
            <a:srgbClr val="FFFFFF"/>
          </a:solidFill>
          <a:ln w="12700">
            <a:solidFill>
              <a:srgbClr val="E2E8F0"/>
            </a:solidFill>
            <a:prstDash val="solid"/>
          </a:ln>
        </p:spPr>
      </p:sp>
      <p:sp>
        <p:nvSpPr>
          <p:cNvPr id="23" name="Shape 20"/>
          <p:cNvSpPr/>
          <p:nvPr/>
        </p:nvSpPr>
        <p:spPr>
          <a:xfrm>
            <a:off x="6217920" y="1920240"/>
            <a:ext cx="2606040" cy="457200"/>
          </a:xfrm>
          <a:prstGeom prst="roundRect">
            <a:avLst>
              <a:gd name="adj" fmla="val 30000"/>
            </a:avLst>
          </a:prstGeom>
          <a:solidFill>
            <a:srgbClr val="D97706"/>
          </a:solidFill>
          <a:ln w="12700">
            <a:solidFill>
              <a:srgbClr val="D97706"/>
            </a:solidFill>
            <a:prstDash val="solid"/>
          </a:ln>
        </p:spPr>
      </p:sp>
      <p:sp>
        <p:nvSpPr>
          <p:cNvPr id="24" name="Text 21"/>
          <p:cNvSpPr/>
          <p:nvPr/>
        </p:nvSpPr>
        <p:spPr>
          <a:xfrm>
            <a:off x="6355080" y="1965960"/>
            <a:ext cx="2331720" cy="365760"/>
          </a:xfrm>
          <a:prstGeom prst="rect">
            <a:avLst/>
          </a:prstGeom>
          <a:noFill/>
          <a:ln/>
        </p:spPr>
        <p:txBody>
          <a:bodyPr wrap="square" rtlCol="0" anchor="ctr"/>
          <a:lstStyle/>
          <a:p>
            <a:pPr algn="ctr" indent="0" marL="0">
              <a:buNone/>
            </a:pPr>
            <a:r>
              <a:rPr lang="en-US" sz="950" b="1" dirty="0">
                <a:solidFill>
                  <a:srgbClr val="FFFFFF"/>
                </a:solidFill>
              </a:rPr>
              <a:t>MODUL 3 (25 MIN)</a:t>
            </a:r>
            <a:endParaRPr lang="en-US" sz="950" dirty="0"/>
          </a:p>
        </p:txBody>
      </p:sp>
      <p:sp>
        <p:nvSpPr>
          <p:cNvPr id="25" name="Text 22"/>
          <p:cNvSpPr/>
          <p:nvPr/>
        </p:nvSpPr>
        <p:spPr>
          <a:xfrm>
            <a:off x="6355080" y="2514600"/>
            <a:ext cx="2331720" cy="411480"/>
          </a:xfrm>
          <a:prstGeom prst="rect">
            <a:avLst/>
          </a:prstGeom>
          <a:noFill/>
          <a:ln/>
        </p:spPr>
        <p:txBody>
          <a:bodyPr wrap="square" rtlCol="0" anchor="ctr"/>
          <a:lstStyle/>
          <a:p>
            <a:pPr algn="ctr" indent="0" marL="0">
              <a:buNone/>
            </a:pPr>
            <a:r>
              <a:rPr lang="en-US" sz="1150" b="1" dirty="0">
                <a:solidFill>
                  <a:srgbClr val="0F172A"/>
                </a:solidFill>
              </a:rPr>
              <a:t>Storan Dinamik LVM</a:t>
            </a:r>
            <a:endParaRPr lang="en-US" sz="1150" dirty="0"/>
          </a:p>
        </p:txBody>
      </p:sp>
      <p:sp>
        <p:nvSpPr>
          <p:cNvPr id="26" name="Text 23"/>
          <p:cNvSpPr/>
          <p:nvPr/>
        </p:nvSpPr>
        <p:spPr>
          <a:xfrm>
            <a:off x="6355080" y="3017520"/>
            <a:ext cx="2331720" cy="2743200"/>
          </a:xfrm>
          <a:prstGeom prst="rect">
            <a:avLst/>
          </a:prstGeom>
          <a:noFill/>
          <a:ln/>
        </p:spPr>
        <p:txBody>
          <a:bodyPr wrap="square" rtlCol="0" anchor="t"/>
          <a:lstStyle/>
          <a:p>
            <a:pPr marL="342900" indent="-342900">
              <a:buSzPct val="100000"/>
              <a:buChar char="•"/>
            </a:pPr>
            <a:r>
              <a:rPr lang="en-US" sz="900" dirty="0">
                <a:solidFill>
                  <a:srgbClr val="334155"/>
                </a:solidFill>
              </a:rPr>
              <a:t>Lapisan PV, VG, dan LV</a:t>
            </a:r>
            <a:endParaRPr lang="en-US" sz="900" dirty="0"/>
          </a:p>
          <a:p>
            <a:pPr marL="342900" indent="-342900">
              <a:buSzPct val="100000"/>
              <a:buChar char="•"/>
            </a:pPr>
            <a:r>
              <a:rPr lang="en-US" sz="900" dirty="0">
                <a:solidFill>
                  <a:srgbClr val="334155"/>
                </a:solidFill>
              </a:rPr>
              <a:t>Sistem fail moden XFS</a:t>
            </a:r>
            <a:endParaRPr lang="en-US" sz="900" dirty="0"/>
          </a:p>
          <a:p>
            <a:pPr marL="342900" indent="-342900">
              <a:buSzPct val="100000"/>
              <a:buChar char="•"/>
            </a:pPr>
            <a:r>
              <a:rPr lang="en-US" sz="900" dirty="0">
                <a:solidFill>
                  <a:srgbClr val="334155"/>
                </a:solidFill>
              </a:rPr>
              <a:t>Pembesaran volum online</a:t>
            </a:r>
            <a:endParaRPr lang="en-US" sz="900" dirty="0"/>
          </a:p>
          <a:p>
            <a:pPr marL="342900" indent="-342900">
              <a:buSzPct val="100000"/>
              <a:buChar char="•"/>
            </a:pPr>
            <a:r>
              <a:rPr lang="en-US" sz="900" dirty="0">
                <a:solidFill>
                  <a:srgbClr val="334155"/>
                </a:solidFill>
              </a:rPr>
              <a:t>Demo 3: lvextend &amp; xfs_growfs</a:t>
            </a:r>
            <a:endParaRPr lang="en-US" sz="900" dirty="0"/>
          </a:p>
        </p:txBody>
      </p:sp>
      <p:sp>
        <p:nvSpPr>
          <p:cNvPr id="27" name="Shape 24"/>
          <p:cNvSpPr/>
          <p:nvPr/>
        </p:nvSpPr>
        <p:spPr>
          <a:xfrm>
            <a:off x="9006840" y="1920240"/>
            <a:ext cx="2606040" cy="4023360"/>
          </a:xfrm>
          <a:prstGeom prst="roundRect">
            <a:avLst>
              <a:gd name="adj" fmla="val 5263"/>
            </a:avLst>
          </a:prstGeom>
          <a:solidFill>
            <a:srgbClr val="FFFFFF"/>
          </a:solidFill>
          <a:ln w="12700">
            <a:solidFill>
              <a:srgbClr val="E2E8F0"/>
            </a:solidFill>
            <a:prstDash val="solid"/>
          </a:ln>
        </p:spPr>
      </p:sp>
      <p:sp>
        <p:nvSpPr>
          <p:cNvPr id="28" name="Shape 25"/>
          <p:cNvSpPr/>
          <p:nvPr/>
        </p:nvSpPr>
        <p:spPr>
          <a:xfrm>
            <a:off x="9006840" y="1920240"/>
            <a:ext cx="2606040" cy="457200"/>
          </a:xfrm>
          <a:prstGeom prst="roundRect">
            <a:avLst>
              <a:gd name="adj" fmla="val 30000"/>
            </a:avLst>
          </a:prstGeom>
          <a:solidFill>
            <a:srgbClr val="7E22CE"/>
          </a:solidFill>
          <a:ln w="12700">
            <a:solidFill>
              <a:srgbClr val="7E22CE"/>
            </a:solidFill>
            <a:prstDash val="solid"/>
          </a:ln>
        </p:spPr>
      </p:sp>
      <p:sp>
        <p:nvSpPr>
          <p:cNvPr id="29" name="Text 26"/>
          <p:cNvSpPr/>
          <p:nvPr/>
        </p:nvSpPr>
        <p:spPr>
          <a:xfrm>
            <a:off x="9144000" y="1965960"/>
            <a:ext cx="2331720" cy="365760"/>
          </a:xfrm>
          <a:prstGeom prst="rect">
            <a:avLst/>
          </a:prstGeom>
          <a:noFill/>
          <a:ln/>
        </p:spPr>
        <p:txBody>
          <a:bodyPr wrap="square" rtlCol="0" anchor="ctr"/>
          <a:lstStyle/>
          <a:p>
            <a:pPr algn="ctr" indent="0" marL="0">
              <a:buNone/>
            </a:pPr>
            <a:r>
              <a:rPr lang="en-US" sz="950" b="1" dirty="0">
                <a:solidFill>
                  <a:srgbClr val="FFFFFF"/>
                </a:solidFill>
              </a:rPr>
              <a:t>MODUL 4 &amp; 5 (45 MIN)</a:t>
            </a:r>
            <a:endParaRPr lang="en-US" sz="950" dirty="0"/>
          </a:p>
        </p:txBody>
      </p:sp>
      <p:sp>
        <p:nvSpPr>
          <p:cNvPr id="30" name="Text 27"/>
          <p:cNvSpPr/>
          <p:nvPr/>
        </p:nvSpPr>
        <p:spPr>
          <a:xfrm>
            <a:off x="9144000" y="2514600"/>
            <a:ext cx="2331720" cy="411480"/>
          </a:xfrm>
          <a:prstGeom prst="rect">
            <a:avLst/>
          </a:prstGeom>
          <a:noFill/>
          <a:ln/>
        </p:spPr>
        <p:txBody>
          <a:bodyPr wrap="square" rtlCol="0" anchor="ctr"/>
          <a:lstStyle/>
          <a:p>
            <a:pPr algn="ctr" indent="0" marL="0">
              <a:buNone/>
            </a:pPr>
            <a:r>
              <a:rPr lang="en-US" sz="1150" b="1" dirty="0">
                <a:solidFill>
                  <a:srgbClr val="0F172A"/>
                </a:solidFill>
              </a:rPr>
              <a:t>Sekuriti &amp; Automasi</a:t>
            </a:r>
            <a:endParaRPr lang="en-US" sz="1150" dirty="0"/>
          </a:p>
        </p:txBody>
      </p:sp>
      <p:sp>
        <p:nvSpPr>
          <p:cNvPr id="31" name="Text 28"/>
          <p:cNvSpPr/>
          <p:nvPr/>
        </p:nvSpPr>
        <p:spPr>
          <a:xfrm>
            <a:off x="9144000" y="3017520"/>
            <a:ext cx="2331720" cy="2743200"/>
          </a:xfrm>
          <a:prstGeom prst="rect">
            <a:avLst/>
          </a:prstGeom>
          <a:noFill/>
          <a:ln/>
        </p:spPr>
        <p:txBody>
          <a:bodyPr wrap="square" rtlCol="0" anchor="t"/>
          <a:lstStyle/>
          <a:p>
            <a:pPr marL="342900" indent="-342900">
              <a:buSzPct val="100000"/>
              <a:buChar char="•"/>
            </a:pPr>
            <a:r>
              <a:rPr lang="en-US" sz="900" dirty="0">
                <a:solidFill>
                  <a:srgbClr val="334155"/>
                </a:solidFill>
              </a:rPr>
              <a:t>Audit port ss -tulpn</a:t>
            </a:r>
            <a:endParaRPr lang="en-US" sz="900" dirty="0"/>
          </a:p>
          <a:p>
            <a:pPr marL="342900" indent="-342900">
              <a:buSzPct val="100000"/>
              <a:buChar char="•"/>
            </a:pPr>
            <a:r>
              <a:rPr lang="en-US" sz="900" dirty="0">
                <a:solidFill>
                  <a:srgbClr val="334155"/>
                </a:solidFill>
              </a:rPr>
              <a:t>firewalld Rich Rules</a:t>
            </a:r>
            <a:endParaRPr lang="en-US" sz="900" dirty="0"/>
          </a:p>
          <a:p>
            <a:pPr marL="342900" indent="-342900">
              <a:buSzPct val="100000"/>
              <a:buChar char="•"/>
            </a:pPr>
            <a:r>
              <a:rPr lang="en-US" sz="900" dirty="0">
                <a:solidFill>
                  <a:srgbClr val="334155"/>
                </a:solidFill>
              </a:rPr>
              <a:t>Audit integriti rpm -V</a:t>
            </a:r>
            <a:endParaRPr lang="en-US" sz="900" dirty="0"/>
          </a:p>
          <a:p>
            <a:pPr marL="342900" indent="-342900">
              <a:buSzPct val="100000"/>
              <a:buChar char="•"/>
            </a:pPr>
            <a:r>
              <a:rPr lang="en-US" sz="900" dirty="0">
                <a:solidFill>
                  <a:srgbClr val="334155"/>
                </a:solidFill>
              </a:rPr>
              <a:t>Demo 4 &amp; 5: Firewall &amp; Cron</a:t>
            </a:r>
            <a:endParaRPr lang="en-US" sz="900" dirty="0"/>
          </a:p>
        </p:txBody>
      </p:sp>
      <p:sp>
        <p:nvSpPr>
          <p:cNvPr id="32" name="Shape 29"/>
          <p:cNvSpPr/>
          <p:nvPr/>
        </p:nvSpPr>
        <p:spPr>
          <a:xfrm>
            <a:off x="640080" y="6400800"/>
            <a:ext cx="10881360" cy="0"/>
          </a:xfrm>
          <a:prstGeom prst="line">
            <a:avLst/>
          </a:prstGeom>
          <a:noFill/>
          <a:ln w="12700">
            <a:solidFill>
              <a:srgbClr val="E2E8F0"/>
            </a:solidFill>
            <a:prstDash val="solid"/>
          </a:ln>
        </p:spPr>
      </p:sp>
      <p:sp>
        <p:nvSpPr>
          <p:cNvPr id="33" name="Text 30"/>
          <p:cNvSpPr/>
          <p:nvPr/>
        </p:nvSpPr>
        <p:spPr>
          <a:xfrm>
            <a:off x="640080" y="6446520"/>
            <a:ext cx="4572000" cy="320040"/>
          </a:xfrm>
          <a:prstGeom prst="rect">
            <a:avLst/>
          </a:prstGeom>
          <a:noFill/>
          <a:ln/>
        </p:spPr>
        <p:txBody>
          <a:bodyPr wrap="square" rtlCol="0" anchor="ctr"/>
          <a:lstStyle/>
          <a:p>
            <a:pPr indent="0" marL="0">
              <a:buNone/>
            </a:pPr>
            <a:r>
              <a:rPr lang="en-US" sz="900" b="1" dirty="0">
                <a:solidFill>
                  <a:srgbClr val="64748B"/>
                </a:solidFill>
              </a:rPr>
              <a:t>Cognitoz BetaLab  |  Jabatan Kehakiman Malaysia (POJ)</a:t>
            </a:r>
            <a:endParaRPr lang="en-US" sz="900" dirty="0"/>
          </a:p>
        </p:txBody>
      </p:sp>
      <p:sp>
        <p:nvSpPr>
          <p:cNvPr id="34" name="Text 31"/>
          <p:cNvSpPr/>
          <p:nvPr/>
        </p:nvSpPr>
        <p:spPr>
          <a:xfrm>
            <a:off x="4389120" y="6446520"/>
            <a:ext cx="5029200" cy="320040"/>
          </a:xfrm>
          <a:prstGeom prst="rect">
            <a:avLst/>
          </a:prstGeom>
          <a:noFill/>
          <a:ln/>
        </p:spPr>
        <p:txBody>
          <a:bodyPr wrap="square" rtlCol="0" anchor="ctr"/>
          <a:lstStyle/>
          <a:p>
            <a:pPr algn="ctr" indent="0" marL="0">
              <a:buNone/>
            </a:pPr>
            <a:r>
              <a:rPr lang="en-US" sz="850" dirty="0">
                <a:solidFill>
                  <a:srgbClr val="64748B"/>
                </a:solidFill>
              </a:rPr>
              <a:t>Copyright © 2026 Cognitoz I.T Training Sdn Bhd — www.cognitoz.com</a:t>
            </a:r>
            <a:endParaRPr lang="en-US" sz="850" dirty="0"/>
          </a:p>
        </p:txBody>
      </p:sp>
      <p:sp>
        <p:nvSpPr>
          <p:cNvPr id="35" name="Text 32"/>
          <p:cNvSpPr/>
          <p:nvPr/>
        </p:nvSpPr>
        <p:spPr>
          <a:xfrm>
            <a:off x="9601200" y="6446520"/>
            <a:ext cx="1920240" cy="320040"/>
          </a:xfrm>
          <a:prstGeom prst="rect">
            <a:avLst/>
          </a:prstGeom>
          <a:noFill/>
          <a:ln/>
        </p:spPr>
        <p:txBody>
          <a:bodyPr wrap="square" rtlCol="0" anchor="ctr"/>
          <a:lstStyle/>
          <a:p>
            <a:pPr algn="r" indent="0" marL="0">
              <a:buNone/>
            </a:pPr>
            <a:r>
              <a:rPr lang="en-US" sz="900" b="1" dirty="0">
                <a:solidFill>
                  <a:srgbClr val="64748B"/>
                </a:solidFill>
              </a:rPr>
              <a:t>3 / 22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3044952" cy="54864"/>
          </a:xfrm>
          <a:prstGeom prst="rect">
            <a:avLst/>
          </a:prstGeom>
          <a:solidFill>
            <a:srgbClr val="7E22CE"/>
          </a:solidFill>
          <a:ln/>
        </p:spPr>
      </p:sp>
      <p:sp>
        <p:nvSpPr>
          <p:cNvPr id="3" name="Shape 1"/>
          <p:cNvSpPr/>
          <p:nvPr/>
        </p:nvSpPr>
        <p:spPr>
          <a:xfrm>
            <a:off x="3044952" y="0"/>
            <a:ext cx="3044952" cy="54864"/>
          </a:xfrm>
          <a:prstGeom prst="rect">
            <a:avLst/>
          </a:prstGeom>
          <a:solidFill>
            <a:srgbClr val="0078D4"/>
          </a:solidFill>
          <a:ln/>
        </p:spPr>
      </p:sp>
      <p:sp>
        <p:nvSpPr>
          <p:cNvPr id="4" name="Shape 2"/>
          <p:cNvSpPr/>
          <p:nvPr/>
        </p:nvSpPr>
        <p:spPr>
          <a:xfrm>
            <a:off x="6089904" y="0"/>
            <a:ext cx="3044952" cy="54864"/>
          </a:xfrm>
          <a:prstGeom prst="rect">
            <a:avLst/>
          </a:prstGeom>
          <a:solidFill>
            <a:srgbClr val="009E96"/>
          </a:solidFill>
          <a:ln/>
        </p:spPr>
      </p:sp>
      <p:sp>
        <p:nvSpPr>
          <p:cNvPr id="5" name="Shape 3"/>
          <p:cNvSpPr/>
          <p:nvPr/>
        </p:nvSpPr>
        <p:spPr>
          <a:xfrm>
            <a:off x="9134856" y="0"/>
            <a:ext cx="3054096" cy="54864"/>
          </a:xfrm>
          <a:prstGeom prst="rect">
            <a:avLst/>
          </a:prstGeom>
          <a:solidFill>
            <a:srgbClr val="D97706"/>
          </a:solidFill>
          <a:ln/>
        </p:spPr>
      </p:sp>
      <p:pic>
        <p:nvPicPr>
          <p:cNvPr id="6" name="Image 0" descr="D:/betalab.cognitoz.com/workshops/poj_centos/public/cognitoz-logo.png">    </p:cNvPr>
          <p:cNvPicPr>
            <a:picLocks noChangeAspect="1"/>
          </p:cNvPicPr>
          <p:nvPr/>
        </p:nvPicPr>
        <p:blipFill>
          <a:blip r:embed="rId1"/>
          <a:stretch>
            <a:fillRect/>
          </a:stretch>
        </p:blipFill>
        <p:spPr>
          <a:xfrm>
            <a:off x="640080" y="201168"/>
            <a:ext cx="1463040" cy="411480"/>
          </a:xfrm>
          <a:prstGeom prst="rect">
            <a:avLst/>
          </a:prstGeom>
        </p:spPr>
      </p:pic>
      <p:sp>
        <p:nvSpPr>
          <p:cNvPr id="7" name="Shape 4"/>
          <p:cNvSpPr/>
          <p:nvPr/>
        </p:nvSpPr>
        <p:spPr>
          <a:xfrm>
            <a:off x="7863840" y="228600"/>
            <a:ext cx="3657600" cy="347472"/>
          </a:xfrm>
          <a:prstGeom prst="roundRect">
            <a:avLst>
              <a:gd name="adj" fmla="val 47368"/>
            </a:avLst>
          </a:prstGeom>
          <a:solidFill>
            <a:srgbClr val="FFFFFF"/>
          </a:solidFill>
          <a:ln w="12700">
            <a:solidFill>
              <a:srgbClr val="E2E8F0"/>
            </a:solidFill>
            <a:prstDash val="solid"/>
          </a:ln>
        </p:spPr>
      </p:sp>
      <p:sp>
        <p:nvSpPr>
          <p:cNvPr id="8" name="Text 5"/>
          <p:cNvSpPr/>
          <p:nvPr/>
        </p:nvSpPr>
        <p:spPr>
          <a:xfrm>
            <a:off x="7863840" y="228600"/>
            <a:ext cx="3657600" cy="347472"/>
          </a:xfrm>
          <a:prstGeom prst="rect">
            <a:avLst/>
          </a:prstGeom>
          <a:noFill/>
          <a:ln/>
        </p:spPr>
        <p:txBody>
          <a:bodyPr wrap="square" rtlCol="0" anchor="ctr"/>
          <a:lstStyle/>
          <a:p>
            <a:pPr algn="ctr" indent="0" marL="0">
              <a:buNone/>
            </a:pPr>
            <a:r>
              <a:rPr lang="en-US" sz="900" b="1" dirty="0">
                <a:solidFill>
                  <a:srgbClr val="7E22CE"/>
                </a:solidFill>
              </a:rPr>
              <a:t>CentOS Stream 10  |  POJ Putrajaya</a:t>
            </a:r>
            <a:endParaRPr lang="en-US" sz="900" dirty="0"/>
          </a:p>
        </p:txBody>
      </p:sp>
      <p:sp>
        <p:nvSpPr>
          <p:cNvPr id="9" name="Text 6"/>
          <p:cNvSpPr/>
          <p:nvPr/>
        </p:nvSpPr>
        <p:spPr>
          <a:xfrm>
            <a:off x="640080" y="777240"/>
            <a:ext cx="10881360" cy="274320"/>
          </a:xfrm>
          <a:prstGeom prst="rect">
            <a:avLst/>
          </a:prstGeom>
          <a:noFill/>
          <a:ln/>
        </p:spPr>
        <p:txBody>
          <a:bodyPr wrap="square" rtlCol="0" anchor="ctr"/>
          <a:lstStyle/>
          <a:p>
            <a:pPr indent="0" marL="0">
              <a:buNone/>
            </a:pPr>
            <a:r>
              <a:rPr lang="en-US" sz="1000" b="1" spc="150" kern="0" dirty="0">
                <a:solidFill>
                  <a:srgbClr val="0078D4"/>
                </a:solidFill>
              </a:rPr>
              <a:t>SENIBINA INFRASTRUKTUR MAKMAL</a:t>
            </a:r>
            <a:endParaRPr lang="en-US" sz="1000" dirty="0"/>
          </a:p>
        </p:txBody>
      </p:sp>
      <p:sp>
        <p:nvSpPr>
          <p:cNvPr id="10" name="Text 7"/>
          <p:cNvSpPr/>
          <p:nvPr/>
        </p:nvSpPr>
        <p:spPr>
          <a:xfrm>
            <a:off x="640080" y="1024128"/>
            <a:ext cx="10881360" cy="502920"/>
          </a:xfrm>
          <a:prstGeom prst="rect">
            <a:avLst/>
          </a:prstGeom>
          <a:noFill/>
          <a:ln/>
        </p:spPr>
        <p:txBody>
          <a:bodyPr wrap="square" rtlCol="0" anchor="ctr"/>
          <a:lstStyle/>
          <a:p>
            <a:pPr indent="0" marL="0">
              <a:buNone/>
            </a:pPr>
            <a:r>
              <a:rPr lang="en-US" sz="2100" b="1" dirty="0">
                <a:solidFill>
                  <a:srgbClr val="0F172A"/>
                </a:solidFill>
              </a:rPr>
              <a:t>Topologi Persekitaran Amali POJ</a:t>
            </a:r>
            <a:endParaRPr lang="en-US" sz="2100" dirty="0"/>
          </a:p>
        </p:txBody>
      </p:sp>
      <p:sp>
        <p:nvSpPr>
          <p:cNvPr id="11" name="Text 8"/>
          <p:cNvSpPr/>
          <p:nvPr/>
        </p:nvSpPr>
        <p:spPr>
          <a:xfrm>
            <a:off x="640080" y="1536192"/>
            <a:ext cx="10881360" cy="320040"/>
          </a:xfrm>
          <a:prstGeom prst="rect">
            <a:avLst/>
          </a:prstGeom>
          <a:noFill/>
          <a:ln/>
        </p:spPr>
        <p:txBody>
          <a:bodyPr wrap="square" rtlCol="0" anchor="ctr"/>
          <a:lstStyle/>
          <a:p>
            <a:pPr indent="0" marL="0">
              <a:buNone/>
            </a:pPr>
            <a:r>
              <a:rPr lang="en-US" sz="1200" dirty="0">
                <a:solidFill>
                  <a:srgbClr val="64748B"/>
                </a:solidFill>
              </a:rPr>
              <a:t>Setiap Peserta Memperolehi Persekitaran Dedicated yang Diasingkan</a:t>
            </a:r>
            <a:endParaRPr lang="en-US" sz="1200" dirty="0"/>
          </a:p>
        </p:txBody>
      </p:sp>
      <p:sp>
        <p:nvSpPr>
          <p:cNvPr id="12" name="Shape 9"/>
          <p:cNvSpPr/>
          <p:nvPr/>
        </p:nvSpPr>
        <p:spPr>
          <a:xfrm>
            <a:off x="640080" y="1920240"/>
            <a:ext cx="6217920" cy="4206240"/>
          </a:xfrm>
          <a:prstGeom prst="roundRect">
            <a:avLst>
              <a:gd name="adj" fmla="val 3261"/>
            </a:avLst>
          </a:prstGeom>
          <a:solidFill>
            <a:srgbClr val="FFFFFF"/>
          </a:solidFill>
          <a:ln w="12700">
            <a:solidFill>
              <a:srgbClr val="E2E8F0"/>
            </a:solidFill>
            <a:prstDash val="solid"/>
          </a:ln>
        </p:spPr>
      </p:sp>
      <p:sp>
        <p:nvSpPr>
          <p:cNvPr id="13" name="Shape 10"/>
          <p:cNvSpPr/>
          <p:nvPr/>
        </p:nvSpPr>
        <p:spPr>
          <a:xfrm>
            <a:off x="640080" y="1920240"/>
            <a:ext cx="6217920" cy="73152"/>
          </a:xfrm>
          <a:prstGeom prst="roundRect">
            <a:avLst>
              <a:gd name="adj" fmla="val 50000"/>
            </a:avLst>
          </a:prstGeom>
          <a:solidFill>
            <a:srgbClr val="0078D4"/>
          </a:solidFill>
          <a:ln w="12700">
            <a:solidFill>
              <a:srgbClr val="0078D4"/>
            </a:solidFill>
            <a:prstDash val="solid"/>
          </a:ln>
        </p:spPr>
      </p:sp>
      <p:sp>
        <p:nvSpPr>
          <p:cNvPr id="14" name="Text 11"/>
          <p:cNvSpPr/>
          <p:nvPr/>
        </p:nvSpPr>
        <p:spPr>
          <a:xfrm>
            <a:off x="868680" y="2103120"/>
            <a:ext cx="5760720" cy="320040"/>
          </a:xfrm>
          <a:prstGeom prst="rect">
            <a:avLst/>
          </a:prstGeom>
          <a:noFill/>
          <a:ln/>
        </p:spPr>
        <p:txBody>
          <a:bodyPr wrap="square" rtlCol="0" anchor="ctr"/>
          <a:lstStyle/>
          <a:p>
            <a:pPr indent="0" marL="0">
              <a:buNone/>
            </a:pPr>
            <a:r>
              <a:rPr lang="en-US" sz="1200" b="1" dirty="0">
                <a:solidFill>
                  <a:srgbClr val="0078D4"/>
                </a:solidFill>
              </a:rPr>
              <a:t>Aliran Sambungan Peserta ke Cloud Sandbox</a:t>
            </a:r>
            <a:endParaRPr lang="en-US" sz="1200" dirty="0"/>
          </a:p>
        </p:txBody>
      </p:sp>
      <p:sp>
        <p:nvSpPr>
          <p:cNvPr id="15" name="Text 12"/>
          <p:cNvSpPr/>
          <p:nvPr/>
        </p:nvSpPr>
        <p:spPr>
          <a:xfrm>
            <a:off x="868680" y="2450592"/>
            <a:ext cx="5760720" cy="3127248"/>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Pelayar Web Pelatih mengakses portal Educates BetaLab dengan konsol terminal &amp; tab latihan interaktif.</a:t>
            </a:r>
            <a:endParaRPr lang="en-US" sz="950" dirty="0"/>
          </a:p>
          <a:p>
            <a:pPr marL="342900" indent="-342900">
              <a:lnSpc>
                <a:spcPts val="1400"/>
              </a:lnSpc>
              <a:buSzPct val="100000"/>
              <a:buChar char="•"/>
            </a:pPr>
            <a:r>
              <a:rPr lang="en-US" sz="950" dirty="0">
                <a:solidFill>
                  <a:srgbClr val="334155"/>
                </a:solidFill>
              </a:rPr>
              <a:t>Sesi disambungkan secara telus melalui mTLS/SSH ke VM Khusus CentOS Stream 10 di DigitalOcean Datacenter.</a:t>
            </a:r>
            <a:endParaRPr lang="en-US" sz="950" dirty="0"/>
          </a:p>
          <a:p>
            <a:pPr marL="342900" indent="-342900">
              <a:lnSpc>
                <a:spcPts val="1400"/>
              </a:lnSpc>
              <a:buSzPct val="100000"/>
              <a:buChar char="•"/>
            </a:pPr>
            <a:r>
              <a:rPr lang="en-US" sz="950" dirty="0">
                <a:solidFill>
                  <a:srgbClr val="334155"/>
                </a:solidFill>
              </a:rPr>
              <a:t>Setiap VM mempunyai IP Awam tersendiri dan DNS unik (contoh: ssh.stu01.steven.asia).</a:t>
            </a:r>
            <a:endParaRPr lang="en-US" sz="950" dirty="0"/>
          </a:p>
          <a:p>
            <a:pPr marL="342900" indent="-342900">
              <a:lnSpc>
                <a:spcPts val="1400"/>
              </a:lnSpc>
              <a:buSzPct val="100000"/>
              <a:buChar char="•"/>
            </a:pPr>
            <a:r>
              <a:rPr lang="en-US" sz="950" dirty="0">
                <a:solidFill>
                  <a:srgbClr val="334155"/>
                </a:solidFill>
              </a:rPr>
              <a:t>Pengasingan Penuh: Setiap peserta menguruskan peranti blok, firewall, perkhidmatan, dan akaun tanpa gangguan rakan lain.</a:t>
            </a:r>
            <a:endParaRPr lang="en-US" sz="950" dirty="0"/>
          </a:p>
        </p:txBody>
      </p:sp>
      <p:sp>
        <p:nvSpPr>
          <p:cNvPr id="16" name="Shape 13"/>
          <p:cNvSpPr/>
          <p:nvPr/>
        </p:nvSpPr>
        <p:spPr>
          <a:xfrm>
            <a:off x="822960" y="5623560"/>
            <a:ext cx="5852160" cy="384048"/>
          </a:xfrm>
          <a:prstGeom prst="roundRect">
            <a:avLst>
              <a:gd name="adj" fmla="val 19048"/>
            </a:avLst>
          </a:prstGeom>
          <a:solidFill>
            <a:srgbClr val="F1F5F9"/>
          </a:solidFill>
          <a:ln w="10160">
            <a:solidFill>
              <a:srgbClr val="E2E8F0"/>
            </a:solidFill>
            <a:prstDash val="solid"/>
          </a:ln>
        </p:spPr>
      </p:sp>
      <p:sp>
        <p:nvSpPr>
          <p:cNvPr id="17" name="Text 14"/>
          <p:cNvSpPr/>
          <p:nvPr/>
        </p:nvSpPr>
        <p:spPr>
          <a:xfrm>
            <a:off x="868680" y="5623560"/>
            <a:ext cx="5760720" cy="384048"/>
          </a:xfrm>
          <a:prstGeom prst="rect">
            <a:avLst/>
          </a:prstGeom>
          <a:noFill/>
          <a:ln/>
        </p:spPr>
        <p:txBody>
          <a:bodyPr wrap="square" rtlCol="0" anchor="ctr"/>
          <a:lstStyle/>
          <a:p>
            <a:pPr indent="0" marL="0">
              <a:buNone/>
            </a:pPr>
            <a:r>
              <a:rPr lang="en-US" sz="850" b="1" dirty="0">
                <a:solidFill>
                  <a:srgbClr val="0078D4"/>
                </a:solidFill>
              </a:rPr>
              <a:t>Infrastruktur dipacu sepenuhnya oleh Automasi Ansible &amp; DigitalOcean API</a:t>
            </a:r>
            <a:endParaRPr lang="en-US" sz="850" dirty="0"/>
          </a:p>
        </p:txBody>
      </p:sp>
      <p:sp>
        <p:nvSpPr>
          <p:cNvPr id="18" name="Shape 15"/>
          <p:cNvSpPr/>
          <p:nvPr/>
        </p:nvSpPr>
        <p:spPr>
          <a:xfrm>
            <a:off x="7132320" y="1920240"/>
            <a:ext cx="4389120" cy="4206240"/>
          </a:xfrm>
          <a:prstGeom prst="roundRect">
            <a:avLst>
              <a:gd name="adj" fmla="val 3261"/>
            </a:avLst>
          </a:prstGeom>
          <a:solidFill>
            <a:srgbClr val="FFFFFF"/>
          </a:solidFill>
          <a:ln w="12700">
            <a:solidFill>
              <a:srgbClr val="E2E8F0"/>
            </a:solidFill>
            <a:prstDash val="solid"/>
          </a:ln>
        </p:spPr>
      </p:sp>
      <p:sp>
        <p:nvSpPr>
          <p:cNvPr id="19" name="Shape 16"/>
          <p:cNvSpPr/>
          <p:nvPr/>
        </p:nvSpPr>
        <p:spPr>
          <a:xfrm>
            <a:off x="7132320" y="1920240"/>
            <a:ext cx="4389120" cy="73152"/>
          </a:xfrm>
          <a:prstGeom prst="roundRect">
            <a:avLst>
              <a:gd name="adj" fmla="val 50000"/>
            </a:avLst>
          </a:prstGeom>
          <a:solidFill>
            <a:srgbClr val="009E96"/>
          </a:solidFill>
          <a:ln w="12700">
            <a:solidFill>
              <a:srgbClr val="009E96"/>
            </a:solidFill>
            <a:prstDash val="solid"/>
          </a:ln>
        </p:spPr>
      </p:sp>
      <p:sp>
        <p:nvSpPr>
          <p:cNvPr id="20" name="Text 17"/>
          <p:cNvSpPr/>
          <p:nvPr/>
        </p:nvSpPr>
        <p:spPr>
          <a:xfrm>
            <a:off x="7360920" y="2103120"/>
            <a:ext cx="3931920" cy="320040"/>
          </a:xfrm>
          <a:prstGeom prst="rect">
            <a:avLst/>
          </a:prstGeom>
          <a:noFill/>
          <a:ln/>
        </p:spPr>
        <p:txBody>
          <a:bodyPr wrap="square" rtlCol="0" anchor="ctr"/>
          <a:lstStyle/>
          <a:p>
            <a:pPr indent="0" marL="0">
              <a:buNone/>
            </a:pPr>
            <a:r>
              <a:rPr lang="en-US" sz="1200" b="1" dirty="0">
                <a:solidFill>
                  <a:srgbClr val="009E96"/>
                </a:solidFill>
              </a:rPr>
              <a:t>Spesifikasi Mesin Maya Pelatih</a:t>
            </a:r>
            <a:endParaRPr lang="en-US" sz="1200" dirty="0"/>
          </a:p>
        </p:txBody>
      </p:sp>
      <p:sp>
        <p:nvSpPr>
          <p:cNvPr id="21" name="Text 18"/>
          <p:cNvSpPr/>
          <p:nvPr/>
        </p:nvSpPr>
        <p:spPr>
          <a:xfrm>
            <a:off x="7360920" y="2450592"/>
            <a:ext cx="3931920" cy="3127248"/>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Sistem Operasi: CentOS Stream 10 (Kernel 6.x x86_64)</a:t>
            </a:r>
            <a:endParaRPr lang="en-US" sz="950" dirty="0"/>
          </a:p>
          <a:p>
            <a:pPr marL="342900" indent="-342900">
              <a:lnSpc>
                <a:spcPts val="1400"/>
              </a:lnSpc>
              <a:buSzPct val="100000"/>
              <a:buChar char="•"/>
            </a:pPr>
            <a:r>
              <a:rPr lang="en-US" sz="950" dirty="0">
                <a:solidFill>
                  <a:srgbClr val="334155"/>
                </a:solidFill>
              </a:rPr>
              <a:t>Perkakasan Maya: 2 vCPU, 4GB Memory, 50GB NVMe SSD</a:t>
            </a:r>
            <a:endParaRPr lang="en-US" sz="950" dirty="0"/>
          </a:p>
          <a:p>
            <a:pPr marL="342900" indent="-342900">
              <a:lnSpc>
                <a:spcPts val="1400"/>
              </a:lnSpc>
              <a:buSzPct val="100000"/>
              <a:buChar char="•"/>
            </a:pPr>
            <a:r>
              <a:rPr lang="en-US" sz="950" dirty="0">
                <a:solidFill>
                  <a:srgbClr val="334155"/>
                </a:solidFill>
              </a:rPr>
              <a:t>Peranti Storan Tambahan: 2GB Raw Disk Loopback untuk LVM</a:t>
            </a:r>
            <a:endParaRPr lang="en-US" sz="950" dirty="0"/>
          </a:p>
          <a:p>
            <a:pPr marL="342900" indent="-342900">
              <a:lnSpc>
                <a:spcPts val="1400"/>
              </a:lnSpc>
              <a:buSzPct val="100000"/>
              <a:buChar char="•"/>
            </a:pPr>
            <a:r>
              <a:rPr lang="en-US" sz="950" dirty="0">
                <a:solidFill>
                  <a:srgbClr val="334155"/>
                </a:solidFill>
              </a:rPr>
              <a:t>Akaun Pentadbir: droot (Ahli kumpulan wheel dengan sudo)</a:t>
            </a:r>
            <a:endParaRPr lang="en-US" sz="950" dirty="0"/>
          </a:p>
          <a:p>
            <a:pPr marL="342900" indent="-342900">
              <a:lnSpc>
                <a:spcPts val="1400"/>
              </a:lnSpc>
              <a:buSzPct val="100000"/>
              <a:buChar char="•"/>
            </a:pPr>
            <a:r>
              <a:rPr lang="en-US" sz="950" dirty="0">
                <a:solidFill>
                  <a:srgbClr val="334155"/>
                </a:solidFill>
              </a:rPr>
              <a:t>Perkhidmatan Utama: systemd v255, firewalld, nginx, cronie, lvm2</a:t>
            </a:r>
            <a:endParaRPr lang="en-US" sz="950" dirty="0"/>
          </a:p>
        </p:txBody>
      </p:sp>
      <p:sp>
        <p:nvSpPr>
          <p:cNvPr id="22" name="Shape 19"/>
          <p:cNvSpPr/>
          <p:nvPr/>
        </p:nvSpPr>
        <p:spPr>
          <a:xfrm>
            <a:off x="7315200" y="5623560"/>
            <a:ext cx="4023360" cy="384048"/>
          </a:xfrm>
          <a:prstGeom prst="roundRect">
            <a:avLst>
              <a:gd name="adj" fmla="val 19048"/>
            </a:avLst>
          </a:prstGeom>
          <a:solidFill>
            <a:srgbClr val="F1F5F9"/>
          </a:solidFill>
          <a:ln w="10160">
            <a:solidFill>
              <a:srgbClr val="E2E8F0"/>
            </a:solidFill>
            <a:prstDash val="solid"/>
          </a:ln>
        </p:spPr>
      </p:sp>
      <p:sp>
        <p:nvSpPr>
          <p:cNvPr id="23" name="Text 20"/>
          <p:cNvSpPr/>
          <p:nvPr/>
        </p:nvSpPr>
        <p:spPr>
          <a:xfrm>
            <a:off x="7360920" y="5623560"/>
            <a:ext cx="3931920" cy="384048"/>
          </a:xfrm>
          <a:prstGeom prst="rect">
            <a:avLst/>
          </a:prstGeom>
          <a:noFill/>
          <a:ln/>
        </p:spPr>
        <p:txBody>
          <a:bodyPr wrap="square" rtlCol="0" anchor="ctr"/>
          <a:lstStyle/>
          <a:p>
            <a:pPr indent="0" marL="0">
              <a:buNone/>
            </a:pPr>
            <a:r>
              <a:rPr lang="en-US" sz="850" b="1" dirty="0">
                <a:solidFill>
                  <a:srgbClr val="009E96"/>
                </a:solidFill>
              </a:rPr>
              <a:t>Persekitaran Enterprise tulen — tiada had emulasi kontena</a:t>
            </a:r>
            <a:endParaRPr lang="en-US" sz="850" dirty="0"/>
          </a:p>
        </p:txBody>
      </p:sp>
      <p:sp>
        <p:nvSpPr>
          <p:cNvPr id="24" name="Shape 21"/>
          <p:cNvSpPr/>
          <p:nvPr/>
        </p:nvSpPr>
        <p:spPr>
          <a:xfrm>
            <a:off x="640080" y="6400800"/>
            <a:ext cx="10881360" cy="0"/>
          </a:xfrm>
          <a:prstGeom prst="line">
            <a:avLst/>
          </a:prstGeom>
          <a:noFill/>
          <a:ln w="12700">
            <a:solidFill>
              <a:srgbClr val="E2E8F0"/>
            </a:solidFill>
            <a:prstDash val="solid"/>
          </a:ln>
        </p:spPr>
      </p:sp>
      <p:sp>
        <p:nvSpPr>
          <p:cNvPr id="25" name="Text 22"/>
          <p:cNvSpPr/>
          <p:nvPr/>
        </p:nvSpPr>
        <p:spPr>
          <a:xfrm>
            <a:off x="640080" y="6446520"/>
            <a:ext cx="4572000" cy="320040"/>
          </a:xfrm>
          <a:prstGeom prst="rect">
            <a:avLst/>
          </a:prstGeom>
          <a:noFill/>
          <a:ln/>
        </p:spPr>
        <p:txBody>
          <a:bodyPr wrap="square" rtlCol="0" anchor="ctr"/>
          <a:lstStyle/>
          <a:p>
            <a:pPr indent="0" marL="0">
              <a:buNone/>
            </a:pPr>
            <a:r>
              <a:rPr lang="en-US" sz="900" b="1" dirty="0">
                <a:solidFill>
                  <a:srgbClr val="64748B"/>
                </a:solidFill>
              </a:rPr>
              <a:t>Cognitoz BetaLab  |  Jabatan Kehakiman Malaysia (POJ)</a:t>
            </a:r>
            <a:endParaRPr lang="en-US" sz="900" dirty="0"/>
          </a:p>
        </p:txBody>
      </p:sp>
      <p:sp>
        <p:nvSpPr>
          <p:cNvPr id="26" name="Text 23"/>
          <p:cNvSpPr/>
          <p:nvPr/>
        </p:nvSpPr>
        <p:spPr>
          <a:xfrm>
            <a:off x="4389120" y="6446520"/>
            <a:ext cx="5029200" cy="320040"/>
          </a:xfrm>
          <a:prstGeom prst="rect">
            <a:avLst/>
          </a:prstGeom>
          <a:noFill/>
          <a:ln/>
        </p:spPr>
        <p:txBody>
          <a:bodyPr wrap="square" rtlCol="0" anchor="ctr"/>
          <a:lstStyle/>
          <a:p>
            <a:pPr algn="ctr" indent="0" marL="0">
              <a:buNone/>
            </a:pPr>
            <a:r>
              <a:rPr lang="en-US" sz="850" dirty="0">
                <a:solidFill>
                  <a:srgbClr val="64748B"/>
                </a:solidFill>
              </a:rPr>
              <a:t>Copyright © 2026 Cognitoz I.T Training Sdn Bhd — www.cognitoz.com</a:t>
            </a:r>
            <a:endParaRPr lang="en-US" sz="850" dirty="0"/>
          </a:p>
        </p:txBody>
      </p:sp>
      <p:sp>
        <p:nvSpPr>
          <p:cNvPr id="27" name="Text 24"/>
          <p:cNvSpPr/>
          <p:nvPr/>
        </p:nvSpPr>
        <p:spPr>
          <a:xfrm>
            <a:off x="9601200" y="6446520"/>
            <a:ext cx="1920240" cy="320040"/>
          </a:xfrm>
          <a:prstGeom prst="rect">
            <a:avLst/>
          </a:prstGeom>
          <a:noFill/>
          <a:ln/>
        </p:spPr>
        <p:txBody>
          <a:bodyPr wrap="square" rtlCol="0" anchor="ctr"/>
          <a:lstStyle/>
          <a:p>
            <a:pPr algn="r" indent="0" marL="0">
              <a:buNone/>
            </a:pPr>
            <a:r>
              <a:rPr lang="en-US" sz="900" b="1" dirty="0">
                <a:solidFill>
                  <a:srgbClr val="64748B"/>
                </a:solidFill>
              </a:rPr>
              <a:t>4 / 22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3044952" cy="54864"/>
          </a:xfrm>
          <a:prstGeom prst="rect">
            <a:avLst/>
          </a:prstGeom>
          <a:solidFill>
            <a:srgbClr val="7E22CE"/>
          </a:solidFill>
          <a:ln/>
        </p:spPr>
      </p:sp>
      <p:sp>
        <p:nvSpPr>
          <p:cNvPr id="3" name="Shape 1"/>
          <p:cNvSpPr/>
          <p:nvPr/>
        </p:nvSpPr>
        <p:spPr>
          <a:xfrm>
            <a:off x="3044952" y="0"/>
            <a:ext cx="3044952" cy="54864"/>
          </a:xfrm>
          <a:prstGeom prst="rect">
            <a:avLst/>
          </a:prstGeom>
          <a:solidFill>
            <a:srgbClr val="0078D4"/>
          </a:solidFill>
          <a:ln/>
        </p:spPr>
      </p:sp>
      <p:sp>
        <p:nvSpPr>
          <p:cNvPr id="4" name="Shape 2"/>
          <p:cNvSpPr/>
          <p:nvPr/>
        </p:nvSpPr>
        <p:spPr>
          <a:xfrm>
            <a:off x="6089904" y="0"/>
            <a:ext cx="3044952" cy="54864"/>
          </a:xfrm>
          <a:prstGeom prst="rect">
            <a:avLst/>
          </a:prstGeom>
          <a:solidFill>
            <a:srgbClr val="009E96"/>
          </a:solidFill>
          <a:ln/>
        </p:spPr>
      </p:sp>
      <p:sp>
        <p:nvSpPr>
          <p:cNvPr id="5" name="Shape 3"/>
          <p:cNvSpPr/>
          <p:nvPr/>
        </p:nvSpPr>
        <p:spPr>
          <a:xfrm>
            <a:off x="9134856" y="0"/>
            <a:ext cx="3054096" cy="54864"/>
          </a:xfrm>
          <a:prstGeom prst="rect">
            <a:avLst/>
          </a:prstGeom>
          <a:solidFill>
            <a:srgbClr val="D97706"/>
          </a:solidFill>
          <a:ln/>
        </p:spPr>
      </p:sp>
      <p:pic>
        <p:nvPicPr>
          <p:cNvPr id="6" name="Image 0" descr="D:/betalab.cognitoz.com/workshops/poj_centos/public/cognitoz-logo.png">    </p:cNvPr>
          <p:cNvPicPr>
            <a:picLocks noChangeAspect="1"/>
          </p:cNvPicPr>
          <p:nvPr/>
        </p:nvPicPr>
        <p:blipFill>
          <a:blip r:embed="rId1"/>
          <a:stretch>
            <a:fillRect/>
          </a:stretch>
        </p:blipFill>
        <p:spPr>
          <a:xfrm>
            <a:off x="640080" y="201168"/>
            <a:ext cx="1463040" cy="411480"/>
          </a:xfrm>
          <a:prstGeom prst="rect">
            <a:avLst/>
          </a:prstGeom>
        </p:spPr>
      </p:pic>
      <p:sp>
        <p:nvSpPr>
          <p:cNvPr id="7" name="Shape 4"/>
          <p:cNvSpPr/>
          <p:nvPr/>
        </p:nvSpPr>
        <p:spPr>
          <a:xfrm>
            <a:off x="7863840" y="228600"/>
            <a:ext cx="3657600" cy="347472"/>
          </a:xfrm>
          <a:prstGeom prst="roundRect">
            <a:avLst>
              <a:gd name="adj" fmla="val 47368"/>
            </a:avLst>
          </a:prstGeom>
          <a:solidFill>
            <a:srgbClr val="FFFFFF"/>
          </a:solidFill>
          <a:ln w="12700">
            <a:solidFill>
              <a:srgbClr val="E2E8F0"/>
            </a:solidFill>
            <a:prstDash val="solid"/>
          </a:ln>
        </p:spPr>
      </p:sp>
      <p:sp>
        <p:nvSpPr>
          <p:cNvPr id="8" name="Text 5"/>
          <p:cNvSpPr/>
          <p:nvPr/>
        </p:nvSpPr>
        <p:spPr>
          <a:xfrm>
            <a:off x="7863840" y="228600"/>
            <a:ext cx="3657600" cy="347472"/>
          </a:xfrm>
          <a:prstGeom prst="rect">
            <a:avLst/>
          </a:prstGeom>
          <a:noFill/>
          <a:ln/>
        </p:spPr>
        <p:txBody>
          <a:bodyPr wrap="square" rtlCol="0" anchor="ctr"/>
          <a:lstStyle/>
          <a:p>
            <a:pPr algn="ctr" indent="0" marL="0">
              <a:buNone/>
            </a:pPr>
            <a:r>
              <a:rPr lang="en-US" sz="900" b="1" dirty="0">
                <a:solidFill>
                  <a:srgbClr val="7E22CE"/>
                </a:solidFill>
              </a:rPr>
              <a:t>CentOS Stream 10  |  POJ Putrajaya</a:t>
            </a:r>
            <a:endParaRPr lang="en-US" sz="900" dirty="0"/>
          </a:p>
        </p:txBody>
      </p:sp>
      <p:sp>
        <p:nvSpPr>
          <p:cNvPr id="9" name="Text 6"/>
          <p:cNvSpPr/>
          <p:nvPr/>
        </p:nvSpPr>
        <p:spPr>
          <a:xfrm>
            <a:off x="640080" y="777240"/>
            <a:ext cx="10881360" cy="274320"/>
          </a:xfrm>
          <a:prstGeom prst="rect">
            <a:avLst/>
          </a:prstGeom>
          <a:noFill/>
          <a:ln/>
        </p:spPr>
        <p:txBody>
          <a:bodyPr wrap="square" rtlCol="0" anchor="ctr"/>
          <a:lstStyle/>
          <a:p>
            <a:pPr indent="0" marL="0">
              <a:buNone/>
            </a:pPr>
            <a:r>
              <a:rPr lang="en-US" sz="1000" b="1" spc="150" kern="0" dirty="0">
                <a:solidFill>
                  <a:srgbClr val="0078D4"/>
                </a:solidFill>
              </a:rPr>
              <a:t>MODUL 1: PENGURUSAN SISTEM</a:t>
            </a:r>
            <a:endParaRPr lang="en-US" sz="1000" dirty="0"/>
          </a:p>
        </p:txBody>
      </p:sp>
      <p:sp>
        <p:nvSpPr>
          <p:cNvPr id="10" name="Text 7"/>
          <p:cNvSpPr/>
          <p:nvPr/>
        </p:nvSpPr>
        <p:spPr>
          <a:xfrm>
            <a:off x="640080" y="1024128"/>
            <a:ext cx="10881360" cy="502920"/>
          </a:xfrm>
          <a:prstGeom prst="rect">
            <a:avLst/>
          </a:prstGeom>
          <a:noFill/>
          <a:ln/>
        </p:spPr>
        <p:txBody>
          <a:bodyPr wrap="square" rtlCol="0" anchor="ctr"/>
          <a:lstStyle/>
          <a:p>
            <a:pPr indent="0" marL="0">
              <a:buNone/>
            </a:pPr>
            <a:r>
              <a:rPr lang="en-US" sz="2100" b="1" dirty="0">
                <a:solidFill>
                  <a:srgbClr val="0F172A"/>
                </a:solidFill>
              </a:rPr>
              <a:t>Seni Bina systemd &amp; Pengurusan Servis</a:t>
            </a:r>
            <a:endParaRPr lang="en-US" sz="2100" dirty="0"/>
          </a:p>
        </p:txBody>
      </p:sp>
      <p:sp>
        <p:nvSpPr>
          <p:cNvPr id="11" name="Text 8"/>
          <p:cNvSpPr/>
          <p:nvPr/>
        </p:nvSpPr>
        <p:spPr>
          <a:xfrm>
            <a:off x="640080" y="1536192"/>
            <a:ext cx="10881360" cy="320040"/>
          </a:xfrm>
          <a:prstGeom prst="rect">
            <a:avLst/>
          </a:prstGeom>
          <a:noFill/>
          <a:ln/>
        </p:spPr>
        <p:txBody>
          <a:bodyPr wrap="square" rtlCol="0" anchor="ctr"/>
          <a:lstStyle/>
          <a:p>
            <a:pPr indent="0" marL="0">
              <a:buNone/>
            </a:pPr>
            <a:r>
              <a:rPr lang="en-US" sz="1200" dirty="0">
                <a:solidFill>
                  <a:srgbClr val="64748B"/>
                </a:solidFill>
              </a:rPr>
              <a:t>Sistem Pengurusan Unit, Proses PID 1, dan Kawalan Sumber cgroups</a:t>
            </a:r>
            <a:endParaRPr lang="en-US" sz="1200" dirty="0"/>
          </a:p>
        </p:txBody>
      </p:sp>
      <p:sp>
        <p:nvSpPr>
          <p:cNvPr id="12" name="Shape 9"/>
          <p:cNvSpPr/>
          <p:nvPr/>
        </p:nvSpPr>
        <p:spPr>
          <a:xfrm>
            <a:off x="640080" y="1920240"/>
            <a:ext cx="3383280" cy="4206240"/>
          </a:xfrm>
          <a:prstGeom prst="roundRect">
            <a:avLst>
              <a:gd name="adj" fmla="val 4054"/>
            </a:avLst>
          </a:prstGeom>
          <a:solidFill>
            <a:srgbClr val="FFFFFF"/>
          </a:solidFill>
          <a:ln w="12700">
            <a:solidFill>
              <a:srgbClr val="E2E8F0"/>
            </a:solidFill>
            <a:prstDash val="solid"/>
          </a:ln>
        </p:spPr>
      </p:sp>
      <p:sp>
        <p:nvSpPr>
          <p:cNvPr id="13" name="Shape 10"/>
          <p:cNvSpPr/>
          <p:nvPr/>
        </p:nvSpPr>
        <p:spPr>
          <a:xfrm>
            <a:off x="640080" y="1920240"/>
            <a:ext cx="3383280" cy="73152"/>
          </a:xfrm>
          <a:prstGeom prst="roundRect">
            <a:avLst>
              <a:gd name="adj" fmla="val 50000"/>
            </a:avLst>
          </a:prstGeom>
          <a:solidFill>
            <a:srgbClr val="0078D4"/>
          </a:solidFill>
          <a:ln w="12700">
            <a:solidFill>
              <a:srgbClr val="0078D4"/>
            </a:solidFill>
            <a:prstDash val="solid"/>
          </a:ln>
        </p:spPr>
      </p:sp>
      <p:sp>
        <p:nvSpPr>
          <p:cNvPr id="14" name="Text 11"/>
          <p:cNvSpPr/>
          <p:nvPr/>
        </p:nvSpPr>
        <p:spPr>
          <a:xfrm>
            <a:off x="868680" y="2103120"/>
            <a:ext cx="2926080" cy="320040"/>
          </a:xfrm>
          <a:prstGeom prst="rect">
            <a:avLst/>
          </a:prstGeom>
          <a:noFill/>
          <a:ln/>
        </p:spPr>
        <p:txBody>
          <a:bodyPr wrap="square" rtlCol="0" anchor="ctr"/>
          <a:lstStyle/>
          <a:p>
            <a:pPr indent="0" marL="0">
              <a:buNone/>
            </a:pPr>
            <a:r>
              <a:rPr lang="en-US" sz="1200" b="1" dirty="0">
                <a:solidFill>
                  <a:srgbClr val="0078D4"/>
                </a:solidFill>
              </a:rPr>
              <a:t>systemd Sebagai PID 1</a:t>
            </a:r>
            <a:endParaRPr lang="en-US" sz="1200" dirty="0"/>
          </a:p>
        </p:txBody>
      </p:sp>
      <p:sp>
        <p:nvSpPr>
          <p:cNvPr id="15" name="Text 12"/>
          <p:cNvSpPr/>
          <p:nvPr/>
        </p:nvSpPr>
        <p:spPr>
          <a:xfrm>
            <a:off x="868680" y="2450592"/>
            <a:ext cx="2926080" cy="3127248"/>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Memulakan keseluruhan sistem selepas kernel Linux boot.</a:t>
            </a:r>
            <a:endParaRPr lang="en-US" sz="950" dirty="0"/>
          </a:p>
          <a:p>
            <a:pPr marL="342900" indent="-342900">
              <a:lnSpc>
                <a:spcPts val="1400"/>
              </a:lnSpc>
              <a:buSzPct val="100000"/>
              <a:buChar char="•"/>
            </a:pPr>
            <a:r>
              <a:rPr lang="en-US" sz="950" dirty="0">
                <a:solidFill>
                  <a:srgbClr val="334155"/>
                </a:solidFill>
              </a:rPr>
              <a:t>Menghapuskan skrip init SysV legasi yang perlahan.</a:t>
            </a:r>
            <a:endParaRPr lang="en-US" sz="950" dirty="0"/>
          </a:p>
          <a:p>
            <a:pPr marL="342900" indent="-342900">
              <a:lnSpc>
                <a:spcPts val="1400"/>
              </a:lnSpc>
              <a:buSzPct val="100000"/>
              <a:buChar char="•"/>
            </a:pPr>
            <a:r>
              <a:rPr lang="en-US" sz="950" dirty="0">
                <a:solidFill>
                  <a:srgbClr val="334155"/>
                </a:solidFill>
              </a:rPr>
              <a:t>Menyokong pemulaan servis secara selari (parallel activation).</a:t>
            </a:r>
            <a:endParaRPr lang="en-US" sz="950" dirty="0"/>
          </a:p>
          <a:p>
            <a:pPr marL="342900" indent="-342900">
              <a:lnSpc>
                <a:spcPts val="1400"/>
              </a:lnSpc>
              <a:buSzPct val="100000"/>
              <a:buChar char="•"/>
            </a:pPr>
            <a:r>
              <a:rPr lang="en-US" sz="950" dirty="0">
                <a:solidFill>
                  <a:srgbClr val="334155"/>
                </a:solidFill>
              </a:rPr>
              <a:t>Mengurus dependensi kompleks antara unit servis rangkaian, storan, dan soket.</a:t>
            </a:r>
            <a:endParaRPr lang="en-US" sz="950" dirty="0"/>
          </a:p>
        </p:txBody>
      </p:sp>
      <p:sp>
        <p:nvSpPr>
          <p:cNvPr id="16" name="Shape 13"/>
          <p:cNvSpPr/>
          <p:nvPr/>
        </p:nvSpPr>
        <p:spPr>
          <a:xfrm>
            <a:off x="822960" y="5623560"/>
            <a:ext cx="3017520" cy="384048"/>
          </a:xfrm>
          <a:prstGeom prst="roundRect">
            <a:avLst>
              <a:gd name="adj" fmla="val 19048"/>
            </a:avLst>
          </a:prstGeom>
          <a:solidFill>
            <a:srgbClr val="F1F5F9"/>
          </a:solidFill>
          <a:ln w="10160">
            <a:solidFill>
              <a:srgbClr val="E2E8F0"/>
            </a:solidFill>
            <a:prstDash val="solid"/>
          </a:ln>
        </p:spPr>
      </p:sp>
      <p:sp>
        <p:nvSpPr>
          <p:cNvPr id="17" name="Text 14"/>
          <p:cNvSpPr/>
          <p:nvPr/>
        </p:nvSpPr>
        <p:spPr>
          <a:xfrm>
            <a:off x="868680" y="5623560"/>
            <a:ext cx="2926080" cy="384048"/>
          </a:xfrm>
          <a:prstGeom prst="rect">
            <a:avLst/>
          </a:prstGeom>
          <a:noFill/>
          <a:ln/>
        </p:spPr>
        <p:txBody>
          <a:bodyPr wrap="square" rtlCol="0" anchor="ctr"/>
          <a:lstStyle/>
          <a:p>
            <a:pPr indent="0" marL="0">
              <a:buNone/>
            </a:pPr>
            <a:r>
              <a:rPr lang="en-US" sz="850" b="1" dirty="0">
                <a:solidFill>
                  <a:srgbClr val="0078D4"/>
                </a:solidFill>
              </a:rPr>
              <a:t>Standard de-facto merentasi semua distro RHEL / CentOS moden</a:t>
            </a:r>
            <a:endParaRPr lang="en-US" sz="850" dirty="0"/>
          </a:p>
        </p:txBody>
      </p:sp>
      <p:sp>
        <p:nvSpPr>
          <p:cNvPr id="18" name="Shape 15"/>
          <p:cNvSpPr/>
          <p:nvPr/>
        </p:nvSpPr>
        <p:spPr>
          <a:xfrm>
            <a:off x="4389120" y="1920240"/>
            <a:ext cx="3383280" cy="4206240"/>
          </a:xfrm>
          <a:prstGeom prst="roundRect">
            <a:avLst>
              <a:gd name="adj" fmla="val 4054"/>
            </a:avLst>
          </a:prstGeom>
          <a:solidFill>
            <a:srgbClr val="FFFFFF"/>
          </a:solidFill>
          <a:ln w="12700">
            <a:solidFill>
              <a:srgbClr val="E2E8F0"/>
            </a:solidFill>
            <a:prstDash val="solid"/>
          </a:ln>
        </p:spPr>
      </p:sp>
      <p:sp>
        <p:nvSpPr>
          <p:cNvPr id="19" name="Shape 16"/>
          <p:cNvSpPr/>
          <p:nvPr/>
        </p:nvSpPr>
        <p:spPr>
          <a:xfrm>
            <a:off x="4389120" y="1920240"/>
            <a:ext cx="3383280" cy="73152"/>
          </a:xfrm>
          <a:prstGeom prst="roundRect">
            <a:avLst>
              <a:gd name="adj" fmla="val 50000"/>
            </a:avLst>
          </a:prstGeom>
          <a:solidFill>
            <a:srgbClr val="009E96"/>
          </a:solidFill>
          <a:ln w="12700">
            <a:solidFill>
              <a:srgbClr val="009E96"/>
            </a:solidFill>
            <a:prstDash val="solid"/>
          </a:ln>
        </p:spPr>
      </p:sp>
      <p:sp>
        <p:nvSpPr>
          <p:cNvPr id="20" name="Text 17"/>
          <p:cNvSpPr/>
          <p:nvPr/>
        </p:nvSpPr>
        <p:spPr>
          <a:xfrm>
            <a:off x="4617720" y="2103120"/>
            <a:ext cx="2926080" cy="320040"/>
          </a:xfrm>
          <a:prstGeom prst="rect">
            <a:avLst/>
          </a:prstGeom>
          <a:noFill/>
          <a:ln/>
        </p:spPr>
        <p:txBody>
          <a:bodyPr wrap="square" rtlCol="0" anchor="ctr"/>
          <a:lstStyle/>
          <a:p>
            <a:pPr indent="0" marL="0">
              <a:buNone/>
            </a:pPr>
            <a:r>
              <a:rPr lang="en-US" sz="1200" b="1" dirty="0">
                <a:solidFill>
                  <a:srgbClr val="009E96"/>
                </a:solidFill>
              </a:rPr>
              <a:t>Jenis-jenis Unit Utama</a:t>
            </a:r>
            <a:endParaRPr lang="en-US" sz="1200" dirty="0"/>
          </a:p>
        </p:txBody>
      </p:sp>
      <p:sp>
        <p:nvSpPr>
          <p:cNvPr id="21" name="Text 18"/>
          <p:cNvSpPr/>
          <p:nvPr/>
        </p:nvSpPr>
        <p:spPr>
          <a:xfrm>
            <a:off x="4617720" y="2450592"/>
            <a:ext cx="2926080" cy="3127248"/>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.service: Mengurus aplikasi / daemon latar belakang.</a:t>
            </a:r>
            <a:endParaRPr lang="en-US" sz="950" dirty="0"/>
          </a:p>
          <a:p>
            <a:pPr marL="342900" indent="-342900">
              <a:lnSpc>
                <a:spcPts val="1400"/>
              </a:lnSpc>
              <a:buSzPct val="100000"/>
              <a:buChar char="•"/>
            </a:pPr>
            <a:r>
              <a:rPr lang="en-US" sz="950" dirty="0">
                <a:solidFill>
                  <a:srgbClr val="334155"/>
                </a:solidFill>
              </a:rPr>
              <a:t>.socket: Pengaktifan berasaskan sambungan port rangkaian.</a:t>
            </a:r>
            <a:endParaRPr lang="en-US" sz="950" dirty="0"/>
          </a:p>
          <a:p>
            <a:pPr marL="342900" indent="-342900">
              <a:lnSpc>
                <a:spcPts val="1400"/>
              </a:lnSpc>
              <a:buSzPct val="100000"/>
              <a:buChar char="•"/>
            </a:pPr>
            <a:r>
              <a:rPr lang="en-US" sz="950" dirty="0">
                <a:solidFill>
                  <a:srgbClr val="334155"/>
                </a:solidFill>
              </a:rPr>
              <a:t>.target: Kumpulan unit bagi menentukan runlevel sistem (cth: multi-user.target).</a:t>
            </a:r>
            <a:endParaRPr lang="en-US" sz="950" dirty="0"/>
          </a:p>
          <a:p>
            <a:pPr marL="342900" indent="-342900">
              <a:lnSpc>
                <a:spcPts val="1400"/>
              </a:lnSpc>
              <a:buSzPct val="100000"/>
              <a:buChar char="•"/>
            </a:pPr>
            <a:r>
              <a:rPr lang="en-US" sz="950" dirty="0">
                <a:solidFill>
                  <a:srgbClr val="334155"/>
                </a:solidFill>
              </a:rPr>
              <a:t>.timer: Pengganti moden untuk cron dengan ketepatan mikrosaat.</a:t>
            </a:r>
            <a:endParaRPr lang="en-US" sz="950" dirty="0"/>
          </a:p>
        </p:txBody>
      </p:sp>
      <p:sp>
        <p:nvSpPr>
          <p:cNvPr id="22" name="Shape 19"/>
          <p:cNvSpPr/>
          <p:nvPr/>
        </p:nvSpPr>
        <p:spPr>
          <a:xfrm>
            <a:off x="4572000" y="5623560"/>
            <a:ext cx="3017520" cy="384048"/>
          </a:xfrm>
          <a:prstGeom prst="roundRect">
            <a:avLst>
              <a:gd name="adj" fmla="val 19048"/>
            </a:avLst>
          </a:prstGeom>
          <a:solidFill>
            <a:srgbClr val="F1F5F9"/>
          </a:solidFill>
          <a:ln w="10160">
            <a:solidFill>
              <a:srgbClr val="E2E8F0"/>
            </a:solidFill>
            <a:prstDash val="solid"/>
          </a:ln>
        </p:spPr>
      </p:sp>
      <p:sp>
        <p:nvSpPr>
          <p:cNvPr id="23" name="Text 20"/>
          <p:cNvSpPr/>
          <p:nvPr/>
        </p:nvSpPr>
        <p:spPr>
          <a:xfrm>
            <a:off x="4617720" y="5623560"/>
            <a:ext cx="2926080" cy="384048"/>
          </a:xfrm>
          <a:prstGeom prst="rect">
            <a:avLst/>
          </a:prstGeom>
          <a:noFill/>
          <a:ln/>
        </p:spPr>
        <p:txBody>
          <a:bodyPr wrap="square" rtlCol="0" anchor="ctr"/>
          <a:lstStyle/>
          <a:p>
            <a:pPr indent="0" marL="0">
              <a:buNone/>
            </a:pPr>
            <a:r>
              <a:rPr lang="en-US" sz="850" b="1" dirty="0">
                <a:solidFill>
                  <a:srgbClr val="009E96"/>
                </a:solidFill>
              </a:rPr>
              <a:t>Fail konfigurasi berada di /usr/lib/systemd/ dan /etc/systemd/</a:t>
            </a:r>
            <a:endParaRPr lang="en-US" sz="850" dirty="0"/>
          </a:p>
        </p:txBody>
      </p:sp>
      <p:sp>
        <p:nvSpPr>
          <p:cNvPr id="24" name="Shape 21"/>
          <p:cNvSpPr/>
          <p:nvPr/>
        </p:nvSpPr>
        <p:spPr>
          <a:xfrm>
            <a:off x="8138160" y="1920240"/>
            <a:ext cx="3383280" cy="4206240"/>
          </a:xfrm>
          <a:prstGeom prst="roundRect">
            <a:avLst>
              <a:gd name="adj" fmla="val 4054"/>
            </a:avLst>
          </a:prstGeom>
          <a:solidFill>
            <a:srgbClr val="FFFFFF"/>
          </a:solidFill>
          <a:ln w="12700">
            <a:solidFill>
              <a:srgbClr val="E2E8F0"/>
            </a:solidFill>
            <a:prstDash val="solid"/>
          </a:ln>
        </p:spPr>
      </p:sp>
      <p:sp>
        <p:nvSpPr>
          <p:cNvPr id="25" name="Shape 22"/>
          <p:cNvSpPr/>
          <p:nvPr/>
        </p:nvSpPr>
        <p:spPr>
          <a:xfrm>
            <a:off x="8138160" y="1920240"/>
            <a:ext cx="3383280" cy="73152"/>
          </a:xfrm>
          <a:prstGeom prst="roundRect">
            <a:avLst>
              <a:gd name="adj" fmla="val 50000"/>
            </a:avLst>
          </a:prstGeom>
          <a:solidFill>
            <a:srgbClr val="7E22CE"/>
          </a:solidFill>
          <a:ln w="12700">
            <a:solidFill>
              <a:srgbClr val="7E22CE"/>
            </a:solidFill>
            <a:prstDash val="solid"/>
          </a:ln>
        </p:spPr>
      </p:sp>
      <p:sp>
        <p:nvSpPr>
          <p:cNvPr id="26" name="Text 23"/>
          <p:cNvSpPr/>
          <p:nvPr/>
        </p:nvSpPr>
        <p:spPr>
          <a:xfrm>
            <a:off x="8366760" y="2103120"/>
            <a:ext cx="2926080" cy="320040"/>
          </a:xfrm>
          <a:prstGeom prst="rect">
            <a:avLst/>
          </a:prstGeom>
          <a:noFill/>
          <a:ln/>
        </p:spPr>
        <p:txBody>
          <a:bodyPr wrap="square" rtlCol="0" anchor="ctr"/>
          <a:lstStyle/>
          <a:p>
            <a:pPr indent="0" marL="0">
              <a:buNone/>
            </a:pPr>
            <a:r>
              <a:rPr lang="en-US" sz="1200" b="1" dirty="0">
                <a:solidFill>
                  <a:srgbClr val="7E22CE"/>
                </a:solidFill>
              </a:rPr>
              <a:t>Kawalan Sumber (cgroups v2)</a:t>
            </a:r>
            <a:endParaRPr lang="en-US" sz="1200" dirty="0"/>
          </a:p>
        </p:txBody>
      </p:sp>
      <p:sp>
        <p:nvSpPr>
          <p:cNvPr id="27" name="Text 24"/>
          <p:cNvSpPr/>
          <p:nvPr/>
        </p:nvSpPr>
        <p:spPr>
          <a:xfrm>
            <a:off x="8366760" y="2450592"/>
            <a:ext cx="2926080" cy="3127248"/>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systemd mengelompokkan setiap proses ke dalam cgroup tersendiri.</a:t>
            </a:r>
            <a:endParaRPr lang="en-US" sz="950" dirty="0"/>
          </a:p>
          <a:p>
            <a:pPr marL="342900" indent="-342900">
              <a:lnSpc>
                <a:spcPts val="1400"/>
              </a:lnSpc>
              <a:buSzPct val="100000"/>
              <a:buChar char="•"/>
            </a:pPr>
            <a:r>
              <a:rPr lang="en-US" sz="950" dirty="0">
                <a:solidFill>
                  <a:srgbClr val="334155"/>
                </a:solidFill>
              </a:rPr>
              <a:t>Mengelakkan proses "orphan" daripada tergantung apabila servis dihentikan.</a:t>
            </a:r>
            <a:endParaRPr lang="en-US" sz="950" dirty="0"/>
          </a:p>
          <a:p>
            <a:pPr marL="342900" indent="-342900">
              <a:lnSpc>
                <a:spcPts val="1400"/>
              </a:lnSpc>
              <a:buSzPct val="100000"/>
              <a:buChar char="•"/>
            </a:pPr>
            <a:r>
              <a:rPr lang="en-US" sz="950" dirty="0">
                <a:solidFill>
                  <a:srgbClr val="334155"/>
                </a:solidFill>
              </a:rPr>
              <a:t>Membolehkan had penggunaan memori dan CPU dikuatkuasakan secara dinamik.</a:t>
            </a:r>
            <a:endParaRPr lang="en-US" sz="950" dirty="0"/>
          </a:p>
          <a:p>
            <a:pPr marL="342900" indent="-342900">
              <a:lnSpc>
                <a:spcPts val="1400"/>
              </a:lnSpc>
              <a:buSzPct val="100000"/>
              <a:buChar char="•"/>
            </a:pPr>
            <a:r>
              <a:rPr lang="en-US" sz="950" dirty="0">
                <a:solidFill>
                  <a:srgbClr val="334155"/>
                </a:solidFill>
              </a:rPr>
              <a:t>Semak hierarki menggunakan perintah: systemd-cgls</a:t>
            </a:r>
            <a:endParaRPr lang="en-US" sz="950" dirty="0"/>
          </a:p>
        </p:txBody>
      </p:sp>
      <p:sp>
        <p:nvSpPr>
          <p:cNvPr id="28" name="Shape 25"/>
          <p:cNvSpPr/>
          <p:nvPr/>
        </p:nvSpPr>
        <p:spPr>
          <a:xfrm>
            <a:off x="8321040" y="5623560"/>
            <a:ext cx="3017520" cy="384048"/>
          </a:xfrm>
          <a:prstGeom prst="roundRect">
            <a:avLst>
              <a:gd name="adj" fmla="val 19048"/>
            </a:avLst>
          </a:prstGeom>
          <a:solidFill>
            <a:srgbClr val="F1F5F9"/>
          </a:solidFill>
          <a:ln w="10160">
            <a:solidFill>
              <a:srgbClr val="E2E8F0"/>
            </a:solidFill>
            <a:prstDash val="solid"/>
          </a:ln>
        </p:spPr>
      </p:sp>
      <p:sp>
        <p:nvSpPr>
          <p:cNvPr id="29" name="Text 26"/>
          <p:cNvSpPr/>
          <p:nvPr/>
        </p:nvSpPr>
        <p:spPr>
          <a:xfrm>
            <a:off x="8366760" y="5623560"/>
            <a:ext cx="2926080" cy="384048"/>
          </a:xfrm>
          <a:prstGeom prst="rect">
            <a:avLst/>
          </a:prstGeom>
          <a:noFill/>
          <a:ln/>
        </p:spPr>
        <p:txBody>
          <a:bodyPr wrap="square" rtlCol="0" anchor="ctr"/>
          <a:lstStyle/>
          <a:p>
            <a:pPr indent="0" marL="0">
              <a:buNone/>
            </a:pPr>
            <a:r>
              <a:rPr lang="en-US" sz="850" b="1" dirty="0">
                <a:solidFill>
                  <a:srgbClr val="7E22CE"/>
                </a:solidFill>
              </a:rPr>
              <a:t>Integriti proses terjamin walaupun aplikasi mengalami crash</a:t>
            </a:r>
            <a:endParaRPr lang="en-US" sz="850" dirty="0"/>
          </a:p>
        </p:txBody>
      </p:sp>
      <p:sp>
        <p:nvSpPr>
          <p:cNvPr id="30" name="Shape 27"/>
          <p:cNvSpPr/>
          <p:nvPr/>
        </p:nvSpPr>
        <p:spPr>
          <a:xfrm>
            <a:off x="640080" y="6400800"/>
            <a:ext cx="10881360" cy="0"/>
          </a:xfrm>
          <a:prstGeom prst="line">
            <a:avLst/>
          </a:prstGeom>
          <a:noFill/>
          <a:ln w="12700">
            <a:solidFill>
              <a:srgbClr val="E2E8F0"/>
            </a:solidFill>
            <a:prstDash val="solid"/>
          </a:ln>
        </p:spPr>
      </p:sp>
      <p:sp>
        <p:nvSpPr>
          <p:cNvPr id="31" name="Text 28"/>
          <p:cNvSpPr/>
          <p:nvPr/>
        </p:nvSpPr>
        <p:spPr>
          <a:xfrm>
            <a:off x="640080" y="6446520"/>
            <a:ext cx="4572000" cy="320040"/>
          </a:xfrm>
          <a:prstGeom prst="rect">
            <a:avLst/>
          </a:prstGeom>
          <a:noFill/>
          <a:ln/>
        </p:spPr>
        <p:txBody>
          <a:bodyPr wrap="square" rtlCol="0" anchor="ctr"/>
          <a:lstStyle/>
          <a:p>
            <a:pPr indent="0" marL="0">
              <a:buNone/>
            </a:pPr>
            <a:r>
              <a:rPr lang="en-US" sz="900" b="1" dirty="0">
                <a:solidFill>
                  <a:srgbClr val="64748B"/>
                </a:solidFill>
              </a:rPr>
              <a:t>Cognitoz BetaLab  |  Jabatan Kehakiman Malaysia (POJ)</a:t>
            </a:r>
            <a:endParaRPr lang="en-US" sz="900" dirty="0"/>
          </a:p>
        </p:txBody>
      </p:sp>
      <p:sp>
        <p:nvSpPr>
          <p:cNvPr id="32" name="Text 29"/>
          <p:cNvSpPr/>
          <p:nvPr/>
        </p:nvSpPr>
        <p:spPr>
          <a:xfrm>
            <a:off x="4389120" y="6446520"/>
            <a:ext cx="5029200" cy="320040"/>
          </a:xfrm>
          <a:prstGeom prst="rect">
            <a:avLst/>
          </a:prstGeom>
          <a:noFill/>
          <a:ln/>
        </p:spPr>
        <p:txBody>
          <a:bodyPr wrap="square" rtlCol="0" anchor="ctr"/>
          <a:lstStyle/>
          <a:p>
            <a:pPr algn="ctr" indent="0" marL="0">
              <a:buNone/>
            </a:pPr>
            <a:r>
              <a:rPr lang="en-US" sz="850" dirty="0">
                <a:solidFill>
                  <a:srgbClr val="64748B"/>
                </a:solidFill>
              </a:rPr>
              <a:t>Copyright © 2026 Cognitoz I.T Training Sdn Bhd — www.cognitoz.com</a:t>
            </a:r>
            <a:endParaRPr lang="en-US" sz="850" dirty="0"/>
          </a:p>
        </p:txBody>
      </p:sp>
      <p:sp>
        <p:nvSpPr>
          <p:cNvPr id="33" name="Text 30"/>
          <p:cNvSpPr/>
          <p:nvPr/>
        </p:nvSpPr>
        <p:spPr>
          <a:xfrm>
            <a:off x="9601200" y="6446520"/>
            <a:ext cx="1920240" cy="320040"/>
          </a:xfrm>
          <a:prstGeom prst="rect">
            <a:avLst/>
          </a:prstGeom>
          <a:noFill/>
          <a:ln/>
        </p:spPr>
        <p:txBody>
          <a:bodyPr wrap="square" rtlCol="0" anchor="ctr"/>
          <a:lstStyle/>
          <a:p>
            <a:pPr algn="r" indent="0" marL="0">
              <a:buNone/>
            </a:pPr>
            <a:r>
              <a:rPr lang="en-US" sz="900" b="1" dirty="0">
                <a:solidFill>
                  <a:srgbClr val="64748B"/>
                </a:solidFill>
              </a:rPr>
              <a:t>5 / 22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3044952" cy="54864"/>
          </a:xfrm>
          <a:prstGeom prst="rect">
            <a:avLst/>
          </a:prstGeom>
          <a:solidFill>
            <a:srgbClr val="7E22CE"/>
          </a:solidFill>
          <a:ln/>
        </p:spPr>
      </p:sp>
      <p:sp>
        <p:nvSpPr>
          <p:cNvPr id="3" name="Shape 1"/>
          <p:cNvSpPr/>
          <p:nvPr/>
        </p:nvSpPr>
        <p:spPr>
          <a:xfrm>
            <a:off x="3044952" y="0"/>
            <a:ext cx="3044952" cy="54864"/>
          </a:xfrm>
          <a:prstGeom prst="rect">
            <a:avLst/>
          </a:prstGeom>
          <a:solidFill>
            <a:srgbClr val="0078D4"/>
          </a:solidFill>
          <a:ln/>
        </p:spPr>
      </p:sp>
      <p:sp>
        <p:nvSpPr>
          <p:cNvPr id="4" name="Shape 2"/>
          <p:cNvSpPr/>
          <p:nvPr/>
        </p:nvSpPr>
        <p:spPr>
          <a:xfrm>
            <a:off x="6089904" y="0"/>
            <a:ext cx="3044952" cy="54864"/>
          </a:xfrm>
          <a:prstGeom prst="rect">
            <a:avLst/>
          </a:prstGeom>
          <a:solidFill>
            <a:srgbClr val="009E96"/>
          </a:solidFill>
          <a:ln/>
        </p:spPr>
      </p:sp>
      <p:sp>
        <p:nvSpPr>
          <p:cNvPr id="5" name="Shape 3"/>
          <p:cNvSpPr/>
          <p:nvPr/>
        </p:nvSpPr>
        <p:spPr>
          <a:xfrm>
            <a:off x="9134856" y="0"/>
            <a:ext cx="3054096" cy="54864"/>
          </a:xfrm>
          <a:prstGeom prst="rect">
            <a:avLst/>
          </a:prstGeom>
          <a:solidFill>
            <a:srgbClr val="D97706"/>
          </a:solidFill>
          <a:ln/>
        </p:spPr>
      </p:sp>
      <p:pic>
        <p:nvPicPr>
          <p:cNvPr id="6" name="Image 0" descr="D:/betalab.cognitoz.com/workshops/poj_centos/public/cognitoz-logo.png">    </p:cNvPr>
          <p:cNvPicPr>
            <a:picLocks noChangeAspect="1"/>
          </p:cNvPicPr>
          <p:nvPr/>
        </p:nvPicPr>
        <p:blipFill>
          <a:blip r:embed="rId1"/>
          <a:stretch>
            <a:fillRect/>
          </a:stretch>
        </p:blipFill>
        <p:spPr>
          <a:xfrm>
            <a:off x="640080" y="201168"/>
            <a:ext cx="1463040" cy="411480"/>
          </a:xfrm>
          <a:prstGeom prst="rect">
            <a:avLst/>
          </a:prstGeom>
        </p:spPr>
      </p:pic>
      <p:sp>
        <p:nvSpPr>
          <p:cNvPr id="7" name="Shape 4"/>
          <p:cNvSpPr/>
          <p:nvPr/>
        </p:nvSpPr>
        <p:spPr>
          <a:xfrm>
            <a:off x="7863840" y="228600"/>
            <a:ext cx="3657600" cy="347472"/>
          </a:xfrm>
          <a:prstGeom prst="roundRect">
            <a:avLst>
              <a:gd name="adj" fmla="val 47368"/>
            </a:avLst>
          </a:prstGeom>
          <a:solidFill>
            <a:srgbClr val="FFFFFF"/>
          </a:solidFill>
          <a:ln w="12700">
            <a:solidFill>
              <a:srgbClr val="E2E8F0"/>
            </a:solidFill>
            <a:prstDash val="solid"/>
          </a:ln>
        </p:spPr>
      </p:sp>
      <p:sp>
        <p:nvSpPr>
          <p:cNvPr id="8" name="Text 5"/>
          <p:cNvSpPr/>
          <p:nvPr/>
        </p:nvSpPr>
        <p:spPr>
          <a:xfrm>
            <a:off x="7863840" y="228600"/>
            <a:ext cx="3657600" cy="347472"/>
          </a:xfrm>
          <a:prstGeom prst="rect">
            <a:avLst/>
          </a:prstGeom>
          <a:noFill/>
          <a:ln/>
        </p:spPr>
        <p:txBody>
          <a:bodyPr wrap="square" rtlCol="0" anchor="ctr"/>
          <a:lstStyle/>
          <a:p>
            <a:pPr algn="ctr" indent="0" marL="0">
              <a:buNone/>
            </a:pPr>
            <a:r>
              <a:rPr lang="en-US" sz="900" b="1" dirty="0">
                <a:solidFill>
                  <a:srgbClr val="7E22CE"/>
                </a:solidFill>
              </a:rPr>
              <a:t>CentOS Stream 10  |  POJ Putrajaya</a:t>
            </a:r>
            <a:endParaRPr lang="en-US" sz="900" dirty="0"/>
          </a:p>
        </p:txBody>
      </p:sp>
      <p:sp>
        <p:nvSpPr>
          <p:cNvPr id="9" name="Text 6"/>
          <p:cNvSpPr/>
          <p:nvPr/>
        </p:nvSpPr>
        <p:spPr>
          <a:xfrm>
            <a:off x="640080" y="777240"/>
            <a:ext cx="10881360" cy="274320"/>
          </a:xfrm>
          <a:prstGeom prst="rect">
            <a:avLst/>
          </a:prstGeom>
          <a:noFill/>
          <a:ln/>
        </p:spPr>
        <p:txBody>
          <a:bodyPr wrap="square" rtlCol="0" anchor="ctr"/>
          <a:lstStyle/>
          <a:p>
            <a:pPr indent="0" marL="0">
              <a:buNone/>
            </a:pPr>
            <a:r>
              <a:rPr lang="en-US" sz="1000" b="1" spc="150" kern="0" dirty="0">
                <a:solidFill>
                  <a:srgbClr val="0078D4"/>
                </a:solidFill>
              </a:rPr>
              <a:t>METODOLOGI PENTADBIRAN</a:t>
            </a:r>
            <a:endParaRPr lang="en-US" sz="1000" dirty="0"/>
          </a:p>
        </p:txBody>
      </p:sp>
      <p:sp>
        <p:nvSpPr>
          <p:cNvPr id="10" name="Text 7"/>
          <p:cNvSpPr/>
          <p:nvPr/>
        </p:nvSpPr>
        <p:spPr>
          <a:xfrm>
            <a:off x="640080" y="1024128"/>
            <a:ext cx="10881360" cy="502920"/>
          </a:xfrm>
          <a:prstGeom prst="rect">
            <a:avLst/>
          </a:prstGeom>
          <a:noFill/>
          <a:ln/>
        </p:spPr>
        <p:txBody>
          <a:bodyPr wrap="square" rtlCol="0" anchor="ctr"/>
          <a:lstStyle/>
          <a:p>
            <a:pPr indent="0" marL="0">
              <a:buNone/>
            </a:pPr>
            <a:r>
              <a:rPr lang="en-US" sz="2100" b="1" dirty="0">
                <a:solidFill>
                  <a:srgbClr val="0F172A"/>
                </a:solidFill>
              </a:rPr>
              <a:t>Metodologi Siasatan 5-Langkah (5-Step Triage)</a:t>
            </a:r>
            <a:endParaRPr lang="en-US" sz="2100" dirty="0"/>
          </a:p>
        </p:txBody>
      </p:sp>
      <p:sp>
        <p:nvSpPr>
          <p:cNvPr id="11" name="Text 8"/>
          <p:cNvSpPr/>
          <p:nvPr/>
        </p:nvSpPr>
        <p:spPr>
          <a:xfrm>
            <a:off x="640080" y="1536192"/>
            <a:ext cx="10881360" cy="320040"/>
          </a:xfrm>
          <a:prstGeom prst="rect">
            <a:avLst/>
          </a:prstGeom>
          <a:noFill/>
          <a:ln/>
        </p:spPr>
        <p:txBody>
          <a:bodyPr wrap="square" rtlCol="0" anchor="ctr"/>
          <a:lstStyle/>
          <a:p>
            <a:pPr indent="0" marL="0">
              <a:buNone/>
            </a:pPr>
            <a:r>
              <a:rPr lang="en-US" sz="1200" dirty="0">
                <a:solidFill>
                  <a:srgbClr val="64748B"/>
                </a:solidFill>
              </a:rPr>
              <a:t>Pendekatan Sistematik Menyelesaikan Isu Servis Gagal Tanpa Meneka</a:t>
            </a:r>
            <a:endParaRPr lang="en-US" sz="1200" dirty="0"/>
          </a:p>
        </p:txBody>
      </p:sp>
      <p:sp>
        <p:nvSpPr>
          <p:cNvPr id="12" name="Shape 9"/>
          <p:cNvSpPr/>
          <p:nvPr/>
        </p:nvSpPr>
        <p:spPr>
          <a:xfrm>
            <a:off x="640080" y="1920240"/>
            <a:ext cx="10881360" cy="731520"/>
          </a:xfrm>
          <a:prstGeom prst="roundRect">
            <a:avLst>
              <a:gd name="adj" fmla="val 12500"/>
            </a:avLst>
          </a:prstGeom>
          <a:solidFill>
            <a:srgbClr val="FFFFFF"/>
          </a:solidFill>
          <a:ln w="12700">
            <a:solidFill>
              <a:srgbClr val="E2E8F0"/>
            </a:solidFill>
            <a:prstDash val="solid"/>
          </a:ln>
        </p:spPr>
      </p:sp>
      <p:sp>
        <p:nvSpPr>
          <p:cNvPr id="13" name="Shape 10"/>
          <p:cNvSpPr/>
          <p:nvPr/>
        </p:nvSpPr>
        <p:spPr>
          <a:xfrm>
            <a:off x="777240" y="2057400"/>
            <a:ext cx="457200" cy="457200"/>
          </a:xfrm>
          <a:prstGeom prst="roundRect">
            <a:avLst>
              <a:gd name="adj" fmla="val 20000"/>
            </a:avLst>
          </a:prstGeom>
          <a:solidFill>
            <a:srgbClr val="0078D4"/>
          </a:solidFill>
          <a:ln w="12700">
            <a:solidFill>
              <a:srgbClr val="0078D4"/>
            </a:solidFill>
            <a:prstDash val="solid"/>
          </a:ln>
        </p:spPr>
      </p:sp>
      <p:sp>
        <p:nvSpPr>
          <p:cNvPr id="14" name="Text 11"/>
          <p:cNvSpPr/>
          <p:nvPr/>
        </p:nvSpPr>
        <p:spPr>
          <a:xfrm>
            <a:off x="777240" y="2057400"/>
            <a:ext cx="457200" cy="457200"/>
          </a:xfrm>
          <a:prstGeom prst="rect">
            <a:avLst/>
          </a:prstGeom>
          <a:noFill/>
          <a:ln/>
        </p:spPr>
        <p:txBody>
          <a:bodyPr wrap="square" rtlCol="0" anchor="ctr"/>
          <a:lstStyle/>
          <a:p>
            <a:pPr algn="ctr" indent="0" marL="0">
              <a:buNone/>
            </a:pPr>
            <a:r>
              <a:rPr lang="en-US" sz="1400" b="1" dirty="0">
                <a:solidFill>
                  <a:srgbClr val="FFFFFF"/>
                </a:solidFill>
              </a:rPr>
              <a:t>1</a:t>
            </a:r>
            <a:endParaRPr lang="en-US" sz="1400" dirty="0"/>
          </a:p>
        </p:txBody>
      </p:sp>
      <p:sp>
        <p:nvSpPr>
          <p:cNvPr id="15" name="Text 12"/>
          <p:cNvSpPr/>
          <p:nvPr/>
        </p:nvSpPr>
        <p:spPr>
          <a:xfrm>
            <a:off x="1371600" y="2029968"/>
            <a:ext cx="3657600" cy="274320"/>
          </a:xfrm>
          <a:prstGeom prst="rect">
            <a:avLst/>
          </a:prstGeom>
          <a:noFill/>
          <a:ln/>
        </p:spPr>
        <p:txBody>
          <a:bodyPr wrap="square" rtlCol="0" anchor="ctr"/>
          <a:lstStyle/>
          <a:p>
            <a:pPr indent="0" marL="0">
              <a:buNone/>
            </a:pPr>
            <a:r>
              <a:rPr lang="en-US" sz="1200" b="1" dirty="0">
                <a:solidFill>
                  <a:srgbClr val="0078D4"/>
                </a:solidFill>
              </a:rPr>
              <a:t>Semak Status Unit</a:t>
            </a:r>
            <a:endParaRPr lang="en-US" sz="1200" dirty="0"/>
          </a:p>
        </p:txBody>
      </p:sp>
      <p:sp>
        <p:nvSpPr>
          <p:cNvPr id="16" name="Text 13"/>
          <p:cNvSpPr/>
          <p:nvPr/>
        </p:nvSpPr>
        <p:spPr>
          <a:xfrm>
            <a:off x="1371600" y="2304288"/>
            <a:ext cx="9875520" cy="274320"/>
          </a:xfrm>
          <a:prstGeom prst="rect">
            <a:avLst/>
          </a:prstGeom>
          <a:noFill/>
          <a:ln/>
        </p:spPr>
        <p:txBody>
          <a:bodyPr wrap="square" rtlCol="0" anchor="ctr"/>
          <a:lstStyle/>
          <a:p>
            <a:pPr indent="0" marL="0">
              <a:buNone/>
            </a:pPr>
            <a:r>
              <a:rPr lang="en-US" sz="950" dirty="0">
                <a:solidFill>
                  <a:srgbClr val="334155"/>
                </a:solidFill>
              </a:rPr>
              <a:t>systemctl status &lt;unit&gt; — kenal pasti status Active, SubState, Main PID, dan kod keluar (ExitCode).</a:t>
            </a:r>
            <a:endParaRPr lang="en-US" sz="950" dirty="0"/>
          </a:p>
        </p:txBody>
      </p:sp>
      <p:sp>
        <p:nvSpPr>
          <p:cNvPr id="17" name="Shape 14"/>
          <p:cNvSpPr/>
          <p:nvPr/>
        </p:nvSpPr>
        <p:spPr>
          <a:xfrm>
            <a:off x="640080" y="2761488"/>
            <a:ext cx="10881360" cy="731520"/>
          </a:xfrm>
          <a:prstGeom prst="roundRect">
            <a:avLst>
              <a:gd name="adj" fmla="val 12500"/>
            </a:avLst>
          </a:prstGeom>
          <a:solidFill>
            <a:srgbClr val="FFFFFF"/>
          </a:solidFill>
          <a:ln w="12700">
            <a:solidFill>
              <a:srgbClr val="E2E8F0"/>
            </a:solidFill>
            <a:prstDash val="solid"/>
          </a:ln>
        </p:spPr>
      </p:sp>
      <p:sp>
        <p:nvSpPr>
          <p:cNvPr id="18" name="Shape 15"/>
          <p:cNvSpPr/>
          <p:nvPr/>
        </p:nvSpPr>
        <p:spPr>
          <a:xfrm>
            <a:off x="777240" y="2898648"/>
            <a:ext cx="457200" cy="457200"/>
          </a:xfrm>
          <a:prstGeom prst="roundRect">
            <a:avLst>
              <a:gd name="adj" fmla="val 20000"/>
            </a:avLst>
          </a:prstGeom>
          <a:solidFill>
            <a:srgbClr val="009E96"/>
          </a:solidFill>
          <a:ln w="12700">
            <a:solidFill>
              <a:srgbClr val="009E96"/>
            </a:solidFill>
            <a:prstDash val="solid"/>
          </a:ln>
        </p:spPr>
      </p:sp>
      <p:sp>
        <p:nvSpPr>
          <p:cNvPr id="19" name="Text 16"/>
          <p:cNvSpPr/>
          <p:nvPr/>
        </p:nvSpPr>
        <p:spPr>
          <a:xfrm>
            <a:off x="777240" y="2898648"/>
            <a:ext cx="457200" cy="457200"/>
          </a:xfrm>
          <a:prstGeom prst="rect">
            <a:avLst/>
          </a:prstGeom>
          <a:noFill/>
          <a:ln/>
        </p:spPr>
        <p:txBody>
          <a:bodyPr wrap="square" rtlCol="0" anchor="ctr"/>
          <a:lstStyle/>
          <a:p>
            <a:pPr algn="ctr" indent="0" marL="0">
              <a:buNone/>
            </a:pPr>
            <a:r>
              <a:rPr lang="en-US" sz="1400" b="1" dirty="0">
                <a:solidFill>
                  <a:srgbClr val="FFFFFF"/>
                </a:solidFill>
              </a:rPr>
              <a:t>2</a:t>
            </a:r>
            <a:endParaRPr lang="en-US" sz="1400" dirty="0"/>
          </a:p>
        </p:txBody>
      </p:sp>
      <p:sp>
        <p:nvSpPr>
          <p:cNvPr id="20" name="Text 17"/>
          <p:cNvSpPr/>
          <p:nvPr/>
        </p:nvSpPr>
        <p:spPr>
          <a:xfrm>
            <a:off x="1371600" y="2871216"/>
            <a:ext cx="3657600" cy="274320"/>
          </a:xfrm>
          <a:prstGeom prst="rect">
            <a:avLst/>
          </a:prstGeom>
          <a:noFill/>
          <a:ln/>
        </p:spPr>
        <p:txBody>
          <a:bodyPr wrap="square" rtlCol="0" anchor="ctr"/>
          <a:lstStyle/>
          <a:p>
            <a:pPr indent="0" marL="0">
              <a:buNone/>
            </a:pPr>
            <a:r>
              <a:rPr lang="en-US" sz="1200" b="1" dirty="0">
                <a:solidFill>
                  <a:srgbClr val="009E96"/>
                </a:solidFill>
              </a:rPr>
              <a:t>Ekstrak Log Bukti</a:t>
            </a:r>
            <a:endParaRPr lang="en-US" sz="1200" dirty="0"/>
          </a:p>
        </p:txBody>
      </p:sp>
      <p:sp>
        <p:nvSpPr>
          <p:cNvPr id="21" name="Text 18"/>
          <p:cNvSpPr/>
          <p:nvPr/>
        </p:nvSpPr>
        <p:spPr>
          <a:xfrm>
            <a:off x="1371600" y="3145536"/>
            <a:ext cx="9875520" cy="274320"/>
          </a:xfrm>
          <a:prstGeom prst="rect">
            <a:avLst/>
          </a:prstGeom>
          <a:noFill/>
          <a:ln/>
        </p:spPr>
        <p:txBody>
          <a:bodyPr wrap="square" rtlCol="0" anchor="ctr"/>
          <a:lstStyle/>
          <a:p>
            <a:pPr indent="0" marL="0">
              <a:buNone/>
            </a:pPr>
            <a:r>
              <a:rPr lang="en-US" sz="950" dirty="0">
                <a:solidFill>
                  <a:srgbClr val="334155"/>
                </a:solidFill>
              </a:rPr>
              <a:t>journalctl -u &lt;unit&gt; -e -n 50 — tapis mesej ralat khusus, baris konfigurasi rosak, atau port bertindih.</a:t>
            </a:r>
            <a:endParaRPr lang="en-US" sz="950" dirty="0"/>
          </a:p>
        </p:txBody>
      </p:sp>
      <p:sp>
        <p:nvSpPr>
          <p:cNvPr id="22" name="Shape 19"/>
          <p:cNvSpPr/>
          <p:nvPr/>
        </p:nvSpPr>
        <p:spPr>
          <a:xfrm>
            <a:off x="640080" y="3602736"/>
            <a:ext cx="10881360" cy="731520"/>
          </a:xfrm>
          <a:prstGeom prst="roundRect">
            <a:avLst>
              <a:gd name="adj" fmla="val 12500"/>
            </a:avLst>
          </a:prstGeom>
          <a:solidFill>
            <a:srgbClr val="FFFFFF"/>
          </a:solidFill>
          <a:ln w="12700">
            <a:solidFill>
              <a:srgbClr val="E2E8F0"/>
            </a:solidFill>
            <a:prstDash val="solid"/>
          </a:ln>
        </p:spPr>
      </p:sp>
      <p:sp>
        <p:nvSpPr>
          <p:cNvPr id="23" name="Shape 20"/>
          <p:cNvSpPr/>
          <p:nvPr/>
        </p:nvSpPr>
        <p:spPr>
          <a:xfrm>
            <a:off x="777240" y="3739896"/>
            <a:ext cx="457200" cy="457200"/>
          </a:xfrm>
          <a:prstGeom prst="roundRect">
            <a:avLst>
              <a:gd name="adj" fmla="val 20000"/>
            </a:avLst>
          </a:prstGeom>
          <a:solidFill>
            <a:srgbClr val="D97706"/>
          </a:solidFill>
          <a:ln w="12700">
            <a:solidFill>
              <a:srgbClr val="D97706"/>
            </a:solidFill>
            <a:prstDash val="solid"/>
          </a:ln>
        </p:spPr>
      </p:sp>
      <p:sp>
        <p:nvSpPr>
          <p:cNvPr id="24" name="Text 21"/>
          <p:cNvSpPr/>
          <p:nvPr/>
        </p:nvSpPr>
        <p:spPr>
          <a:xfrm>
            <a:off x="777240" y="3739896"/>
            <a:ext cx="457200" cy="457200"/>
          </a:xfrm>
          <a:prstGeom prst="rect">
            <a:avLst/>
          </a:prstGeom>
          <a:noFill/>
          <a:ln/>
        </p:spPr>
        <p:txBody>
          <a:bodyPr wrap="square" rtlCol="0" anchor="ctr"/>
          <a:lstStyle/>
          <a:p>
            <a:pPr algn="ctr" indent="0" marL="0">
              <a:buNone/>
            </a:pPr>
            <a:r>
              <a:rPr lang="en-US" sz="1400" b="1" dirty="0">
                <a:solidFill>
                  <a:srgbClr val="FFFFFF"/>
                </a:solidFill>
              </a:rPr>
              <a:t>3</a:t>
            </a:r>
            <a:endParaRPr lang="en-US" sz="1400" dirty="0"/>
          </a:p>
        </p:txBody>
      </p:sp>
      <p:sp>
        <p:nvSpPr>
          <p:cNvPr id="25" name="Text 22"/>
          <p:cNvSpPr/>
          <p:nvPr/>
        </p:nvSpPr>
        <p:spPr>
          <a:xfrm>
            <a:off x="1371600" y="3712464"/>
            <a:ext cx="3657600" cy="274320"/>
          </a:xfrm>
          <a:prstGeom prst="rect">
            <a:avLst/>
          </a:prstGeom>
          <a:noFill/>
          <a:ln/>
        </p:spPr>
        <p:txBody>
          <a:bodyPr wrap="square" rtlCol="0" anchor="ctr"/>
          <a:lstStyle/>
          <a:p>
            <a:pPr indent="0" marL="0">
              <a:buNone/>
            </a:pPr>
            <a:r>
              <a:rPr lang="en-US" sz="1200" b="1" dirty="0">
                <a:solidFill>
                  <a:srgbClr val="D97706"/>
                </a:solidFill>
              </a:rPr>
              <a:t>Audit Fail Konfigurasi</a:t>
            </a:r>
            <a:endParaRPr lang="en-US" sz="1200" dirty="0"/>
          </a:p>
        </p:txBody>
      </p:sp>
      <p:sp>
        <p:nvSpPr>
          <p:cNvPr id="26" name="Text 23"/>
          <p:cNvSpPr/>
          <p:nvPr/>
        </p:nvSpPr>
        <p:spPr>
          <a:xfrm>
            <a:off x="1371600" y="3986784"/>
            <a:ext cx="9875520" cy="274320"/>
          </a:xfrm>
          <a:prstGeom prst="rect">
            <a:avLst/>
          </a:prstGeom>
          <a:noFill/>
          <a:ln/>
        </p:spPr>
        <p:txBody>
          <a:bodyPr wrap="square" rtlCol="0" anchor="ctr"/>
          <a:lstStyle/>
          <a:p>
            <a:pPr indent="0" marL="0">
              <a:buNone/>
            </a:pPr>
            <a:r>
              <a:rPr lang="en-US" sz="950" dirty="0">
                <a:solidFill>
                  <a:srgbClr val="334155"/>
                </a:solidFill>
              </a:rPr>
              <a:t>Semak sintaks fail di /etc/systemd/system/ atau fail drop-in override /etc/systemd/system/&lt;unit&gt;.d/.</a:t>
            </a:r>
            <a:endParaRPr lang="en-US" sz="950" dirty="0"/>
          </a:p>
        </p:txBody>
      </p:sp>
      <p:sp>
        <p:nvSpPr>
          <p:cNvPr id="27" name="Shape 24"/>
          <p:cNvSpPr/>
          <p:nvPr/>
        </p:nvSpPr>
        <p:spPr>
          <a:xfrm>
            <a:off x="640080" y="4443984"/>
            <a:ext cx="10881360" cy="731520"/>
          </a:xfrm>
          <a:prstGeom prst="roundRect">
            <a:avLst>
              <a:gd name="adj" fmla="val 12500"/>
            </a:avLst>
          </a:prstGeom>
          <a:solidFill>
            <a:srgbClr val="FFFFFF"/>
          </a:solidFill>
          <a:ln w="12700">
            <a:solidFill>
              <a:srgbClr val="E2E8F0"/>
            </a:solidFill>
            <a:prstDash val="solid"/>
          </a:ln>
        </p:spPr>
      </p:sp>
      <p:sp>
        <p:nvSpPr>
          <p:cNvPr id="28" name="Shape 25"/>
          <p:cNvSpPr/>
          <p:nvPr/>
        </p:nvSpPr>
        <p:spPr>
          <a:xfrm>
            <a:off x="777240" y="4581144"/>
            <a:ext cx="457200" cy="457200"/>
          </a:xfrm>
          <a:prstGeom prst="roundRect">
            <a:avLst>
              <a:gd name="adj" fmla="val 20000"/>
            </a:avLst>
          </a:prstGeom>
          <a:solidFill>
            <a:srgbClr val="7E22CE"/>
          </a:solidFill>
          <a:ln w="12700">
            <a:solidFill>
              <a:srgbClr val="7E22CE"/>
            </a:solidFill>
            <a:prstDash val="solid"/>
          </a:ln>
        </p:spPr>
      </p:sp>
      <p:sp>
        <p:nvSpPr>
          <p:cNvPr id="29" name="Text 26"/>
          <p:cNvSpPr/>
          <p:nvPr/>
        </p:nvSpPr>
        <p:spPr>
          <a:xfrm>
            <a:off x="777240" y="4581144"/>
            <a:ext cx="457200" cy="457200"/>
          </a:xfrm>
          <a:prstGeom prst="rect">
            <a:avLst/>
          </a:prstGeom>
          <a:noFill/>
          <a:ln/>
        </p:spPr>
        <p:txBody>
          <a:bodyPr wrap="square" rtlCol="0" anchor="ctr"/>
          <a:lstStyle/>
          <a:p>
            <a:pPr algn="ctr" indent="0" marL="0">
              <a:buNone/>
            </a:pPr>
            <a:r>
              <a:rPr lang="en-US" sz="1400" b="1" dirty="0">
                <a:solidFill>
                  <a:srgbClr val="FFFFFF"/>
                </a:solidFill>
              </a:rPr>
              <a:t>4</a:t>
            </a:r>
            <a:endParaRPr lang="en-US" sz="1400" dirty="0"/>
          </a:p>
        </p:txBody>
      </p:sp>
      <p:sp>
        <p:nvSpPr>
          <p:cNvPr id="30" name="Text 27"/>
          <p:cNvSpPr/>
          <p:nvPr/>
        </p:nvSpPr>
        <p:spPr>
          <a:xfrm>
            <a:off x="1371600" y="4553712"/>
            <a:ext cx="3657600" cy="274320"/>
          </a:xfrm>
          <a:prstGeom prst="rect">
            <a:avLst/>
          </a:prstGeom>
          <a:noFill/>
          <a:ln/>
        </p:spPr>
        <p:txBody>
          <a:bodyPr wrap="square" rtlCol="0" anchor="ctr"/>
          <a:lstStyle/>
          <a:p>
            <a:pPr indent="0" marL="0">
              <a:buNone/>
            </a:pPr>
            <a:r>
              <a:rPr lang="en-US" sz="1200" b="1" dirty="0">
                <a:solidFill>
                  <a:srgbClr val="7E22CE"/>
                </a:solidFill>
              </a:rPr>
              <a:t>Muat Semula Daemon</a:t>
            </a:r>
            <a:endParaRPr lang="en-US" sz="1200" dirty="0"/>
          </a:p>
        </p:txBody>
      </p:sp>
      <p:sp>
        <p:nvSpPr>
          <p:cNvPr id="31" name="Text 28"/>
          <p:cNvSpPr/>
          <p:nvPr/>
        </p:nvSpPr>
        <p:spPr>
          <a:xfrm>
            <a:off x="1371600" y="4828032"/>
            <a:ext cx="9875520" cy="274320"/>
          </a:xfrm>
          <a:prstGeom prst="rect">
            <a:avLst/>
          </a:prstGeom>
          <a:noFill/>
          <a:ln/>
        </p:spPr>
        <p:txBody>
          <a:bodyPr wrap="square" rtlCol="0" anchor="ctr"/>
          <a:lstStyle/>
          <a:p>
            <a:pPr indent="0" marL="0">
              <a:buNone/>
            </a:pPr>
            <a:r>
              <a:rPr lang="en-US" sz="950" dirty="0">
                <a:solidFill>
                  <a:srgbClr val="334155"/>
                </a:solidFill>
              </a:rPr>
              <a:t>systemctl daemon-reload — wajib dijalankan setiap kali fail unit diubah suai pada cakera.</a:t>
            </a:r>
            <a:endParaRPr lang="en-US" sz="950" dirty="0"/>
          </a:p>
        </p:txBody>
      </p:sp>
      <p:sp>
        <p:nvSpPr>
          <p:cNvPr id="32" name="Shape 29"/>
          <p:cNvSpPr/>
          <p:nvPr/>
        </p:nvSpPr>
        <p:spPr>
          <a:xfrm>
            <a:off x="640080" y="5285232"/>
            <a:ext cx="10881360" cy="731520"/>
          </a:xfrm>
          <a:prstGeom prst="roundRect">
            <a:avLst>
              <a:gd name="adj" fmla="val 12500"/>
            </a:avLst>
          </a:prstGeom>
          <a:solidFill>
            <a:srgbClr val="FFFFFF"/>
          </a:solidFill>
          <a:ln w="12700">
            <a:solidFill>
              <a:srgbClr val="E2E8F0"/>
            </a:solidFill>
            <a:prstDash val="solid"/>
          </a:ln>
        </p:spPr>
      </p:sp>
      <p:sp>
        <p:nvSpPr>
          <p:cNvPr id="33" name="Shape 30"/>
          <p:cNvSpPr/>
          <p:nvPr/>
        </p:nvSpPr>
        <p:spPr>
          <a:xfrm>
            <a:off x="777240" y="5422392"/>
            <a:ext cx="457200" cy="457200"/>
          </a:xfrm>
          <a:prstGeom prst="roundRect">
            <a:avLst>
              <a:gd name="adj" fmla="val 20000"/>
            </a:avLst>
          </a:prstGeom>
          <a:solidFill>
            <a:srgbClr val="DC2626"/>
          </a:solidFill>
          <a:ln w="12700">
            <a:solidFill>
              <a:srgbClr val="DC2626"/>
            </a:solidFill>
            <a:prstDash val="solid"/>
          </a:ln>
        </p:spPr>
      </p:sp>
      <p:sp>
        <p:nvSpPr>
          <p:cNvPr id="34" name="Text 31"/>
          <p:cNvSpPr/>
          <p:nvPr/>
        </p:nvSpPr>
        <p:spPr>
          <a:xfrm>
            <a:off x="777240" y="5422392"/>
            <a:ext cx="457200" cy="457200"/>
          </a:xfrm>
          <a:prstGeom prst="rect">
            <a:avLst/>
          </a:prstGeom>
          <a:noFill/>
          <a:ln/>
        </p:spPr>
        <p:txBody>
          <a:bodyPr wrap="square" rtlCol="0" anchor="ctr"/>
          <a:lstStyle/>
          <a:p>
            <a:pPr algn="ctr" indent="0" marL="0">
              <a:buNone/>
            </a:pPr>
            <a:r>
              <a:rPr lang="en-US" sz="1400" b="1" dirty="0">
                <a:solidFill>
                  <a:srgbClr val="FFFFFF"/>
                </a:solidFill>
              </a:rPr>
              <a:t>5</a:t>
            </a:r>
            <a:endParaRPr lang="en-US" sz="1400" dirty="0"/>
          </a:p>
        </p:txBody>
      </p:sp>
      <p:sp>
        <p:nvSpPr>
          <p:cNvPr id="35" name="Text 32"/>
          <p:cNvSpPr/>
          <p:nvPr/>
        </p:nvSpPr>
        <p:spPr>
          <a:xfrm>
            <a:off x="1371600" y="5394960"/>
            <a:ext cx="3657600" cy="274320"/>
          </a:xfrm>
          <a:prstGeom prst="rect">
            <a:avLst/>
          </a:prstGeom>
          <a:noFill/>
          <a:ln/>
        </p:spPr>
        <p:txBody>
          <a:bodyPr wrap="square" rtlCol="0" anchor="ctr"/>
          <a:lstStyle/>
          <a:p>
            <a:pPr indent="0" marL="0">
              <a:buNone/>
            </a:pPr>
            <a:r>
              <a:rPr lang="en-US" sz="1200" b="1" dirty="0">
                <a:solidFill>
                  <a:srgbClr val="DC2626"/>
                </a:solidFill>
              </a:rPr>
              <a:t>Uji &amp; Sahkan Status</a:t>
            </a:r>
            <a:endParaRPr lang="en-US" sz="1200" dirty="0"/>
          </a:p>
        </p:txBody>
      </p:sp>
      <p:sp>
        <p:nvSpPr>
          <p:cNvPr id="36" name="Text 33"/>
          <p:cNvSpPr/>
          <p:nvPr/>
        </p:nvSpPr>
        <p:spPr>
          <a:xfrm>
            <a:off x="1371600" y="5669280"/>
            <a:ext cx="9875520" cy="274320"/>
          </a:xfrm>
          <a:prstGeom prst="rect">
            <a:avLst/>
          </a:prstGeom>
          <a:noFill/>
          <a:ln/>
        </p:spPr>
        <p:txBody>
          <a:bodyPr wrap="square" rtlCol="0" anchor="ctr"/>
          <a:lstStyle/>
          <a:p>
            <a:pPr indent="0" marL="0">
              <a:buNone/>
            </a:pPr>
            <a:r>
              <a:rPr lang="en-US" sz="950" dirty="0">
                <a:solidFill>
                  <a:srgbClr val="334155"/>
                </a:solidFill>
              </a:rPr>
              <a:t>systemctl restart &lt;unit&gt; dan sahkan dengan systemctl is-active bagi memastikan servis stabil.</a:t>
            </a:r>
            <a:endParaRPr lang="en-US" sz="950" dirty="0"/>
          </a:p>
        </p:txBody>
      </p:sp>
      <p:sp>
        <p:nvSpPr>
          <p:cNvPr id="37" name="Shape 34"/>
          <p:cNvSpPr/>
          <p:nvPr/>
        </p:nvSpPr>
        <p:spPr>
          <a:xfrm>
            <a:off x="640080" y="6400800"/>
            <a:ext cx="10881360" cy="0"/>
          </a:xfrm>
          <a:prstGeom prst="line">
            <a:avLst/>
          </a:prstGeom>
          <a:noFill/>
          <a:ln w="12700">
            <a:solidFill>
              <a:srgbClr val="E2E8F0"/>
            </a:solidFill>
            <a:prstDash val="solid"/>
          </a:ln>
        </p:spPr>
      </p:sp>
      <p:sp>
        <p:nvSpPr>
          <p:cNvPr id="38" name="Text 35"/>
          <p:cNvSpPr/>
          <p:nvPr/>
        </p:nvSpPr>
        <p:spPr>
          <a:xfrm>
            <a:off x="640080" y="6446520"/>
            <a:ext cx="4572000" cy="320040"/>
          </a:xfrm>
          <a:prstGeom prst="rect">
            <a:avLst/>
          </a:prstGeom>
          <a:noFill/>
          <a:ln/>
        </p:spPr>
        <p:txBody>
          <a:bodyPr wrap="square" rtlCol="0" anchor="ctr"/>
          <a:lstStyle/>
          <a:p>
            <a:pPr indent="0" marL="0">
              <a:buNone/>
            </a:pPr>
            <a:r>
              <a:rPr lang="en-US" sz="900" b="1" dirty="0">
                <a:solidFill>
                  <a:srgbClr val="64748B"/>
                </a:solidFill>
              </a:rPr>
              <a:t>Cognitoz BetaLab  |  Jabatan Kehakiman Malaysia (POJ)</a:t>
            </a:r>
            <a:endParaRPr lang="en-US" sz="900" dirty="0"/>
          </a:p>
        </p:txBody>
      </p:sp>
      <p:sp>
        <p:nvSpPr>
          <p:cNvPr id="39" name="Text 36"/>
          <p:cNvSpPr/>
          <p:nvPr/>
        </p:nvSpPr>
        <p:spPr>
          <a:xfrm>
            <a:off x="4389120" y="6446520"/>
            <a:ext cx="5029200" cy="320040"/>
          </a:xfrm>
          <a:prstGeom prst="rect">
            <a:avLst/>
          </a:prstGeom>
          <a:noFill/>
          <a:ln/>
        </p:spPr>
        <p:txBody>
          <a:bodyPr wrap="square" rtlCol="0" anchor="ctr"/>
          <a:lstStyle/>
          <a:p>
            <a:pPr algn="ctr" indent="0" marL="0">
              <a:buNone/>
            </a:pPr>
            <a:r>
              <a:rPr lang="en-US" sz="850" dirty="0">
                <a:solidFill>
                  <a:srgbClr val="64748B"/>
                </a:solidFill>
              </a:rPr>
              <a:t>Copyright © 2026 Cognitoz I.T Training Sdn Bhd — www.cognitoz.com</a:t>
            </a:r>
            <a:endParaRPr lang="en-US" sz="850" dirty="0"/>
          </a:p>
        </p:txBody>
      </p:sp>
      <p:sp>
        <p:nvSpPr>
          <p:cNvPr id="40" name="Text 37"/>
          <p:cNvSpPr/>
          <p:nvPr/>
        </p:nvSpPr>
        <p:spPr>
          <a:xfrm>
            <a:off x="9601200" y="6446520"/>
            <a:ext cx="1920240" cy="320040"/>
          </a:xfrm>
          <a:prstGeom prst="rect">
            <a:avLst/>
          </a:prstGeom>
          <a:noFill/>
          <a:ln/>
        </p:spPr>
        <p:txBody>
          <a:bodyPr wrap="square" rtlCol="0" anchor="ctr"/>
          <a:lstStyle/>
          <a:p>
            <a:pPr algn="r" indent="0" marL="0">
              <a:buNone/>
            </a:pPr>
            <a:r>
              <a:rPr lang="en-US" sz="900" b="1" dirty="0">
                <a:solidFill>
                  <a:srgbClr val="64748B"/>
                </a:solidFill>
              </a:rPr>
              <a:t>6 / 22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3044952" cy="54864"/>
          </a:xfrm>
          <a:prstGeom prst="rect">
            <a:avLst/>
          </a:prstGeom>
          <a:solidFill>
            <a:srgbClr val="7E22CE"/>
          </a:solidFill>
          <a:ln/>
        </p:spPr>
      </p:sp>
      <p:sp>
        <p:nvSpPr>
          <p:cNvPr id="3" name="Shape 1"/>
          <p:cNvSpPr/>
          <p:nvPr/>
        </p:nvSpPr>
        <p:spPr>
          <a:xfrm>
            <a:off x="3044952" y="0"/>
            <a:ext cx="3044952" cy="54864"/>
          </a:xfrm>
          <a:prstGeom prst="rect">
            <a:avLst/>
          </a:prstGeom>
          <a:solidFill>
            <a:srgbClr val="0078D4"/>
          </a:solidFill>
          <a:ln/>
        </p:spPr>
      </p:sp>
      <p:sp>
        <p:nvSpPr>
          <p:cNvPr id="4" name="Shape 2"/>
          <p:cNvSpPr/>
          <p:nvPr/>
        </p:nvSpPr>
        <p:spPr>
          <a:xfrm>
            <a:off x="6089904" y="0"/>
            <a:ext cx="3044952" cy="54864"/>
          </a:xfrm>
          <a:prstGeom prst="rect">
            <a:avLst/>
          </a:prstGeom>
          <a:solidFill>
            <a:srgbClr val="009E96"/>
          </a:solidFill>
          <a:ln/>
        </p:spPr>
      </p:sp>
      <p:sp>
        <p:nvSpPr>
          <p:cNvPr id="5" name="Shape 3"/>
          <p:cNvSpPr/>
          <p:nvPr/>
        </p:nvSpPr>
        <p:spPr>
          <a:xfrm>
            <a:off x="9134856" y="0"/>
            <a:ext cx="3054096" cy="54864"/>
          </a:xfrm>
          <a:prstGeom prst="rect">
            <a:avLst/>
          </a:prstGeom>
          <a:solidFill>
            <a:srgbClr val="D97706"/>
          </a:solidFill>
          <a:ln/>
        </p:spPr>
      </p:sp>
      <p:pic>
        <p:nvPicPr>
          <p:cNvPr id="6" name="Image 0" descr="D:/betalab.cognitoz.com/workshops/poj_centos/public/cognitoz-logo.png">    </p:cNvPr>
          <p:cNvPicPr>
            <a:picLocks noChangeAspect="1"/>
          </p:cNvPicPr>
          <p:nvPr/>
        </p:nvPicPr>
        <p:blipFill>
          <a:blip r:embed="rId1"/>
          <a:stretch>
            <a:fillRect/>
          </a:stretch>
        </p:blipFill>
        <p:spPr>
          <a:xfrm>
            <a:off x="640080" y="201168"/>
            <a:ext cx="1463040" cy="411480"/>
          </a:xfrm>
          <a:prstGeom prst="rect">
            <a:avLst/>
          </a:prstGeom>
        </p:spPr>
      </p:pic>
      <p:sp>
        <p:nvSpPr>
          <p:cNvPr id="7" name="Shape 4"/>
          <p:cNvSpPr/>
          <p:nvPr/>
        </p:nvSpPr>
        <p:spPr>
          <a:xfrm>
            <a:off x="7863840" y="228600"/>
            <a:ext cx="3657600" cy="347472"/>
          </a:xfrm>
          <a:prstGeom prst="roundRect">
            <a:avLst>
              <a:gd name="adj" fmla="val 47368"/>
            </a:avLst>
          </a:prstGeom>
          <a:solidFill>
            <a:srgbClr val="FFFFFF"/>
          </a:solidFill>
          <a:ln w="12700">
            <a:solidFill>
              <a:srgbClr val="E2E8F0"/>
            </a:solidFill>
            <a:prstDash val="solid"/>
          </a:ln>
        </p:spPr>
      </p:sp>
      <p:sp>
        <p:nvSpPr>
          <p:cNvPr id="8" name="Text 5"/>
          <p:cNvSpPr/>
          <p:nvPr/>
        </p:nvSpPr>
        <p:spPr>
          <a:xfrm>
            <a:off x="7863840" y="228600"/>
            <a:ext cx="3657600" cy="347472"/>
          </a:xfrm>
          <a:prstGeom prst="rect">
            <a:avLst/>
          </a:prstGeom>
          <a:noFill/>
          <a:ln/>
        </p:spPr>
        <p:txBody>
          <a:bodyPr wrap="square" rtlCol="0" anchor="ctr"/>
          <a:lstStyle/>
          <a:p>
            <a:pPr algn="ctr" indent="0" marL="0">
              <a:buNone/>
            </a:pPr>
            <a:r>
              <a:rPr lang="en-US" sz="900" b="1" dirty="0">
                <a:solidFill>
                  <a:srgbClr val="7E22CE"/>
                </a:solidFill>
              </a:rPr>
              <a:t>CentOS Stream 10  |  POJ Putrajaya</a:t>
            </a:r>
            <a:endParaRPr lang="en-US" sz="900" dirty="0"/>
          </a:p>
        </p:txBody>
      </p:sp>
      <p:sp>
        <p:nvSpPr>
          <p:cNvPr id="9" name="Text 6"/>
          <p:cNvSpPr/>
          <p:nvPr/>
        </p:nvSpPr>
        <p:spPr>
          <a:xfrm>
            <a:off x="640080" y="777240"/>
            <a:ext cx="10881360" cy="274320"/>
          </a:xfrm>
          <a:prstGeom prst="rect">
            <a:avLst/>
          </a:prstGeom>
          <a:noFill/>
          <a:ln/>
        </p:spPr>
        <p:txBody>
          <a:bodyPr wrap="square" rtlCol="0" anchor="ctr"/>
          <a:lstStyle/>
          <a:p>
            <a:pPr indent="0" marL="0">
              <a:buNone/>
            </a:pPr>
            <a:r>
              <a:rPr lang="en-US" sz="1000" b="1" spc="150" kern="0" dirty="0">
                <a:solidFill>
                  <a:srgbClr val="0078D4"/>
                </a:solidFill>
              </a:rPr>
              <a:t>TELEMETRI &amp; AUDIT SISTEM</a:t>
            </a:r>
            <a:endParaRPr lang="en-US" sz="1000" dirty="0"/>
          </a:p>
        </p:txBody>
      </p:sp>
      <p:sp>
        <p:nvSpPr>
          <p:cNvPr id="10" name="Text 7"/>
          <p:cNvSpPr/>
          <p:nvPr/>
        </p:nvSpPr>
        <p:spPr>
          <a:xfrm>
            <a:off x="640080" y="1024128"/>
            <a:ext cx="10881360" cy="502920"/>
          </a:xfrm>
          <a:prstGeom prst="rect">
            <a:avLst/>
          </a:prstGeom>
          <a:noFill/>
          <a:ln/>
        </p:spPr>
        <p:txBody>
          <a:bodyPr wrap="square" rtlCol="0" anchor="ctr"/>
          <a:lstStyle/>
          <a:p>
            <a:pPr indent="0" marL="0">
              <a:buNone/>
            </a:pPr>
            <a:r>
              <a:rPr lang="en-US" sz="2100" b="1" dirty="0">
                <a:solidFill>
                  <a:srgbClr val="0F172A"/>
                </a:solidFill>
              </a:rPr>
              <a:t>Analisis Log dengan journalctl</a:t>
            </a:r>
            <a:endParaRPr lang="en-US" sz="2100" dirty="0"/>
          </a:p>
        </p:txBody>
      </p:sp>
      <p:sp>
        <p:nvSpPr>
          <p:cNvPr id="11" name="Text 8"/>
          <p:cNvSpPr/>
          <p:nvPr/>
        </p:nvSpPr>
        <p:spPr>
          <a:xfrm>
            <a:off x="640080" y="1536192"/>
            <a:ext cx="10881360" cy="320040"/>
          </a:xfrm>
          <a:prstGeom prst="rect">
            <a:avLst/>
          </a:prstGeom>
          <a:noFill/>
          <a:ln/>
        </p:spPr>
        <p:txBody>
          <a:bodyPr wrap="square" rtlCol="0" anchor="ctr"/>
          <a:lstStyle/>
          <a:p>
            <a:pPr indent="0" marL="0">
              <a:buNone/>
            </a:pPr>
            <a:r>
              <a:rPr lang="en-US" sz="1200" dirty="0">
                <a:solidFill>
                  <a:srgbClr val="64748B"/>
                </a:solidFill>
              </a:rPr>
              <a:t>Sistem Pengelogan Berstruktur Berasaskan Binari Pantas dan Berindeks</a:t>
            </a:r>
            <a:endParaRPr lang="en-US" sz="1200" dirty="0"/>
          </a:p>
        </p:txBody>
      </p:sp>
      <p:sp>
        <p:nvSpPr>
          <p:cNvPr id="12" name="Shape 9"/>
          <p:cNvSpPr/>
          <p:nvPr/>
        </p:nvSpPr>
        <p:spPr>
          <a:xfrm>
            <a:off x="640080" y="1920240"/>
            <a:ext cx="5212080" cy="4206240"/>
          </a:xfrm>
          <a:prstGeom prst="roundRect">
            <a:avLst>
              <a:gd name="adj" fmla="val 3261"/>
            </a:avLst>
          </a:prstGeom>
          <a:solidFill>
            <a:srgbClr val="FFFFFF"/>
          </a:solidFill>
          <a:ln w="12700">
            <a:solidFill>
              <a:srgbClr val="E2E8F0"/>
            </a:solidFill>
            <a:prstDash val="solid"/>
          </a:ln>
        </p:spPr>
      </p:sp>
      <p:sp>
        <p:nvSpPr>
          <p:cNvPr id="13" name="Shape 10"/>
          <p:cNvSpPr/>
          <p:nvPr/>
        </p:nvSpPr>
        <p:spPr>
          <a:xfrm>
            <a:off x="640080" y="1920240"/>
            <a:ext cx="5212080" cy="73152"/>
          </a:xfrm>
          <a:prstGeom prst="roundRect">
            <a:avLst>
              <a:gd name="adj" fmla="val 50000"/>
            </a:avLst>
          </a:prstGeom>
          <a:solidFill>
            <a:srgbClr val="0078D4"/>
          </a:solidFill>
          <a:ln w="12700">
            <a:solidFill>
              <a:srgbClr val="0078D4"/>
            </a:solidFill>
            <a:prstDash val="solid"/>
          </a:ln>
        </p:spPr>
      </p:sp>
      <p:sp>
        <p:nvSpPr>
          <p:cNvPr id="14" name="Text 11"/>
          <p:cNvSpPr/>
          <p:nvPr/>
        </p:nvSpPr>
        <p:spPr>
          <a:xfrm>
            <a:off x="868680" y="2103120"/>
            <a:ext cx="4754880" cy="320040"/>
          </a:xfrm>
          <a:prstGeom prst="rect">
            <a:avLst/>
          </a:prstGeom>
          <a:noFill/>
          <a:ln/>
        </p:spPr>
        <p:txBody>
          <a:bodyPr wrap="square" rtlCol="0" anchor="ctr"/>
          <a:lstStyle/>
          <a:p>
            <a:pPr indent="0" marL="0">
              <a:buNone/>
            </a:pPr>
            <a:r>
              <a:rPr lang="en-US" sz="1200" b="1" dirty="0">
                <a:solidFill>
                  <a:srgbClr val="0078D4"/>
                </a:solidFill>
              </a:rPr>
              <a:t>Kelebihan Jurnal Binari systemd</a:t>
            </a:r>
            <a:endParaRPr lang="en-US" sz="1200" dirty="0"/>
          </a:p>
        </p:txBody>
      </p:sp>
      <p:sp>
        <p:nvSpPr>
          <p:cNvPr id="15" name="Text 12"/>
          <p:cNvSpPr/>
          <p:nvPr/>
        </p:nvSpPr>
        <p:spPr>
          <a:xfrm>
            <a:off x="868680" y="2450592"/>
            <a:ext cx="4754880" cy="3127248"/>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Log disimpan dalam format binari terindeks untuk carian pantas.</a:t>
            </a:r>
            <a:endParaRPr lang="en-US" sz="950" dirty="0"/>
          </a:p>
          <a:p>
            <a:pPr marL="342900" indent="-342900">
              <a:lnSpc>
                <a:spcPts val="1400"/>
              </a:lnSpc>
              <a:buSzPct val="100000"/>
              <a:buChar char="•"/>
            </a:pPr>
            <a:r>
              <a:rPr lang="en-US" sz="950" dirty="0">
                <a:solidFill>
                  <a:srgbClr val="334155"/>
                </a:solidFill>
              </a:rPr>
              <a:t>Melampirkan metadata lengkap bagi setiap entri: UID, PID, Unit Name, Boot ID, dan timestamp mikro.</a:t>
            </a:r>
            <a:endParaRPr lang="en-US" sz="950" dirty="0"/>
          </a:p>
          <a:p>
            <a:pPr marL="342900" indent="-342900">
              <a:lnSpc>
                <a:spcPts val="1400"/>
              </a:lnSpc>
              <a:buSzPct val="100000"/>
              <a:buChar char="•"/>
            </a:pPr>
            <a:r>
              <a:rPr lang="en-US" sz="950" dirty="0">
                <a:solidFill>
                  <a:srgbClr val="334155"/>
                </a:solidFill>
              </a:rPr>
              <a:t>Mencegah manipulasi teks log biasa secara senyap oleh pihak tidak dibenarkan.</a:t>
            </a:r>
            <a:endParaRPr lang="en-US" sz="950" dirty="0"/>
          </a:p>
          <a:p>
            <a:pPr marL="342900" indent="-342900">
              <a:lnSpc>
                <a:spcPts val="1400"/>
              </a:lnSpc>
              <a:buSzPct val="100000"/>
              <a:buChar char="•"/>
            </a:pPr>
            <a:r>
              <a:rPr lang="en-US" sz="950" dirty="0">
                <a:solidFill>
                  <a:srgbClr val="334155"/>
                </a:solidFill>
              </a:rPr>
              <a:t>Menyokong penapisan pantas mengikut tahap keutamaan (priority): emerg, alert, crit, err, warning, notice, info, debug.</a:t>
            </a:r>
            <a:endParaRPr lang="en-US" sz="950" dirty="0"/>
          </a:p>
        </p:txBody>
      </p:sp>
      <p:sp>
        <p:nvSpPr>
          <p:cNvPr id="16" name="Shape 13"/>
          <p:cNvSpPr/>
          <p:nvPr/>
        </p:nvSpPr>
        <p:spPr>
          <a:xfrm>
            <a:off x="822960" y="5623560"/>
            <a:ext cx="4846320" cy="384048"/>
          </a:xfrm>
          <a:prstGeom prst="roundRect">
            <a:avLst>
              <a:gd name="adj" fmla="val 19048"/>
            </a:avLst>
          </a:prstGeom>
          <a:solidFill>
            <a:srgbClr val="F1F5F9"/>
          </a:solidFill>
          <a:ln w="10160">
            <a:solidFill>
              <a:srgbClr val="E2E8F0"/>
            </a:solidFill>
            <a:prstDash val="solid"/>
          </a:ln>
        </p:spPr>
      </p:sp>
      <p:sp>
        <p:nvSpPr>
          <p:cNvPr id="17" name="Text 14"/>
          <p:cNvSpPr/>
          <p:nvPr/>
        </p:nvSpPr>
        <p:spPr>
          <a:xfrm>
            <a:off x="868680" y="5623560"/>
            <a:ext cx="4754880" cy="384048"/>
          </a:xfrm>
          <a:prstGeom prst="rect">
            <a:avLst/>
          </a:prstGeom>
          <a:noFill/>
          <a:ln/>
        </p:spPr>
        <p:txBody>
          <a:bodyPr wrap="square" rtlCol="0" anchor="ctr"/>
          <a:lstStyle/>
          <a:p>
            <a:pPr indent="0" marL="0">
              <a:buNone/>
            </a:pPr>
            <a:r>
              <a:rPr lang="en-US" sz="850" b="1" dirty="0">
                <a:solidFill>
                  <a:srgbClr val="0078D4"/>
                </a:solidFill>
              </a:rPr>
              <a:t>Lokasi fail log kekal: /var/log/journal/</a:t>
            </a:r>
            <a:endParaRPr lang="en-US" sz="850" dirty="0"/>
          </a:p>
        </p:txBody>
      </p:sp>
      <p:sp>
        <p:nvSpPr>
          <p:cNvPr id="18" name="Shape 15"/>
          <p:cNvSpPr/>
          <p:nvPr/>
        </p:nvSpPr>
        <p:spPr>
          <a:xfrm>
            <a:off x="6217920" y="1920240"/>
            <a:ext cx="5303520" cy="4206240"/>
          </a:xfrm>
          <a:prstGeom prst="roundRect">
            <a:avLst>
              <a:gd name="adj" fmla="val 3261"/>
            </a:avLst>
          </a:prstGeom>
          <a:solidFill>
            <a:srgbClr val="FFFFFF"/>
          </a:solidFill>
          <a:ln w="12700">
            <a:solidFill>
              <a:srgbClr val="E2E8F0"/>
            </a:solidFill>
            <a:prstDash val="solid"/>
          </a:ln>
        </p:spPr>
      </p:sp>
      <p:sp>
        <p:nvSpPr>
          <p:cNvPr id="19" name="Shape 16"/>
          <p:cNvSpPr/>
          <p:nvPr/>
        </p:nvSpPr>
        <p:spPr>
          <a:xfrm>
            <a:off x="6217920" y="1920240"/>
            <a:ext cx="5303520" cy="73152"/>
          </a:xfrm>
          <a:prstGeom prst="roundRect">
            <a:avLst>
              <a:gd name="adj" fmla="val 50000"/>
            </a:avLst>
          </a:prstGeom>
          <a:solidFill>
            <a:srgbClr val="7E22CE"/>
          </a:solidFill>
          <a:ln w="12700">
            <a:solidFill>
              <a:srgbClr val="7E22CE"/>
            </a:solidFill>
            <a:prstDash val="solid"/>
          </a:ln>
        </p:spPr>
      </p:sp>
      <p:sp>
        <p:nvSpPr>
          <p:cNvPr id="20" name="Text 17"/>
          <p:cNvSpPr/>
          <p:nvPr/>
        </p:nvSpPr>
        <p:spPr>
          <a:xfrm>
            <a:off x="6446520" y="2103120"/>
            <a:ext cx="4846320" cy="320040"/>
          </a:xfrm>
          <a:prstGeom prst="rect">
            <a:avLst/>
          </a:prstGeom>
          <a:noFill/>
          <a:ln/>
        </p:spPr>
        <p:txBody>
          <a:bodyPr wrap="square" rtlCol="0" anchor="ctr"/>
          <a:lstStyle/>
          <a:p>
            <a:pPr indent="0" marL="0">
              <a:buNone/>
            </a:pPr>
            <a:r>
              <a:rPr lang="en-US" sz="1200" b="1" dirty="0">
                <a:solidFill>
                  <a:srgbClr val="7E22CE"/>
                </a:solidFill>
              </a:rPr>
              <a:t>Perintah Penting Pentadbir Sistem</a:t>
            </a:r>
            <a:endParaRPr lang="en-US" sz="1200" dirty="0"/>
          </a:p>
        </p:txBody>
      </p:sp>
      <p:sp>
        <p:nvSpPr>
          <p:cNvPr id="21" name="Text 18"/>
          <p:cNvSpPr/>
          <p:nvPr/>
        </p:nvSpPr>
        <p:spPr>
          <a:xfrm>
            <a:off x="6446520" y="2450592"/>
            <a:ext cx="4846320" cy="3127248"/>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journalctl -u nginx.service : Papar log bagi satu unit sahaja.</a:t>
            </a:r>
            <a:endParaRPr lang="en-US" sz="950" dirty="0"/>
          </a:p>
          <a:p>
            <a:pPr marL="342900" indent="-342900">
              <a:lnSpc>
                <a:spcPts val="1400"/>
              </a:lnSpc>
              <a:buSzPct val="100000"/>
              <a:buChar char="•"/>
            </a:pPr>
            <a:r>
              <a:rPr lang="en-US" sz="950" dirty="0">
                <a:solidFill>
                  <a:srgbClr val="334155"/>
                </a:solidFill>
              </a:rPr>
              <a:t>journalctl -u nginx -f : Ikuti log baharu secara masa nyata (follow mode).</a:t>
            </a:r>
            <a:endParaRPr lang="en-US" sz="950" dirty="0"/>
          </a:p>
          <a:p>
            <a:pPr marL="342900" indent="-342900">
              <a:lnSpc>
                <a:spcPts val="1400"/>
              </a:lnSpc>
              <a:buSzPct val="100000"/>
              <a:buChar char="•"/>
            </a:pPr>
            <a:r>
              <a:rPr lang="en-US" sz="950" dirty="0">
                <a:solidFill>
                  <a:srgbClr val="334155"/>
                </a:solidFill>
              </a:rPr>
              <a:t>journalctl -p err..emerg : Tapis mesej ralat kritikal sahaja.</a:t>
            </a:r>
            <a:endParaRPr lang="en-US" sz="950" dirty="0"/>
          </a:p>
          <a:p>
            <a:pPr marL="342900" indent="-342900">
              <a:lnSpc>
                <a:spcPts val="1400"/>
              </a:lnSpc>
              <a:buSzPct val="100000"/>
              <a:buChar char="•"/>
            </a:pPr>
            <a:r>
              <a:rPr lang="en-US" sz="950" dirty="0">
                <a:solidFill>
                  <a:srgbClr val="334155"/>
                </a:solidFill>
              </a:rPr>
              <a:t>journalctl --since "1 hour ago" : Tapis log dalam tempoh masa tertentu.</a:t>
            </a:r>
            <a:endParaRPr lang="en-US" sz="950" dirty="0"/>
          </a:p>
          <a:p>
            <a:pPr marL="342900" indent="-342900">
              <a:lnSpc>
                <a:spcPts val="1400"/>
              </a:lnSpc>
              <a:buSzPct val="100000"/>
              <a:buChar char="•"/>
            </a:pPr>
            <a:r>
              <a:rPr lang="en-US" sz="950" dirty="0">
                <a:solidFill>
                  <a:srgbClr val="334155"/>
                </a:solidFill>
              </a:rPr>
              <a:t>journalctl -b : Papar log bermula daripada sesi boot terkini.</a:t>
            </a:r>
            <a:endParaRPr lang="en-US" sz="950" dirty="0"/>
          </a:p>
          <a:p>
            <a:pPr marL="342900" indent="-342900">
              <a:lnSpc>
                <a:spcPts val="1400"/>
              </a:lnSpc>
              <a:buSzPct val="100000"/>
              <a:buChar char="•"/>
            </a:pPr>
            <a:r>
              <a:rPr lang="en-US" sz="950" dirty="0">
                <a:solidFill>
                  <a:srgbClr val="334155"/>
                </a:solidFill>
              </a:rPr>
              <a:t>journalctl --disk-usage : Semak saiz ruang cakera yang digunakan oleh log.</a:t>
            </a:r>
            <a:endParaRPr lang="en-US" sz="950" dirty="0"/>
          </a:p>
        </p:txBody>
      </p:sp>
      <p:sp>
        <p:nvSpPr>
          <p:cNvPr id="22" name="Shape 19"/>
          <p:cNvSpPr/>
          <p:nvPr/>
        </p:nvSpPr>
        <p:spPr>
          <a:xfrm>
            <a:off x="6400800" y="5623560"/>
            <a:ext cx="4937760" cy="384048"/>
          </a:xfrm>
          <a:prstGeom prst="roundRect">
            <a:avLst>
              <a:gd name="adj" fmla="val 19048"/>
            </a:avLst>
          </a:prstGeom>
          <a:solidFill>
            <a:srgbClr val="F1F5F9"/>
          </a:solidFill>
          <a:ln w="10160">
            <a:solidFill>
              <a:srgbClr val="E2E8F0"/>
            </a:solidFill>
            <a:prstDash val="solid"/>
          </a:ln>
        </p:spPr>
      </p:sp>
      <p:sp>
        <p:nvSpPr>
          <p:cNvPr id="23" name="Text 20"/>
          <p:cNvSpPr/>
          <p:nvPr/>
        </p:nvSpPr>
        <p:spPr>
          <a:xfrm>
            <a:off x="6446520" y="5623560"/>
            <a:ext cx="4846320" cy="384048"/>
          </a:xfrm>
          <a:prstGeom prst="rect">
            <a:avLst/>
          </a:prstGeom>
          <a:noFill/>
          <a:ln/>
        </p:spPr>
        <p:txBody>
          <a:bodyPr wrap="square" rtlCol="0" anchor="ctr"/>
          <a:lstStyle/>
          <a:p>
            <a:pPr indent="0" marL="0">
              <a:buNone/>
            </a:pPr>
            <a:r>
              <a:rPr lang="en-US" sz="850" b="1" dirty="0">
                <a:solidFill>
                  <a:srgbClr val="7E22CE"/>
                </a:solidFill>
              </a:rPr>
              <a:t>Gunakan bersama flag -e untuk terus lompat ke baris terakhir</a:t>
            </a:r>
            <a:endParaRPr lang="en-US" sz="850" dirty="0"/>
          </a:p>
        </p:txBody>
      </p:sp>
      <p:sp>
        <p:nvSpPr>
          <p:cNvPr id="24" name="Shape 21"/>
          <p:cNvSpPr/>
          <p:nvPr/>
        </p:nvSpPr>
        <p:spPr>
          <a:xfrm>
            <a:off x="640080" y="6400800"/>
            <a:ext cx="10881360" cy="0"/>
          </a:xfrm>
          <a:prstGeom prst="line">
            <a:avLst/>
          </a:prstGeom>
          <a:noFill/>
          <a:ln w="12700">
            <a:solidFill>
              <a:srgbClr val="E2E8F0"/>
            </a:solidFill>
            <a:prstDash val="solid"/>
          </a:ln>
        </p:spPr>
      </p:sp>
      <p:sp>
        <p:nvSpPr>
          <p:cNvPr id="25" name="Text 22"/>
          <p:cNvSpPr/>
          <p:nvPr/>
        </p:nvSpPr>
        <p:spPr>
          <a:xfrm>
            <a:off x="640080" y="6446520"/>
            <a:ext cx="4572000" cy="320040"/>
          </a:xfrm>
          <a:prstGeom prst="rect">
            <a:avLst/>
          </a:prstGeom>
          <a:noFill/>
          <a:ln/>
        </p:spPr>
        <p:txBody>
          <a:bodyPr wrap="square" rtlCol="0" anchor="ctr"/>
          <a:lstStyle/>
          <a:p>
            <a:pPr indent="0" marL="0">
              <a:buNone/>
            </a:pPr>
            <a:r>
              <a:rPr lang="en-US" sz="900" b="1" dirty="0">
                <a:solidFill>
                  <a:srgbClr val="64748B"/>
                </a:solidFill>
              </a:rPr>
              <a:t>Cognitoz BetaLab  |  Jabatan Kehakiman Malaysia (POJ)</a:t>
            </a:r>
            <a:endParaRPr lang="en-US" sz="900" dirty="0"/>
          </a:p>
        </p:txBody>
      </p:sp>
      <p:sp>
        <p:nvSpPr>
          <p:cNvPr id="26" name="Text 23"/>
          <p:cNvSpPr/>
          <p:nvPr/>
        </p:nvSpPr>
        <p:spPr>
          <a:xfrm>
            <a:off x="4389120" y="6446520"/>
            <a:ext cx="5029200" cy="320040"/>
          </a:xfrm>
          <a:prstGeom prst="rect">
            <a:avLst/>
          </a:prstGeom>
          <a:noFill/>
          <a:ln/>
        </p:spPr>
        <p:txBody>
          <a:bodyPr wrap="square" rtlCol="0" anchor="ctr"/>
          <a:lstStyle/>
          <a:p>
            <a:pPr algn="ctr" indent="0" marL="0">
              <a:buNone/>
            </a:pPr>
            <a:r>
              <a:rPr lang="en-US" sz="850" dirty="0">
                <a:solidFill>
                  <a:srgbClr val="64748B"/>
                </a:solidFill>
              </a:rPr>
              <a:t>Copyright © 2026 Cognitoz I.T Training Sdn Bhd — www.cognitoz.com</a:t>
            </a:r>
            <a:endParaRPr lang="en-US" sz="850" dirty="0"/>
          </a:p>
        </p:txBody>
      </p:sp>
      <p:sp>
        <p:nvSpPr>
          <p:cNvPr id="27" name="Text 24"/>
          <p:cNvSpPr/>
          <p:nvPr/>
        </p:nvSpPr>
        <p:spPr>
          <a:xfrm>
            <a:off x="9601200" y="6446520"/>
            <a:ext cx="1920240" cy="320040"/>
          </a:xfrm>
          <a:prstGeom prst="rect">
            <a:avLst/>
          </a:prstGeom>
          <a:noFill/>
          <a:ln/>
        </p:spPr>
        <p:txBody>
          <a:bodyPr wrap="square" rtlCol="0" anchor="ctr"/>
          <a:lstStyle/>
          <a:p>
            <a:pPr algn="r" indent="0" marL="0">
              <a:buNone/>
            </a:pPr>
            <a:r>
              <a:rPr lang="en-US" sz="900" b="1" dirty="0">
                <a:solidFill>
                  <a:srgbClr val="64748B"/>
                </a:solidFill>
              </a:rPr>
              <a:t>7 / 22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3044952" cy="54864"/>
          </a:xfrm>
          <a:prstGeom prst="rect">
            <a:avLst/>
          </a:prstGeom>
          <a:solidFill>
            <a:srgbClr val="7E22CE"/>
          </a:solidFill>
          <a:ln/>
        </p:spPr>
      </p:sp>
      <p:sp>
        <p:nvSpPr>
          <p:cNvPr id="3" name="Shape 1"/>
          <p:cNvSpPr/>
          <p:nvPr/>
        </p:nvSpPr>
        <p:spPr>
          <a:xfrm>
            <a:off x="3044952" y="0"/>
            <a:ext cx="3044952" cy="54864"/>
          </a:xfrm>
          <a:prstGeom prst="rect">
            <a:avLst/>
          </a:prstGeom>
          <a:solidFill>
            <a:srgbClr val="0078D4"/>
          </a:solidFill>
          <a:ln/>
        </p:spPr>
      </p:sp>
      <p:sp>
        <p:nvSpPr>
          <p:cNvPr id="4" name="Shape 2"/>
          <p:cNvSpPr/>
          <p:nvPr/>
        </p:nvSpPr>
        <p:spPr>
          <a:xfrm>
            <a:off x="6089904" y="0"/>
            <a:ext cx="3044952" cy="54864"/>
          </a:xfrm>
          <a:prstGeom prst="rect">
            <a:avLst/>
          </a:prstGeom>
          <a:solidFill>
            <a:srgbClr val="009E96"/>
          </a:solidFill>
          <a:ln/>
        </p:spPr>
      </p:sp>
      <p:sp>
        <p:nvSpPr>
          <p:cNvPr id="5" name="Shape 3"/>
          <p:cNvSpPr/>
          <p:nvPr/>
        </p:nvSpPr>
        <p:spPr>
          <a:xfrm>
            <a:off x="9134856" y="0"/>
            <a:ext cx="3054096" cy="54864"/>
          </a:xfrm>
          <a:prstGeom prst="rect">
            <a:avLst/>
          </a:prstGeom>
          <a:solidFill>
            <a:srgbClr val="D97706"/>
          </a:solidFill>
          <a:ln/>
        </p:spPr>
      </p:sp>
      <p:pic>
        <p:nvPicPr>
          <p:cNvPr id="6" name="Image 0" descr="D:/betalab.cognitoz.com/workshops/poj_centos/public/cognitoz-logo.png">    </p:cNvPr>
          <p:cNvPicPr>
            <a:picLocks noChangeAspect="1"/>
          </p:cNvPicPr>
          <p:nvPr/>
        </p:nvPicPr>
        <p:blipFill>
          <a:blip r:embed="rId1"/>
          <a:stretch>
            <a:fillRect/>
          </a:stretch>
        </p:blipFill>
        <p:spPr>
          <a:xfrm>
            <a:off x="640080" y="201168"/>
            <a:ext cx="1463040" cy="411480"/>
          </a:xfrm>
          <a:prstGeom prst="rect">
            <a:avLst/>
          </a:prstGeom>
        </p:spPr>
      </p:pic>
      <p:sp>
        <p:nvSpPr>
          <p:cNvPr id="7" name="Shape 4"/>
          <p:cNvSpPr/>
          <p:nvPr/>
        </p:nvSpPr>
        <p:spPr>
          <a:xfrm>
            <a:off x="7863840" y="228600"/>
            <a:ext cx="3657600" cy="347472"/>
          </a:xfrm>
          <a:prstGeom prst="roundRect">
            <a:avLst>
              <a:gd name="adj" fmla="val 47368"/>
            </a:avLst>
          </a:prstGeom>
          <a:solidFill>
            <a:srgbClr val="FFFFFF"/>
          </a:solidFill>
          <a:ln w="12700">
            <a:solidFill>
              <a:srgbClr val="E2E8F0"/>
            </a:solidFill>
            <a:prstDash val="solid"/>
          </a:ln>
        </p:spPr>
      </p:sp>
      <p:sp>
        <p:nvSpPr>
          <p:cNvPr id="8" name="Text 5"/>
          <p:cNvSpPr/>
          <p:nvPr/>
        </p:nvSpPr>
        <p:spPr>
          <a:xfrm>
            <a:off x="7863840" y="228600"/>
            <a:ext cx="3657600" cy="347472"/>
          </a:xfrm>
          <a:prstGeom prst="rect">
            <a:avLst/>
          </a:prstGeom>
          <a:noFill/>
          <a:ln/>
        </p:spPr>
        <p:txBody>
          <a:bodyPr wrap="square" rtlCol="0" anchor="ctr"/>
          <a:lstStyle/>
          <a:p>
            <a:pPr algn="ctr" indent="0" marL="0">
              <a:buNone/>
            </a:pPr>
            <a:r>
              <a:rPr lang="en-US" sz="900" b="1" dirty="0">
                <a:solidFill>
                  <a:srgbClr val="7E22CE"/>
                </a:solidFill>
              </a:rPr>
              <a:t>CentOS Stream 10  |  POJ Putrajaya</a:t>
            </a:r>
            <a:endParaRPr lang="en-US" sz="900" dirty="0"/>
          </a:p>
        </p:txBody>
      </p:sp>
      <p:sp>
        <p:nvSpPr>
          <p:cNvPr id="9" name="Text 6"/>
          <p:cNvSpPr/>
          <p:nvPr/>
        </p:nvSpPr>
        <p:spPr>
          <a:xfrm>
            <a:off x="640080" y="777240"/>
            <a:ext cx="10881360" cy="274320"/>
          </a:xfrm>
          <a:prstGeom prst="rect">
            <a:avLst/>
          </a:prstGeom>
          <a:noFill/>
          <a:ln/>
        </p:spPr>
        <p:txBody>
          <a:bodyPr wrap="square" rtlCol="0" anchor="ctr"/>
          <a:lstStyle/>
          <a:p>
            <a:pPr indent="0" marL="0">
              <a:buNone/>
            </a:pPr>
            <a:r>
              <a:rPr lang="en-US" sz="1000" b="1" spc="150" kern="0" dirty="0">
                <a:solidFill>
                  <a:srgbClr val="0078D4"/>
                </a:solidFill>
              </a:rPr>
              <a:t>DEMO MAKMAL 1 (BETALAB)</a:t>
            </a:r>
            <a:endParaRPr lang="en-US" sz="1000" dirty="0"/>
          </a:p>
        </p:txBody>
      </p:sp>
      <p:sp>
        <p:nvSpPr>
          <p:cNvPr id="10" name="Text 7"/>
          <p:cNvSpPr/>
          <p:nvPr/>
        </p:nvSpPr>
        <p:spPr>
          <a:xfrm>
            <a:off x="640080" y="1024128"/>
            <a:ext cx="10881360" cy="502920"/>
          </a:xfrm>
          <a:prstGeom prst="rect">
            <a:avLst/>
          </a:prstGeom>
          <a:noFill/>
          <a:ln/>
        </p:spPr>
        <p:txBody>
          <a:bodyPr wrap="square" rtlCol="0" anchor="ctr"/>
          <a:lstStyle/>
          <a:p>
            <a:pPr indent="0" marL="0">
              <a:buNone/>
            </a:pPr>
            <a:r>
              <a:rPr lang="en-US" sz="2100" b="1" dirty="0">
                <a:solidFill>
                  <a:srgbClr val="0F172A"/>
                </a:solidFill>
              </a:rPr>
              <a:t>Siasatan &amp; Pemulihan Servis Gagal (poj-case-monitor)</a:t>
            </a:r>
            <a:endParaRPr lang="en-US" sz="2100" dirty="0"/>
          </a:p>
        </p:txBody>
      </p:sp>
      <p:sp>
        <p:nvSpPr>
          <p:cNvPr id="11" name="Text 8"/>
          <p:cNvSpPr/>
          <p:nvPr/>
        </p:nvSpPr>
        <p:spPr>
          <a:xfrm>
            <a:off x="640080" y="1536192"/>
            <a:ext cx="10881360" cy="320040"/>
          </a:xfrm>
          <a:prstGeom prst="rect">
            <a:avLst/>
          </a:prstGeom>
          <a:noFill/>
          <a:ln/>
        </p:spPr>
        <p:txBody>
          <a:bodyPr wrap="square" rtlCol="0" anchor="ctr"/>
          <a:lstStyle/>
          <a:p>
            <a:pPr indent="0" marL="0">
              <a:buNone/>
            </a:pPr>
            <a:r>
              <a:rPr lang="en-US" sz="1200" dirty="0">
                <a:solidFill>
                  <a:srgbClr val="64748B"/>
                </a:solidFill>
              </a:rPr>
              <a:t>Peralihan Terus ke Terminal Interaktif: Amali Berasaskan Senario Nyata</a:t>
            </a:r>
            <a:endParaRPr lang="en-US" sz="1200" dirty="0"/>
          </a:p>
        </p:txBody>
      </p:sp>
      <p:sp>
        <p:nvSpPr>
          <p:cNvPr id="12" name="Shape 9"/>
          <p:cNvSpPr/>
          <p:nvPr/>
        </p:nvSpPr>
        <p:spPr>
          <a:xfrm>
            <a:off x="640080" y="1920240"/>
            <a:ext cx="5303520" cy="4023360"/>
          </a:xfrm>
          <a:prstGeom prst="roundRect">
            <a:avLst>
              <a:gd name="adj" fmla="val 3409"/>
            </a:avLst>
          </a:prstGeom>
          <a:solidFill>
            <a:srgbClr val="FFFFFF"/>
          </a:solidFill>
          <a:ln w="19050">
            <a:solidFill>
              <a:srgbClr val="BAE6FD"/>
            </a:solidFill>
            <a:prstDash val="solid"/>
          </a:ln>
        </p:spPr>
      </p:sp>
      <p:sp>
        <p:nvSpPr>
          <p:cNvPr id="13" name="Shape 10"/>
          <p:cNvSpPr/>
          <p:nvPr/>
        </p:nvSpPr>
        <p:spPr>
          <a:xfrm>
            <a:off x="640080" y="1920240"/>
            <a:ext cx="5303520" cy="411480"/>
          </a:xfrm>
          <a:prstGeom prst="roundRect">
            <a:avLst>
              <a:gd name="adj" fmla="val 33333"/>
            </a:avLst>
          </a:prstGeom>
          <a:solidFill>
            <a:srgbClr val="E0F2FE"/>
          </a:solidFill>
          <a:ln w="12700">
            <a:solidFill>
              <a:srgbClr val="BAE6FD"/>
            </a:solidFill>
            <a:prstDash val="solid"/>
          </a:ln>
        </p:spPr>
      </p:sp>
      <p:sp>
        <p:nvSpPr>
          <p:cNvPr id="14" name="Text 11"/>
          <p:cNvSpPr/>
          <p:nvPr/>
        </p:nvSpPr>
        <p:spPr>
          <a:xfrm>
            <a:off x="822960" y="1965960"/>
            <a:ext cx="4937760" cy="320040"/>
          </a:xfrm>
          <a:prstGeom prst="rect">
            <a:avLst/>
          </a:prstGeom>
          <a:noFill/>
          <a:ln/>
        </p:spPr>
        <p:txBody>
          <a:bodyPr wrap="square" rtlCol="0" anchor="ctr"/>
          <a:lstStyle/>
          <a:p>
            <a:pPr indent="0" marL="0">
              <a:buNone/>
            </a:pPr>
            <a:r>
              <a:rPr lang="en-US" sz="1000" b="1" dirty="0">
                <a:solidFill>
                  <a:srgbClr val="0369A1"/>
                </a:solidFill>
              </a:rPr>
              <a:t>ARAHAN TERMINAL BETALAB (LANGKAH 1)</a:t>
            </a:r>
            <a:endParaRPr lang="en-US" sz="1000" dirty="0"/>
          </a:p>
        </p:txBody>
      </p:sp>
      <p:sp>
        <p:nvSpPr>
          <p:cNvPr id="15" name="Text 12"/>
          <p:cNvSpPr/>
          <p:nvPr/>
        </p:nvSpPr>
        <p:spPr>
          <a:xfrm>
            <a:off x="822960" y="2423160"/>
            <a:ext cx="4937760" cy="3291840"/>
          </a:xfrm>
          <a:prstGeom prst="rect">
            <a:avLst/>
          </a:prstGeom>
          <a:noFill/>
          <a:ln/>
        </p:spPr>
        <p:txBody>
          <a:bodyPr wrap="square" rtlCol="0" anchor="t"/>
          <a:lstStyle/>
          <a:p>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1.  systemctl status poj-case-monitor.service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2.  journalctl -u poj-case-monitor -n 20 --no-pager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3.  cat /etc/poj/case-monitor.conf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4.  sudo sed -i 's/PORT=99999/PORT=8088/' /etc/poj/case-monitor.conf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5.  sudo systemctl restart poj-case-monitor.service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6.  systemctl is-active poj-case-monitor.service
</a:t>
            </a:r>
            <a:endParaRPr lang="en-US" sz="950" dirty="0"/>
          </a:p>
        </p:txBody>
      </p:sp>
      <p:sp>
        <p:nvSpPr>
          <p:cNvPr id="16" name="Shape 13"/>
          <p:cNvSpPr/>
          <p:nvPr/>
        </p:nvSpPr>
        <p:spPr>
          <a:xfrm>
            <a:off x="6217920" y="1920240"/>
            <a:ext cx="5303520" cy="4023360"/>
          </a:xfrm>
          <a:prstGeom prst="roundRect">
            <a:avLst>
              <a:gd name="adj" fmla="val 3409"/>
            </a:avLst>
          </a:prstGeom>
          <a:solidFill>
            <a:srgbClr val="FFFFFF"/>
          </a:solidFill>
          <a:ln w="19050">
            <a:solidFill>
              <a:srgbClr val="BBF7D0"/>
            </a:solidFill>
            <a:prstDash val="solid"/>
          </a:ln>
        </p:spPr>
      </p:sp>
      <p:sp>
        <p:nvSpPr>
          <p:cNvPr id="17" name="Shape 14"/>
          <p:cNvSpPr/>
          <p:nvPr/>
        </p:nvSpPr>
        <p:spPr>
          <a:xfrm>
            <a:off x="6217920" y="1920240"/>
            <a:ext cx="5303520" cy="411480"/>
          </a:xfrm>
          <a:prstGeom prst="roundRect">
            <a:avLst>
              <a:gd name="adj" fmla="val 33333"/>
            </a:avLst>
          </a:prstGeom>
          <a:solidFill>
            <a:srgbClr val="DCFCE7"/>
          </a:solidFill>
          <a:ln w="12700">
            <a:solidFill>
              <a:srgbClr val="BBF7D0"/>
            </a:solidFill>
            <a:prstDash val="solid"/>
          </a:ln>
        </p:spPr>
      </p:sp>
      <p:sp>
        <p:nvSpPr>
          <p:cNvPr id="18" name="Text 15"/>
          <p:cNvSpPr/>
          <p:nvPr/>
        </p:nvSpPr>
        <p:spPr>
          <a:xfrm>
            <a:off x="6400800" y="1965960"/>
            <a:ext cx="4937760" cy="320040"/>
          </a:xfrm>
          <a:prstGeom prst="rect">
            <a:avLst/>
          </a:prstGeom>
          <a:noFill/>
          <a:ln/>
        </p:spPr>
        <p:txBody>
          <a:bodyPr wrap="square" rtlCol="0" anchor="ctr"/>
          <a:lstStyle/>
          <a:p>
            <a:pPr indent="0" marL="0">
              <a:buNone/>
            </a:pPr>
            <a:r>
              <a:rPr lang="en-US" sz="1000" b="1" dirty="0">
                <a:solidFill>
                  <a:srgbClr val="15803D"/>
                </a:solidFill>
              </a:rPr>
              <a:t>TITIK PEMERHATIAN &amp; VERIFIKASI BUKTI</a:t>
            </a:r>
            <a:endParaRPr lang="en-US" sz="1000" dirty="0"/>
          </a:p>
        </p:txBody>
      </p:sp>
      <p:sp>
        <p:nvSpPr>
          <p:cNvPr id="19" name="Text 16"/>
          <p:cNvSpPr/>
          <p:nvPr/>
        </p:nvSpPr>
        <p:spPr>
          <a:xfrm>
            <a:off x="6400800" y="2423160"/>
            <a:ext cx="4937760" cy="2468880"/>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Status unit menunjukkan "failed (Result: exit-code)".</a:t>
            </a:r>
            <a:endParaRPr lang="en-US" sz="950" dirty="0"/>
          </a:p>
          <a:p>
            <a:pPr marL="342900" indent="-342900">
              <a:lnSpc>
                <a:spcPts val="1400"/>
              </a:lnSpc>
              <a:buSzPct val="100000"/>
              <a:buChar char="•"/>
            </a:pPr>
            <a:r>
              <a:rPr lang="en-US" sz="950" dirty="0">
                <a:solidFill>
                  <a:srgbClr val="334155"/>
                </a:solidFill>
              </a:rPr>
              <a:t>Log journalctl membuktikan ralat: "FATAL: Port 99999 out of range (1-65535)".</a:t>
            </a:r>
            <a:endParaRPr lang="en-US" sz="950" dirty="0"/>
          </a:p>
          <a:p>
            <a:pPr marL="342900" indent="-342900">
              <a:lnSpc>
                <a:spcPts val="1400"/>
              </a:lnSpc>
              <a:buSzPct val="100000"/>
              <a:buChar char="•"/>
            </a:pPr>
            <a:r>
              <a:rPr lang="en-US" sz="950" dirty="0">
                <a:solidFill>
                  <a:srgbClr val="334155"/>
                </a:solidFill>
              </a:rPr>
              <a:t>Konfigurasi diubah daripada port tidak sah 99999 kepada port selamat 8088.</a:t>
            </a:r>
            <a:endParaRPr lang="en-US" sz="950" dirty="0"/>
          </a:p>
          <a:p>
            <a:pPr marL="342900" indent="-342900">
              <a:lnSpc>
                <a:spcPts val="1400"/>
              </a:lnSpc>
              <a:buSzPct val="100000"/>
              <a:buChar char="•"/>
            </a:pPr>
            <a:r>
              <a:rPr lang="en-US" sz="950" dirty="0">
                <a:solidFill>
                  <a:srgbClr val="334155"/>
                </a:solidFill>
              </a:rPr>
              <a:t>Servis berjaya direstart dan kembali ke status "active (running)".</a:t>
            </a:r>
            <a:endParaRPr lang="en-US" sz="950" dirty="0"/>
          </a:p>
        </p:txBody>
      </p:sp>
      <p:sp>
        <p:nvSpPr>
          <p:cNvPr id="20" name="Shape 17"/>
          <p:cNvSpPr/>
          <p:nvPr/>
        </p:nvSpPr>
        <p:spPr>
          <a:xfrm>
            <a:off x="6400800" y="5029200"/>
            <a:ext cx="4937760" cy="685800"/>
          </a:xfrm>
          <a:prstGeom prst="roundRect">
            <a:avLst>
              <a:gd name="adj" fmla="val 13333"/>
            </a:avLst>
          </a:prstGeom>
          <a:solidFill>
            <a:srgbClr val="F0FDF4"/>
          </a:solidFill>
          <a:ln w="12700">
            <a:solidFill>
              <a:srgbClr val="86EFAC"/>
            </a:solidFill>
            <a:prstDash val="solid"/>
          </a:ln>
        </p:spPr>
      </p:sp>
      <p:sp>
        <p:nvSpPr>
          <p:cNvPr id="21" name="Text 18"/>
          <p:cNvSpPr/>
          <p:nvPr/>
        </p:nvSpPr>
        <p:spPr>
          <a:xfrm>
            <a:off x="6537960" y="5029200"/>
            <a:ext cx="4663440" cy="685800"/>
          </a:xfrm>
          <a:prstGeom prst="rect">
            <a:avLst/>
          </a:prstGeom>
          <a:noFill/>
          <a:ln/>
        </p:spPr>
        <p:txBody>
          <a:bodyPr wrap="square" rtlCol="0" anchor="ctr"/>
          <a:lstStyle/>
          <a:p>
            <a:pPr indent="0" marL="0">
              <a:buNone/>
            </a:pPr>
            <a:r>
              <a:rPr lang="en-US" sz="900" b="1" dirty="0">
                <a:solidFill>
                  <a:srgbClr val="166534"/>
                </a:solidFill>
              </a:rPr>
              <a:t>HASIL &amp; BUKTI: Servis poj-case-monitor pulih sepenuhnya dengan bukti status Active &amp; Listening pada port 8088.</a:t>
            </a:r>
            <a:endParaRPr lang="en-US" sz="900" dirty="0"/>
          </a:p>
        </p:txBody>
      </p:sp>
      <p:sp>
        <p:nvSpPr>
          <p:cNvPr id="22" name="Shape 19"/>
          <p:cNvSpPr/>
          <p:nvPr/>
        </p:nvSpPr>
        <p:spPr>
          <a:xfrm>
            <a:off x="640080" y="6400800"/>
            <a:ext cx="10881360" cy="0"/>
          </a:xfrm>
          <a:prstGeom prst="line">
            <a:avLst/>
          </a:prstGeom>
          <a:noFill/>
          <a:ln w="12700">
            <a:solidFill>
              <a:srgbClr val="E2E8F0"/>
            </a:solidFill>
            <a:prstDash val="solid"/>
          </a:ln>
        </p:spPr>
      </p:sp>
      <p:sp>
        <p:nvSpPr>
          <p:cNvPr id="23" name="Text 20"/>
          <p:cNvSpPr/>
          <p:nvPr/>
        </p:nvSpPr>
        <p:spPr>
          <a:xfrm>
            <a:off x="640080" y="6446520"/>
            <a:ext cx="4572000" cy="320040"/>
          </a:xfrm>
          <a:prstGeom prst="rect">
            <a:avLst/>
          </a:prstGeom>
          <a:noFill/>
          <a:ln/>
        </p:spPr>
        <p:txBody>
          <a:bodyPr wrap="square" rtlCol="0" anchor="ctr"/>
          <a:lstStyle/>
          <a:p>
            <a:pPr indent="0" marL="0">
              <a:buNone/>
            </a:pPr>
            <a:r>
              <a:rPr lang="en-US" sz="900" b="1" dirty="0">
                <a:solidFill>
                  <a:srgbClr val="64748B"/>
                </a:solidFill>
              </a:rPr>
              <a:t>Cognitoz BetaLab  |  Jabatan Kehakiman Malaysia (POJ)</a:t>
            </a:r>
            <a:endParaRPr lang="en-US" sz="900" dirty="0"/>
          </a:p>
        </p:txBody>
      </p:sp>
      <p:sp>
        <p:nvSpPr>
          <p:cNvPr id="24" name="Text 21"/>
          <p:cNvSpPr/>
          <p:nvPr/>
        </p:nvSpPr>
        <p:spPr>
          <a:xfrm>
            <a:off x="4389120" y="6446520"/>
            <a:ext cx="5029200" cy="320040"/>
          </a:xfrm>
          <a:prstGeom prst="rect">
            <a:avLst/>
          </a:prstGeom>
          <a:noFill/>
          <a:ln/>
        </p:spPr>
        <p:txBody>
          <a:bodyPr wrap="square" rtlCol="0" anchor="ctr"/>
          <a:lstStyle/>
          <a:p>
            <a:pPr algn="ctr" indent="0" marL="0">
              <a:buNone/>
            </a:pPr>
            <a:r>
              <a:rPr lang="en-US" sz="850" dirty="0">
                <a:solidFill>
                  <a:srgbClr val="64748B"/>
                </a:solidFill>
              </a:rPr>
              <a:t>Copyright © 2026 Cognitoz I.T Training Sdn Bhd — www.cognitoz.com</a:t>
            </a:r>
            <a:endParaRPr lang="en-US" sz="850" dirty="0"/>
          </a:p>
        </p:txBody>
      </p:sp>
      <p:sp>
        <p:nvSpPr>
          <p:cNvPr id="25" name="Text 22"/>
          <p:cNvSpPr/>
          <p:nvPr/>
        </p:nvSpPr>
        <p:spPr>
          <a:xfrm>
            <a:off x="9601200" y="6446520"/>
            <a:ext cx="1920240" cy="320040"/>
          </a:xfrm>
          <a:prstGeom prst="rect">
            <a:avLst/>
          </a:prstGeom>
          <a:noFill/>
          <a:ln/>
        </p:spPr>
        <p:txBody>
          <a:bodyPr wrap="square" rtlCol="0" anchor="ctr"/>
          <a:lstStyle/>
          <a:p>
            <a:pPr algn="r" indent="0" marL="0">
              <a:buNone/>
            </a:pPr>
            <a:r>
              <a:rPr lang="en-US" sz="900" b="1" dirty="0">
                <a:solidFill>
                  <a:srgbClr val="64748B"/>
                </a:solidFill>
              </a:rPr>
              <a:t>8 / 22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3044952" cy="54864"/>
          </a:xfrm>
          <a:prstGeom prst="rect">
            <a:avLst/>
          </a:prstGeom>
          <a:solidFill>
            <a:srgbClr val="7E22CE"/>
          </a:solidFill>
          <a:ln/>
        </p:spPr>
      </p:sp>
      <p:sp>
        <p:nvSpPr>
          <p:cNvPr id="3" name="Shape 1"/>
          <p:cNvSpPr/>
          <p:nvPr/>
        </p:nvSpPr>
        <p:spPr>
          <a:xfrm>
            <a:off x="3044952" y="0"/>
            <a:ext cx="3044952" cy="54864"/>
          </a:xfrm>
          <a:prstGeom prst="rect">
            <a:avLst/>
          </a:prstGeom>
          <a:solidFill>
            <a:srgbClr val="0078D4"/>
          </a:solidFill>
          <a:ln/>
        </p:spPr>
      </p:sp>
      <p:sp>
        <p:nvSpPr>
          <p:cNvPr id="4" name="Shape 2"/>
          <p:cNvSpPr/>
          <p:nvPr/>
        </p:nvSpPr>
        <p:spPr>
          <a:xfrm>
            <a:off x="6089904" y="0"/>
            <a:ext cx="3044952" cy="54864"/>
          </a:xfrm>
          <a:prstGeom prst="rect">
            <a:avLst/>
          </a:prstGeom>
          <a:solidFill>
            <a:srgbClr val="009E96"/>
          </a:solidFill>
          <a:ln/>
        </p:spPr>
      </p:sp>
      <p:sp>
        <p:nvSpPr>
          <p:cNvPr id="5" name="Shape 3"/>
          <p:cNvSpPr/>
          <p:nvPr/>
        </p:nvSpPr>
        <p:spPr>
          <a:xfrm>
            <a:off x="9134856" y="0"/>
            <a:ext cx="3054096" cy="54864"/>
          </a:xfrm>
          <a:prstGeom prst="rect">
            <a:avLst/>
          </a:prstGeom>
          <a:solidFill>
            <a:srgbClr val="D97706"/>
          </a:solidFill>
          <a:ln/>
        </p:spPr>
      </p:sp>
      <p:pic>
        <p:nvPicPr>
          <p:cNvPr id="6" name="Image 0" descr="D:/betalab.cognitoz.com/workshops/poj_centos/public/cognitoz-logo.png">    </p:cNvPr>
          <p:cNvPicPr>
            <a:picLocks noChangeAspect="1"/>
          </p:cNvPicPr>
          <p:nvPr/>
        </p:nvPicPr>
        <p:blipFill>
          <a:blip r:embed="rId1"/>
          <a:stretch>
            <a:fillRect/>
          </a:stretch>
        </p:blipFill>
        <p:spPr>
          <a:xfrm>
            <a:off x="640080" y="201168"/>
            <a:ext cx="1463040" cy="411480"/>
          </a:xfrm>
          <a:prstGeom prst="rect">
            <a:avLst/>
          </a:prstGeom>
        </p:spPr>
      </p:pic>
      <p:sp>
        <p:nvSpPr>
          <p:cNvPr id="7" name="Shape 4"/>
          <p:cNvSpPr/>
          <p:nvPr/>
        </p:nvSpPr>
        <p:spPr>
          <a:xfrm>
            <a:off x="7863840" y="228600"/>
            <a:ext cx="3657600" cy="347472"/>
          </a:xfrm>
          <a:prstGeom prst="roundRect">
            <a:avLst>
              <a:gd name="adj" fmla="val 47368"/>
            </a:avLst>
          </a:prstGeom>
          <a:solidFill>
            <a:srgbClr val="FFFFFF"/>
          </a:solidFill>
          <a:ln w="12700">
            <a:solidFill>
              <a:srgbClr val="E2E8F0"/>
            </a:solidFill>
            <a:prstDash val="solid"/>
          </a:ln>
        </p:spPr>
      </p:sp>
      <p:sp>
        <p:nvSpPr>
          <p:cNvPr id="8" name="Text 5"/>
          <p:cNvSpPr/>
          <p:nvPr/>
        </p:nvSpPr>
        <p:spPr>
          <a:xfrm>
            <a:off x="7863840" y="228600"/>
            <a:ext cx="3657600" cy="347472"/>
          </a:xfrm>
          <a:prstGeom prst="rect">
            <a:avLst/>
          </a:prstGeom>
          <a:noFill/>
          <a:ln/>
        </p:spPr>
        <p:txBody>
          <a:bodyPr wrap="square" rtlCol="0" anchor="ctr"/>
          <a:lstStyle/>
          <a:p>
            <a:pPr algn="ctr" indent="0" marL="0">
              <a:buNone/>
            </a:pPr>
            <a:r>
              <a:rPr lang="en-US" sz="900" b="1" dirty="0">
                <a:solidFill>
                  <a:srgbClr val="7E22CE"/>
                </a:solidFill>
              </a:rPr>
              <a:t>CentOS Stream 10  |  POJ Putrajaya</a:t>
            </a:r>
            <a:endParaRPr lang="en-US" sz="900" dirty="0"/>
          </a:p>
        </p:txBody>
      </p:sp>
      <p:sp>
        <p:nvSpPr>
          <p:cNvPr id="9" name="Text 6"/>
          <p:cNvSpPr/>
          <p:nvPr/>
        </p:nvSpPr>
        <p:spPr>
          <a:xfrm>
            <a:off x="640080" y="777240"/>
            <a:ext cx="10881360" cy="274320"/>
          </a:xfrm>
          <a:prstGeom prst="rect">
            <a:avLst/>
          </a:prstGeom>
          <a:noFill/>
          <a:ln/>
        </p:spPr>
        <p:txBody>
          <a:bodyPr wrap="square" rtlCol="0" anchor="ctr"/>
          <a:lstStyle/>
          <a:p>
            <a:pPr indent="0" marL="0">
              <a:buNone/>
            </a:pPr>
            <a:r>
              <a:rPr lang="en-US" sz="1000" b="1" spc="150" kern="0" dirty="0">
                <a:solidFill>
                  <a:srgbClr val="0078D4"/>
                </a:solidFill>
              </a:rPr>
              <a:t>MODUL 2: KAWALAN KESELAMATAN</a:t>
            </a:r>
            <a:endParaRPr lang="en-US" sz="1000" dirty="0"/>
          </a:p>
        </p:txBody>
      </p:sp>
      <p:sp>
        <p:nvSpPr>
          <p:cNvPr id="10" name="Text 7"/>
          <p:cNvSpPr/>
          <p:nvPr/>
        </p:nvSpPr>
        <p:spPr>
          <a:xfrm>
            <a:off x="640080" y="1024128"/>
            <a:ext cx="10881360" cy="502920"/>
          </a:xfrm>
          <a:prstGeom prst="rect">
            <a:avLst/>
          </a:prstGeom>
          <a:noFill/>
          <a:ln/>
        </p:spPr>
        <p:txBody>
          <a:bodyPr wrap="square" rtlCol="0" anchor="ctr"/>
          <a:lstStyle/>
          <a:p>
            <a:pPr indent="0" marL="0">
              <a:buNone/>
            </a:pPr>
            <a:r>
              <a:rPr lang="en-US" sz="2100" b="1" dirty="0">
                <a:solidFill>
                  <a:srgbClr val="0F172A"/>
                </a:solidFill>
              </a:rPr>
              <a:t>Pengurusan Pengguna, Sudo &amp; Prinsip Least Privilege</a:t>
            </a:r>
            <a:endParaRPr lang="en-US" sz="2100" dirty="0"/>
          </a:p>
        </p:txBody>
      </p:sp>
      <p:sp>
        <p:nvSpPr>
          <p:cNvPr id="11" name="Text 8"/>
          <p:cNvSpPr/>
          <p:nvPr/>
        </p:nvSpPr>
        <p:spPr>
          <a:xfrm>
            <a:off x="640080" y="1536192"/>
            <a:ext cx="10881360" cy="320040"/>
          </a:xfrm>
          <a:prstGeom prst="rect">
            <a:avLst/>
          </a:prstGeom>
          <a:noFill/>
          <a:ln/>
        </p:spPr>
        <p:txBody>
          <a:bodyPr wrap="square" rtlCol="0" anchor="ctr"/>
          <a:lstStyle/>
          <a:p>
            <a:pPr indent="0" marL="0">
              <a:buNone/>
            </a:pPr>
            <a:r>
              <a:rPr lang="en-US" sz="1200" dirty="0">
                <a:solidFill>
                  <a:srgbClr val="64748B"/>
                </a:solidFill>
              </a:rPr>
              <a:t>Mencegah Kompromi Menyeluruh dengan Sekatan Hak Akses Berpusat</a:t>
            </a:r>
            <a:endParaRPr lang="en-US" sz="1200" dirty="0"/>
          </a:p>
        </p:txBody>
      </p:sp>
      <p:sp>
        <p:nvSpPr>
          <p:cNvPr id="12" name="Shape 9"/>
          <p:cNvSpPr/>
          <p:nvPr/>
        </p:nvSpPr>
        <p:spPr>
          <a:xfrm>
            <a:off x="640080" y="1920240"/>
            <a:ext cx="5212080" cy="4206240"/>
          </a:xfrm>
          <a:prstGeom prst="roundRect">
            <a:avLst>
              <a:gd name="adj" fmla="val 3261"/>
            </a:avLst>
          </a:prstGeom>
          <a:solidFill>
            <a:srgbClr val="FFFFFF"/>
          </a:solidFill>
          <a:ln w="12700">
            <a:solidFill>
              <a:srgbClr val="E2E8F0"/>
            </a:solidFill>
            <a:prstDash val="solid"/>
          </a:ln>
        </p:spPr>
      </p:sp>
      <p:sp>
        <p:nvSpPr>
          <p:cNvPr id="13" name="Shape 10"/>
          <p:cNvSpPr/>
          <p:nvPr/>
        </p:nvSpPr>
        <p:spPr>
          <a:xfrm>
            <a:off x="640080" y="1920240"/>
            <a:ext cx="5212080" cy="73152"/>
          </a:xfrm>
          <a:prstGeom prst="roundRect">
            <a:avLst>
              <a:gd name="adj" fmla="val 50000"/>
            </a:avLst>
          </a:prstGeom>
          <a:solidFill>
            <a:srgbClr val="0078D4"/>
          </a:solidFill>
          <a:ln w="12700">
            <a:solidFill>
              <a:srgbClr val="0078D4"/>
            </a:solidFill>
            <a:prstDash val="solid"/>
          </a:ln>
        </p:spPr>
      </p:sp>
      <p:sp>
        <p:nvSpPr>
          <p:cNvPr id="14" name="Text 11"/>
          <p:cNvSpPr/>
          <p:nvPr/>
        </p:nvSpPr>
        <p:spPr>
          <a:xfrm>
            <a:off x="868680" y="2103120"/>
            <a:ext cx="4754880" cy="320040"/>
          </a:xfrm>
          <a:prstGeom prst="rect">
            <a:avLst/>
          </a:prstGeom>
          <a:noFill/>
          <a:ln/>
        </p:spPr>
        <p:txBody>
          <a:bodyPr wrap="square" rtlCol="0" anchor="ctr"/>
          <a:lstStyle/>
          <a:p>
            <a:pPr indent="0" marL="0">
              <a:buNone/>
            </a:pPr>
            <a:r>
              <a:rPr lang="en-US" sz="1200" b="1" dirty="0">
                <a:solidFill>
                  <a:srgbClr val="0078D4"/>
                </a:solidFill>
              </a:rPr>
              <a:t>Prinsip Least Privilege dalam Linux</a:t>
            </a:r>
            <a:endParaRPr lang="en-US" sz="1200" dirty="0"/>
          </a:p>
        </p:txBody>
      </p:sp>
      <p:sp>
        <p:nvSpPr>
          <p:cNvPr id="15" name="Text 12"/>
          <p:cNvSpPr/>
          <p:nvPr/>
        </p:nvSpPr>
        <p:spPr>
          <a:xfrm>
            <a:off x="868680" y="2450592"/>
            <a:ext cx="4754880" cy="3127248"/>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Tiada pengguna patut dibenarkan log masuk terus sebagai akaun root.</a:t>
            </a:r>
            <a:endParaRPr lang="en-US" sz="950" dirty="0"/>
          </a:p>
          <a:p>
            <a:pPr marL="342900" indent="-342900">
              <a:lnSpc>
                <a:spcPts val="1400"/>
              </a:lnSpc>
              <a:buSzPct val="100000"/>
              <a:buChar char="•"/>
            </a:pPr>
            <a:r>
              <a:rPr lang="en-US" sz="950" dirty="0">
                <a:solidFill>
                  <a:srgbClr val="334155"/>
                </a:solidFill>
              </a:rPr>
              <a:t>Setiap pegawai kehakiman / operator sistem mempunyai akaun peribadi untuk jejak audit (non-repudiation).</a:t>
            </a:r>
            <a:endParaRPr lang="en-US" sz="950" dirty="0"/>
          </a:p>
          <a:p>
            <a:pPr marL="342900" indent="-342900">
              <a:lnSpc>
                <a:spcPts val="1400"/>
              </a:lnSpc>
              <a:buSzPct val="100000"/>
              <a:buChar char="•"/>
            </a:pPr>
            <a:r>
              <a:rPr lang="en-US" sz="950" dirty="0">
                <a:solidFill>
                  <a:srgbClr val="334155"/>
                </a:solidFill>
              </a:rPr>
              <a:t>Penggunaan sudo merekodkan setiap arahan berkeistimewaan ke dalam log audit /var/log/secure.</a:t>
            </a:r>
            <a:endParaRPr lang="en-US" sz="950" dirty="0"/>
          </a:p>
          <a:p>
            <a:pPr marL="342900" indent="-342900">
              <a:lnSpc>
                <a:spcPts val="1400"/>
              </a:lnSpc>
              <a:buSzPct val="100000"/>
              <a:buChar char="•"/>
            </a:pPr>
            <a:r>
              <a:rPr lang="en-US" sz="950" dirty="0">
                <a:solidFill>
                  <a:srgbClr val="334155"/>
                </a:solidFill>
              </a:rPr>
              <a:t>Sekatan skop arahan: Benarkan hanya arahan yang diperlukan untuk tugas hakiki.</a:t>
            </a:r>
            <a:endParaRPr lang="en-US" sz="950" dirty="0"/>
          </a:p>
        </p:txBody>
      </p:sp>
      <p:sp>
        <p:nvSpPr>
          <p:cNvPr id="16" name="Shape 13"/>
          <p:cNvSpPr/>
          <p:nvPr/>
        </p:nvSpPr>
        <p:spPr>
          <a:xfrm>
            <a:off x="822960" y="5623560"/>
            <a:ext cx="4846320" cy="384048"/>
          </a:xfrm>
          <a:prstGeom prst="roundRect">
            <a:avLst>
              <a:gd name="adj" fmla="val 19048"/>
            </a:avLst>
          </a:prstGeom>
          <a:solidFill>
            <a:srgbClr val="F1F5F9"/>
          </a:solidFill>
          <a:ln w="10160">
            <a:solidFill>
              <a:srgbClr val="E2E8F0"/>
            </a:solidFill>
            <a:prstDash val="solid"/>
          </a:ln>
        </p:spPr>
      </p:sp>
      <p:sp>
        <p:nvSpPr>
          <p:cNvPr id="17" name="Text 14"/>
          <p:cNvSpPr/>
          <p:nvPr/>
        </p:nvSpPr>
        <p:spPr>
          <a:xfrm>
            <a:off x="868680" y="5623560"/>
            <a:ext cx="4754880" cy="384048"/>
          </a:xfrm>
          <a:prstGeom prst="rect">
            <a:avLst/>
          </a:prstGeom>
          <a:noFill/>
          <a:ln/>
        </p:spPr>
        <p:txBody>
          <a:bodyPr wrap="square" rtlCol="0" anchor="ctr"/>
          <a:lstStyle/>
          <a:p>
            <a:pPr indent="0" marL="0">
              <a:buNone/>
            </a:pPr>
            <a:r>
              <a:rPr lang="en-US" sz="850" b="1" dirty="0">
                <a:solidFill>
                  <a:srgbClr val="0078D4"/>
                </a:solidFill>
              </a:rPr>
              <a:t>Amalan wajib bagi pematuhan pekeliling keselamatan ICT kerajaan</a:t>
            </a:r>
            <a:endParaRPr lang="en-US" sz="850" dirty="0"/>
          </a:p>
        </p:txBody>
      </p:sp>
      <p:sp>
        <p:nvSpPr>
          <p:cNvPr id="18" name="Shape 15"/>
          <p:cNvSpPr/>
          <p:nvPr/>
        </p:nvSpPr>
        <p:spPr>
          <a:xfrm>
            <a:off x="6217920" y="1920240"/>
            <a:ext cx="5303520" cy="4206240"/>
          </a:xfrm>
          <a:prstGeom prst="roundRect">
            <a:avLst>
              <a:gd name="adj" fmla="val 3261"/>
            </a:avLst>
          </a:prstGeom>
          <a:solidFill>
            <a:srgbClr val="FFFFFF"/>
          </a:solidFill>
          <a:ln w="12700">
            <a:solidFill>
              <a:srgbClr val="E2E8F0"/>
            </a:solidFill>
            <a:prstDash val="solid"/>
          </a:ln>
        </p:spPr>
      </p:sp>
      <p:sp>
        <p:nvSpPr>
          <p:cNvPr id="19" name="Shape 16"/>
          <p:cNvSpPr/>
          <p:nvPr/>
        </p:nvSpPr>
        <p:spPr>
          <a:xfrm>
            <a:off x="6217920" y="1920240"/>
            <a:ext cx="5303520" cy="73152"/>
          </a:xfrm>
          <a:prstGeom prst="roundRect">
            <a:avLst>
              <a:gd name="adj" fmla="val 50000"/>
            </a:avLst>
          </a:prstGeom>
          <a:solidFill>
            <a:srgbClr val="009E96"/>
          </a:solidFill>
          <a:ln w="12700">
            <a:solidFill>
              <a:srgbClr val="009E96"/>
            </a:solidFill>
            <a:prstDash val="solid"/>
          </a:ln>
        </p:spPr>
      </p:sp>
      <p:sp>
        <p:nvSpPr>
          <p:cNvPr id="20" name="Text 17"/>
          <p:cNvSpPr/>
          <p:nvPr/>
        </p:nvSpPr>
        <p:spPr>
          <a:xfrm>
            <a:off x="6446520" y="2103120"/>
            <a:ext cx="4846320" cy="320040"/>
          </a:xfrm>
          <a:prstGeom prst="rect">
            <a:avLst/>
          </a:prstGeom>
          <a:noFill/>
          <a:ln/>
        </p:spPr>
        <p:txBody>
          <a:bodyPr wrap="square" rtlCol="0" anchor="ctr"/>
          <a:lstStyle/>
          <a:p>
            <a:pPr indent="0" marL="0">
              <a:buNone/>
            </a:pPr>
            <a:r>
              <a:rPr lang="en-US" sz="1200" b="1" dirty="0">
                <a:solidFill>
                  <a:srgbClr val="009E96"/>
                </a:solidFill>
              </a:rPr>
              <a:t>Kumpulan Khas "wheel" dalam CentOS/RHEL</a:t>
            </a:r>
            <a:endParaRPr lang="en-US" sz="1200" dirty="0"/>
          </a:p>
        </p:txBody>
      </p:sp>
      <p:sp>
        <p:nvSpPr>
          <p:cNvPr id="21" name="Text 18"/>
          <p:cNvSpPr/>
          <p:nvPr/>
        </p:nvSpPr>
        <p:spPr>
          <a:xfrm>
            <a:off x="6446520" y="2450592"/>
            <a:ext cx="4846320" cy="3127248"/>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CentOS dan Red Hat menggunakan kumpulan wheel untuk kawalan pentadbir (bukan kumpulan sudo seperti Ubuntu/Debian).</a:t>
            </a:r>
            <a:endParaRPr lang="en-US" sz="950" dirty="0"/>
          </a:p>
          <a:p>
            <a:pPr marL="342900" indent="-342900">
              <a:lnSpc>
                <a:spcPts val="1400"/>
              </a:lnSpc>
              <a:buSzPct val="100000"/>
              <a:buChar char="•"/>
            </a:pPr>
            <a:r>
              <a:rPr lang="en-US" sz="950" dirty="0">
                <a:solidFill>
                  <a:srgbClr val="334155"/>
                </a:solidFill>
              </a:rPr>
              <a:t>Modul PAM (pam_wheel.so) menguatkuasakan kawalan sama ada pengguna boleh menukar identiti kepada root (su -).</a:t>
            </a:r>
            <a:endParaRPr lang="en-US" sz="950" dirty="0"/>
          </a:p>
          <a:p>
            <a:pPr marL="342900" indent="-342900">
              <a:lnSpc>
                <a:spcPts val="1400"/>
              </a:lnSpc>
              <a:buSzPct val="100000"/>
              <a:buChar char="•"/>
            </a:pPr>
            <a:r>
              <a:rPr lang="en-US" sz="950" dirty="0">
                <a:solidFill>
                  <a:srgbClr val="334155"/>
                </a:solidFill>
              </a:rPr>
              <a:t>Akaun pelatih "droot" didaftarkan dalam kumpulan wheel dengan akses sudo terkawal.</a:t>
            </a:r>
            <a:endParaRPr lang="en-US" sz="950" dirty="0"/>
          </a:p>
          <a:p>
            <a:pPr marL="342900" indent="-342900">
              <a:lnSpc>
                <a:spcPts val="1400"/>
              </a:lnSpc>
              <a:buSzPct val="100000"/>
              <a:buChar char="•"/>
            </a:pPr>
            <a:r>
              <a:rPr lang="en-US" sz="950" dirty="0">
                <a:solidFill>
                  <a:srgbClr val="334155"/>
                </a:solidFill>
              </a:rPr>
              <a:t>Sudo modular: Gunakan direktori /etc/sudoers.d/ dan elakkan menyunting /etc/sudoers secara terus.</a:t>
            </a:r>
            <a:endParaRPr lang="en-US" sz="950" dirty="0"/>
          </a:p>
        </p:txBody>
      </p:sp>
      <p:sp>
        <p:nvSpPr>
          <p:cNvPr id="22" name="Shape 19"/>
          <p:cNvSpPr/>
          <p:nvPr/>
        </p:nvSpPr>
        <p:spPr>
          <a:xfrm>
            <a:off x="6400800" y="5623560"/>
            <a:ext cx="4937760" cy="384048"/>
          </a:xfrm>
          <a:prstGeom prst="roundRect">
            <a:avLst>
              <a:gd name="adj" fmla="val 19048"/>
            </a:avLst>
          </a:prstGeom>
          <a:solidFill>
            <a:srgbClr val="F1F5F9"/>
          </a:solidFill>
          <a:ln w="10160">
            <a:solidFill>
              <a:srgbClr val="E2E8F0"/>
            </a:solidFill>
            <a:prstDash val="solid"/>
          </a:ln>
        </p:spPr>
      </p:sp>
      <p:sp>
        <p:nvSpPr>
          <p:cNvPr id="23" name="Text 20"/>
          <p:cNvSpPr/>
          <p:nvPr/>
        </p:nvSpPr>
        <p:spPr>
          <a:xfrm>
            <a:off x="6446520" y="5623560"/>
            <a:ext cx="4846320" cy="384048"/>
          </a:xfrm>
          <a:prstGeom prst="rect">
            <a:avLst/>
          </a:prstGeom>
          <a:noFill/>
          <a:ln/>
        </p:spPr>
        <p:txBody>
          <a:bodyPr wrap="square" rtlCol="0" anchor="ctr"/>
          <a:lstStyle/>
          <a:p>
            <a:pPr indent="0" marL="0">
              <a:buNone/>
            </a:pPr>
            <a:r>
              <a:rPr lang="en-US" sz="850" b="1" dirty="0">
                <a:solidFill>
                  <a:srgbClr val="009E96"/>
                </a:solidFill>
              </a:rPr>
              <a:t>Sentiasa gunakan visudo -cf untuk menyemak sintaks sebelum simpan</a:t>
            </a:r>
            <a:endParaRPr lang="en-US" sz="850" dirty="0"/>
          </a:p>
        </p:txBody>
      </p:sp>
      <p:sp>
        <p:nvSpPr>
          <p:cNvPr id="24" name="Shape 21"/>
          <p:cNvSpPr/>
          <p:nvPr/>
        </p:nvSpPr>
        <p:spPr>
          <a:xfrm>
            <a:off x="640080" y="6400800"/>
            <a:ext cx="10881360" cy="0"/>
          </a:xfrm>
          <a:prstGeom prst="line">
            <a:avLst/>
          </a:prstGeom>
          <a:noFill/>
          <a:ln w="12700">
            <a:solidFill>
              <a:srgbClr val="E2E8F0"/>
            </a:solidFill>
            <a:prstDash val="solid"/>
          </a:ln>
        </p:spPr>
      </p:sp>
      <p:sp>
        <p:nvSpPr>
          <p:cNvPr id="25" name="Text 22"/>
          <p:cNvSpPr/>
          <p:nvPr/>
        </p:nvSpPr>
        <p:spPr>
          <a:xfrm>
            <a:off x="640080" y="6446520"/>
            <a:ext cx="4572000" cy="320040"/>
          </a:xfrm>
          <a:prstGeom prst="rect">
            <a:avLst/>
          </a:prstGeom>
          <a:noFill/>
          <a:ln/>
        </p:spPr>
        <p:txBody>
          <a:bodyPr wrap="square" rtlCol="0" anchor="ctr"/>
          <a:lstStyle/>
          <a:p>
            <a:pPr indent="0" marL="0">
              <a:buNone/>
            </a:pPr>
            <a:r>
              <a:rPr lang="en-US" sz="900" b="1" dirty="0">
                <a:solidFill>
                  <a:srgbClr val="64748B"/>
                </a:solidFill>
              </a:rPr>
              <a:t>Cognitoz BetaLab  |  Jabatan Kehakiman Malaysia (POJ)</a:t>
            </a:r>
            <a:endParaRPr lang="en-US" sz="900" dirty="0"/>
          </a:p>
        </p:txBody>
      </p:sp>
      <p:sp>
        <p:nvSpPr>
          <p:cNvPr id="26" name="Text 23"/>
          <p:cNvSpPr/>
          <p:nvPr/>
        </p:nvSpPr>
        <p:spPr>
          <a:xfrm>
            <a:off x="4389120" y="6446520"/>
            <a:ext cx="5029200" cy="320040"/>
          </a:xfrm>
          <a:prstGeom prst="rect">
            <a:avLst/>
          </a:prstGeom>
          <a:noFill/>
          <a:ln/>
        </p:spPr>
        <p:txBody>
          <a:bodyPr wrap="square" rtlCol="0" anchor="ctr"/>
          <a:lstStyle/>
          <a:p>
            <a:pPr algn="ctr" indent="0" marL="0">
              <a:buNone/>
            </a:pPr>
            <a:r>
              <a:rPr lang="en-US" sz="850" dirty="0">
                <a:solidFill>
                  <a:srgbClr val="64748B"/>
                </a:solidFill>
              </a:rPr>
              <a:t>Copyright © 2026 Cognitoz I.T Training Sdn Bhd — www.cognitoz.com</a:t>
            </a:r>
            <a:endParaRPr lang="en-US" sz="850" dirty="0"/>
          </a:p>
        </p:txBody>
      </p:sp>
      <p:sp>
        <p:nvSpPr>
          <p:cNvPr id="27" name="Text 24"/>
          <p:cNvSpPr/>
          <p:nvPr/>
        </p:nvSpPr>
        <p:spPr>
          <a:xfrm>
            <a:off x="9601200" y="6446520"/>
            <a:ext cx="1920240" cy="320040"/>
          </a:xfrm>
          <a:prstGeom prst="rect">
            <a:avLst/>
          </a:prstGeom>
          <a:noFill/>
          <a:ln/>
        </p:spPr>
        <p:txBody>
          <a:bodyPr wrap="square" rtlCol="0" anchor="ctr"/>
          <a:lstStyle/>
          <a:p>
            <a:pPr algn="r" indent="0" marL="0">
              <a:buNone/>
            </a:pPr>
            <a:r>
              <a:rPr lang="en-US" sz="900" b="1" dirty="0">
                <a:solidFill>
                  <a:srgbClr val="64748B"/>
                </a:solidFill>
              </a:rPr>
              <a:t>9 / 22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3044952" cy="54864"/>
          </a:xfrm>
          <a:prstGeom prst="rect">
            <a:avLst/>
          </a:prstGeom>
          <a:solidFill>
            <a:srgbClr val="7E22CE"/>
          </a:solidFill>
          <a:ln/>
        </p:spPr>
      </p:sp>
      <p:sp>
        <p:nvSpPr>
          <p:cNvPr id="3" name="Shape 1"/>
          <p:cNvSpPr/>
          <p:nvPr/>
        </p:nvSpPr>
        <p:spPr>
          <a:xfrm>
            <a:off x="3044952" y="0"/>
            <a:ext cx="3044952" cy="54864"/>
          </a:xfrm>
          <a:prstGeom prst="rect">
            <a:avLst/>
          </a:prstGeom>
          <a:solidFill>
            <a:srgbClr val="0078D4"/>
          </a:solidFill>
          <a:ln/>
        </p:spPr>
      </p:sp>
      <p:sp>
        <p:nvSpPr>
          <p:cNvPr id="4" name="Shape 2"/>
          <p:cNvSpPr/>
          <p:nvPr/>
        </p:nvSpPr>
        <p:spPr>
          <a:xfrm>
            <a:off x="6089904" y="0"/>
            <a:ext cx="3044952" cy="54864"/>
          </a:xfrm>
          <a:prstGeom prst="rect">
            <a:avLst/>
          </a:prstGeom>
          <a:solidFill>
            <a:srgbClr val="009E96"/>
          </a:solidFill>
          <a:ln/>
        </p:spPr>
      </p:sp>
      <p:sp>
        <p:nvSpPr>
          <p:cNvPr id="5" name="Shape 3"/>
          <p:cNvSpPr/>
          <p:nvPr/>
        </p:nvSpPr>
        <p:spPr>
          <a:xfrm>
            <a:off x="9134856" y="0"/>
            <a:ext cx="3054096" cy="54864"/>
          </a:xfrm>
          <a:prstGeom prst="rect">
            <a:avLst/>
          </a:prstGeom>
          <a:solidFill>
            <a:srgbClr val="D97706"/>
          </a:solidFill>
          <a:ln/>
        </p:spPr>
      </p:sp>
      <p:pic>
        <p:nvPicPr>
          <p:cNvPr id="6" name="Image 0" descr="D:/betalab.cognitoz.com/workshops/poj_centos/public/cognitoz-logo.png">    </p:cNvPr>
          <p:cNvPicPr>
            <a:picLocks noChangeAspect="1"/>
          </p:cNvPicPr>
          <p:nvPr/>
        </p:nvPicPr>
        <p:blipFill>
          <a:blip r:embed="rId1"/>
          <a:stretch>
            <a:fillRect/>
          </a:stretch>
        </p:blipFill>
        <p:spPr>
          <a:xfrm>
            <a:off x="640080" y="201168"/>
            <a:ext cx="1463040" cy="411480"/>
          </a:xfrm>
          <a:prstGeom prst="rect">
            <a:avLst/>
          </a:prstGeom>
        </p:spPr>
      </p:pic>
      <p:sp>
        <p:nvSpPr>
          <p:cNvPr id="7" name="Shape 4"/>
          <p:cNvSpPr/>
          <p:nvPr/>
        </p:nvSpPr>
        <p:spPr>
          <a:xfrm>
            <a:off x="7863840" y="228600"/>
            <a:ext cx="3657600" cy="347472"/>
          </a:xfrm>
          <a:prstGeom prst="roundRect">
            <a:avLst>
              <a:gd name="adj" fmla="val 47368"/>
            </a:avLst>
          </a:prstGeom>
          <a:solidFill>
            <a:srgbClr val="FFFFFF"/>
          </a:solidFill>
          <a:ln w="12700">
            <a:solidFill>
              <a:srgbClr val="E2E8F0"/>
            </a:solidFill>
            <a:prstDash val="solid"/>
          </a:ln>
        </p:spPr>
      </p:sp>
      <p:sp>
        <p:nvSpPr>
          <p:cNvPr id="8" name="Text 5"/>
          <p:cNvSpPr/>
          <p:nvPr/>
        </p:nvSpPr>
        <p:spPr>
          <a:xfrm>
            <a:off x="7863840" y="228600"/>
            <a:ext cx="3657600" cy="347472"/>
          </a:xfrm>
          <a:prstGeom prst="rect">
            <a:avLst/>
          </a:prstGeom>
          <a:noFill/>
          <a:ln/>
        </p:spPr>
        <p:txBody>
          <a:bodyPr wrap="square" rtlCol="0" anchor="ctr"/>
          <a:lstStyle/>
          <a:p>
            <a:pPr algn="ctr" indent="0" marL="0">
              <a:buNone/>
            </a:pPr>
            <a:r>
              <a:rPr lang="en-US" sz="900" b="1" dirty="0">
                <a:solidFill>
                  <a:srgbClr val="7E22CE"/>
                </a:solidFill>
              </a:rPr>
              <a:t>CentOS Stream 10  |  POJ Putrajaya</a:t>
            </a:r>
            <a:endParaRPr lang="en-US" sz="900" dirty="0"/>
          </a:p>
        </p:txBody>
      </p:sp>
      <p:sp>
        <p:nvSpPr>
          <p:cNvPr id="9" name="Text 6"/>
          <p:cNvSpPr/>
          <p:nvPr/>
        </p:nvSpPr>
        <p:spPr>
          <a:xfrm>
            <a:off x="640080" y="777240"/>
            <a:ext cx="10881360" cy="274320"/>
          </a:xfrm>
          <a:prstGeom prst="rect">
            <a:avLst/>
          </a:prstGeom>
          <a:noFill/>
          <a:ln/>
        </p:spPr>
        <p:txBody>
          <a:bodyPr wrap="square" rtlCol="0" anchor="ctr"/>
          <a:lstStyle/>
          <a:p>
            <a:pPr indent="0" marL="0">
              <a:buNone/>
            </a:pPr>
            <a:r>
              <a:rPr lang="en-US" sz="1000" b="1" spc="150" kern="0" dirty="0">
                <a:solidFill>
                  <a:srgbClr val="0078D4"/>
                </a:solidFill>
              </a:rPr>
              <a:t>KEBENARAN KHAS DIREKTORI</a:t>
            </a:r>
            <a:endParaRPr lang="en-US" sz="1000" dirty="0"/>
          </a:p>
        </p:txBody>
      </p:sp>
      <p:sp>
        <p:nvSpPr>
          <p:cNvPr id="10" name="Text 7"/>
          <p:cNvSpPr/>
          <p:nvPr/>
        </p:nvSpPr>
        <p:spPr>
          <a:xfrm>
            <a:off x="640080" y="1024128"/>
            <a:ext cx="10881360" cy="502920"/>
          </a:xfrm>
          <a:prstGeom prst="rect">
            <a:avLst/>
          </a:prstGeom>
          <a:noFill/>
          <a:ln/>
        </p:spPr>
        <p:txBody>
          <a:bodyPr wrap="square" rtlCol="0" anchor="ctr"/>
          <a:lstStyle/>
          <a:p>
            <a:pPr indent="0" marL="0">
              <a:buNone/>
            </a:pPr>
            <a:r>
              <a:rPr lang="en-US" sz="2100" b="1" dirty="0">
                <a:solidFill>
                  <a:srgbClr val="0F172A"/>
                </a:solidFill>
              </a:rPr>
              <a:t>Kolaborasi Fail Kehakiman dengan SetGID (2770)</a:t>
            </a:r>
            <a:endParaRPr lang="en-US" sz="2100" dirty="0"/>
          </a:p>
        </p:txBody>
      </p:sp>
      <p:sp>
        <p:nvSpPr>
          <p:cNvPr id="11" name="Text 8"/>
          <p:cNvSpPr/>
          <p:nvPr/>
        </p:nvSpPr>
        <p:spPr>
          <a:xfrm>
            <a:off x="640080" y="1536192"/>
            <a:ext cx="10881360" cy="320040"/>
          </a:xfrm>
          <a:prstGeom prst="rect">
            <a:avLst/>
          </a:prstGeom>
          <a:noFill/>
          <a:ln/>
        </p:spPr>
        <p:txBody>
          <a:bodyPr wrap="square" rtlCol="0" anchor="ctr"/>
          <a:lstStyle/>
          <a:p>
            <a:pPr indent="0" marL="0">
              <a:buNone/>
            </a:pPr>
            <a:r>
              <a:rPr lang="en-US" sz="1200" dirty="0">
                <a:solidFill>
                  <a:srgbClr val="64748B"/>
                </a:solidFill>
              </a:rPr>
              <a:t>Memastikan Setiap Fail Baharu Mewarisi Pemilikan Kumpulan Secara Automatik</a:t>
            </a:r>
            <a:endParaRPr lang="en-US" sz="1200" dirty="0"/>
          </a:p>
        </p:txBody>
      </p:sp>
      <p:sp>
        <p:nvSpPr>
          <p:cNvPr id="12" name="Shape 9"/>
          <p:cNvSpPr/>
          <p:nvPr/>
        </p:nvSpPr>
        <p:spPr>
          <a:xfrm>
            <a:off x="640080" y="1920240"/>
            <a:ext cx="5212080" cy="4206240"/>
          </a:xfrm>
          <a:prstGeom prst="roundRect">
            <a:avLst>
              <a:gd name="adj" fmla="val 3261"/>
            </a:avLst>
          </a:prstGeom>
          <a:solidFill>
            <a:srgbClr val="FFFFFF"/>
          </a:solidFill>
          <a:ln w="12700">
            <a:solidFill>
              <a:srgbClr val="E2E8F0"/>
            </a:solidFill>
            <a:prstDash val="solid"/>
          </a:ln>
        </p:spPr>
      </p:sp>
      <p:sp>
        <p:nvSpPr>
          <p:cNvPr id="13" name="Shape 10"/>
          <p:cNvSpPr/>
          <p:nvPr/>
        </p:nvSpPr>
        <p:spPr>
          <a:xfrm>
            <a:off x="640080" y="1920240"/>
            <a:ext cx="5212080" cy="73152"/>
          </a:xfrm>
          <a:prstGeom prst="roundRect">
            <a:avLst>
              <a:gd name="adj" fmla="val 50000"/>
            </a:avLst>
          </a:prstGeom>
          <a:solidFill>
            <a:srgbClr val="0078D4"/>
          </a:solidFill>
          <a:ln w="12700">
            <a:solidFill>
              <a:srgbClr val="0078D4"/>
            </a:solidFill>
            <a:prstDash val="solid"/>
          </a:ln>
        </p:spPr>
      </p:sp>
      <p:sp>
        <p:nvSpPr>
          <p:cNvPr id="14" name="Text 11"/>
          <p:cNvSpPr/>
          <p:nvPr/>
        </p:nvSpPr>
        <p:spPr>
          <a:xfrm>
            <a:off x="868680" y="2103120"/>
            <a:ext cx="4754880" cy="320040"/>
          </a:xfrm>
          <a:prstGeom prst="rect">
            <a:avLst/>
          </a:prstGeom>
          <a:noFill/>
          <a:ln/>
        </p:spPr>
        <p:txBody>
          <a:bodyPr wrap="square" rtlCol="0" anchor="ctr"/>
          <a:lstStyle/>
          <a:p>
            <a:pPr indent="0" marL="0">
              <a:buNone/>
            </a:pPr>
            <a:r>
              <a:rPr lang="en-US" sz="1200" b="1" dirty="0">
                <a:solidFill>
                  <a:srgbClr val="0078D4"/>
                </a:solidFill>
              </a:rPr>
              <a:t>Isu Tradisional Perkongsian Fail</a:t>
            </a:r>
            <a:endParaRPr lang="en-US" sz="1200" dirty="0"/>
          </a:p>
        </p:txBody>
      </p:sp>
      <p:sp>
        <p:nvSpPr>
          <p:cNvPr id="15" name="Text 12"/>
          <p:cNvSpPr/>
          <p:nvPr/>
        </p:nvSpPr>
        <p:spPr>
          <a:xfrm>
            <a:off x="868680" y="2450592"/>
            <a:ext cx="4754880" cy="3127248"/>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Secara lalai, apabila pengguna A mencipta fail, kumpulan fail tersebut adalah kumpulan utama pengguna A.</a:t>
            </a:r>
            <a:endParaRPr lang="en-US" sz="950" dirty="0"/>
          </a:p>
          <a:p>
            <a:pPr marL="342900" indent="-342900">
              <a:lnSpc>
                <a:spcPts val="1400"/>
              </a:lnSpc>
              <a:buSzPct val="100000"/>
              <a:buChar char="•"/>
            </a:pPr>
            <a:r>
              <a:rPr lang="en-US" sz="950" dirty="0">
                <a:solidFill>
                  <a:srgbClr val="334155"/>
                </a:solidFill>
              </a:rPr>
              <a:t>Pengguna B dalam kumpulan yang sama tidak dapat menyunting fail tersebut jika kebenaran kumpulan terhad.</a:t>
            </a:r>
            <a:endParaRPr lang="en-US" sz="950" dirty="0"/>
          </a:p>
          <a:p>
            <a:pPr marL="342900" indent="-342900">
              <a:lnSpc>
                <a:spcPts val="1400"/>
              </a:lnSpc>
              <a:buSzPct val="100000"/>
              <a:buChar char="•"/>
            </a:pPr>
            <a:r>
              <a:rPr lang="en-US" sz="950" dirty="0">
                <a:solidFill>
                  <a:srgbClr val="334155"/>
                </a:solidFill>
              </a:rPr>
              <a:t>Menyebabkan pentadbir sistem terpaksa kerap menjalankan arahan chown/chmod secara manual.</a:t>
            </a:r>
            <a:endParaRPr lang="en-US" sz="950" dirty="0"/>
          </a:p>
          <a:p>
            <a:pPr marL="342900" indent="-342900">
              <a:lnSpc>
                <a:spcPts val="1400"/>
              </a:lnSpc>
              <a:buSzPct val="100000"/>
              <a:buChar char="•"/>
            </a:pPr>
            <a:r>
              <a:rPr lang="en-US" sz="950" dirty="0">
                <a:solidFill>
                  <a:srgbClr val="334155"/>
                </a:solidFill>
              </a:rPr>
              <a:t>Risiko keselamatan tinggi apabila kebenaran terpaksa dilonggarkan kepada 777.</a:t>
            </a:r>
            <a:endParaRPr lang="en-US" sz="950" dirty="0"/>
          </a:p>
        </p:txBody>
      </p:sp>
      <p:sp>
        <p:nvSpPr>
          <p:cNvPr id="16" name="Shape 13"/>
          <p:cNvSpPr/>
          <p:nvPr/>
        </p:nvSpPr>
        <p:spPr>
          <a:xfrm>
            <a:off x="822960" y="5623560"/>
            <a:ext cx="4846320" cy="384048"/>
          </a:xfrm>
          <a:prstGeom prst="roundRect">
            <a:avLst>
              <a:gd name="adj" fmla="val 19048"/>
            </a:avLst>
          </a:prstGeom>
          <a:solidFill>
            <a:srgbClr val="F1F5F9"/>
          </a:solidFill>
          <a:ln w="10160">
            <a:solidFill>
              <a:srgbClr val="E2E8F0"/>
            </a:solidFill>
            <a:prstDash val="solid"/>
          </a:ln>
        </p:spPr>
      </p:sp>
      <p:sp>
        <p:nvSpPr>
          <p:cNvPr id="17" name="Text 14"/>
          <p:cNvSpPr/>
          <p:nvPr/>
        </p:nvSpPr>
        <p:spPr>
          <a:xfrm>
            <a:off x="868680" y="5623560"/>
            <a:ext cx="4754880" cy="384048"/>
          </a:xfrm>
          <a:prstGeom prst="rect">
            <a:avLst/>
          </a:prstGeom>
          <a:noFill/>
          <a:ln/>
        </p:spPr>
        <p:txBody>
          <a:bodyPr wrap="square" rtlCol="0" anchor="ctr"/>
          <a:lstStyle/>
          <a:p>
            <a:pPr indent="0" marL="0">
              <a:buNone/>
            </a:pPr>
            <a:r>
              <a:rPr lang="en-US" sz="850" b="1" dirty="0">
                <a:solidFill>
                  <a:srgbClr val="0078D4"/>
                </a:solidFill>
              </a:rPr>
              <a:t>Kebenaran 777 adalah pelanggaran keselamatan serius!</a:t>
            </a:r>
            <a:endParaRPr lang="en-US" sz="850" dirty="0"/>
          </a:p>
        </p:txBody>
      </p:sp>
      <p:sp>
        <p:nvSpPr>
          <p:cNvPr id="18" name="Shape 15"/>
          <p:cNvSpPr/>
          <p:nvPr/>
        </p:nvSpPr>
        <p:spPr>
          <a:xfrm>
            <a:off x="6217920" y="1920240"/>
            <a:ext cx="5303520" cy="4206240"/>
          </a:xfrm>
          <a:prstGeom prst="roundRect">
            <a:avLst>
              <a:gd name="adj" fmla="val 3261"/>
            </a:avLst>
          </a:prstGeom>
          <a:solidFill>
            <a:srgbClr val="FFFFFF"/>
          </a:solidFill>
          <a:ln w="12700">
            <a:solidFill>
              <a:srgbClr val="E2E8F0"/>
            </a:solidFill>
            <a:prstDash val="solid"/>
          </a:ln>
        </p:spPr>
      </p:sp>
      <p:sp>
        <p:nvSpPr>
          <p:cNvPr id="19" name="Shape 16"/>
          <p:cNvSpPr/>
          <p:nvPr/>
        </p:nvSpPr>
        <p:spPr>
          <a:xfrm>
            <a:off x="6217920" y="1920240"/>
            <a:ext cx="5303520" cy="73152"/>
          </a:xfrm>
          <a:prstGeom prst="roundRect">
            <a:avLst>
              <a:gd name="adj" fmla="val 50000"/>
            </a:avLst>
          </a:prstGeom>
          <a:solidFill>
            <a:srgbClr val="009E96"/>
          </a:solidFill>
          <a:ln w="12700">
            <a:solidFill>
              <a:srgbClr val="009E96"/>
            </a:solidFill>
            <a:prstDash val="solid"/>
          </a:ln>
        </p:spPr>
      </p:sp>
      <p:sp>
        <p:nvSpPr>
          <p:cNvPr id="20" name="Text 17"/>
          <p:cNvSpPr/>
          <p:nvPr/>
        </p:nvSpPr>
        <p:spPr>
          <a:xfrm>
            <a:off x="6446520" y="2103120"/>
            <a:ext cx="4846320" cy="320040"/>
          </a:xfrm>
          <a:prstGeom prst="rect">
            <a:avLst/>
          </a:prstGeom>
          <a:noFill/>
          <a:ln/>
        </p:spPr>
        <p:txBody>
          <a:bodyPr wrap="square" rtlCol="0" anchor="ctr"/>
          <a:lstStyle/>
          <a:p>
            <a:pPr indent="0" marL="0">
              <a:buNone/>
            </a:pPr>
            <a:r>
              <a:rPr lang="en-US" sz="1200" b="1" dirty="0">
                <a:solidFill>
                  <a:srgbClr val="009E96"/>
                </a:solidFill>
              </a:rPr>
              <a:t>Penyelesaian SetGID (Bit 2 di Hadapan)</a:t>
            </a:r>
            <a:endParaRPr lang="en-US" sz="1200" dirty="0"/>
          </a:p>
        </p:txBody>
      </p:sp>
      <p:sp>
        <p:nvSpPr>
          <p:cNvPr id="21" name="Text 18"/>
          <p:cNvSpPr/>
          <p:nvPr/>
        </p:nvSpPr>
        <p:spPr>
          <a:xfrm>
            <a:off x="6446520" y="2450592"/>
            <a:ext cx="4846320" cy="3127248"/>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chmod 2770 /opt/poj/dokumen_kehakiman</a:t>
            </a:r>
            <a:endParaRPr lang="en-US" sz="950" dirty="0"/>
          </a:p>
          <a:p>
            <a:pPr marL="342900" indent="-342900">
              <a:lnSpc>
                <a:spcPts val="1400"/>
              </a:lnSpc>
              <a:buSzPct val="100000"/>
              <a:buChar char="•"/>
            </a:pPr>
            <a:r>
              <a:rPr lang="en-US" sz="950" dirty="0">
                <a:solidFill>
                  <a:srgbClr val="334155"/>
                </a:solidFill>
              </a:rPr>
              <a:t>Kesan SetGID: Mana-mana fail baharu yang dicipta di dalam folder ini akan mewarisi kumpulan direktori tersebut secara automatik.</a:t>
            </a:r>
            <a:endParaRPr lang="en-US" sz="950" dirty="0"/>
          </a:p>
          <a:p>
            <a:pPr marL="342900" indent="-342900">
              <a:lnSpc>
                <a:spcPts val="1400"/>
              </a:lnSpc>
              <a:buSzPct val="100000"/>
              <a:buChar char="•"/>
            </a:pPr>
            <a:r>
              <a:rPr lang="en-US" sz="950" dirty="0">
                <a:solidFill>
                  <a:srgbClr val="334155"/>
                </a:solidFill>
              </a:rPr>
              <a:t>Nilai Kebenaran 2770 bermaksud:</a:t>
            </a:r>
            <a:endParaRPr lang="en-US" sz="950" dirty="0"/>
          </a:p>
          <a:p>
            <a:pPr marL="342900" indent="-342900">
              <a:lnSpc>
                <a:spcPts val="1400"/>
              </a:lnSpc>
              <a:buSzPct val="100000"/>
              <a:buChar char="•"/>
            </a:pPr>
            <a:r>
              <a:rPr lang="en-US" sz="950" dirty="0">
                <a:solidFill>
                  <a:srgbClr val="334155"/>
                </a:solidFill>
              </a:rPr>
              <a:t>  • 2: Bit SetGID aktif (drwxrws---)</a:t>
            </a:r>
            <a:endParaRPr lang="en-US" sz="950" dirty="0"/>
          </a:p>
          <a:p>
            <a:pPr marL="342900" indent="-342900">
              <a:lnSpc>
                <a:spcPts val="1400"/>
              </a:lnSpc>
              <a:buSzPct val="100000"/>
              <a:buChar char="•"/>
            </a:pPr>
            <a:r>
              <a:rPr lang="en-US" sz="950" dirty="0">
                <a:solidFill>
                  <a:srgbClr val="334155"/>
                </a:solidFill>
              </a:rPr>
              <a:t>  • 7: Pemilik ada hak baca, tulis, laksana (rwx)</a:t>
            </a:r>
            <a:endParaRPr lang="en-US" sz="950" dirty="0"/>
          </a:p>
          <a:p>
            <a:pPr marL="342900" indent="-342900">
              <a:lnSpc>
                <a:spcPts val="1400"/>
              </a:lnSpc>
              <a:buSzPct val="100000"/>
              <a:buChar char="•"/>
            </a:pPr>
            <a:r>
              <a:rPr lang="en-US" sz="950" dirty="0">
                <a:solidFill>
                  <a:srgbClr val="334155"/>
                </a:solidFill>
              </a:rPr>
              <a:t>  • 7: Kumpulan kehakiman ada hak penuh (rwx)</a:t>
            </a:r>
            <a:endParaRPr lang="en-US" sz="950" dirty="0"/>
          </a:p>
          <a:p>
            <a:pPr marL="342900" indent="-342900">
              <a:lnSpc>
                <a:spcPts val="1400"/>
              </a:lnSpc>
              <a:buSzPct val="100000"/>
              <a:buChar char="•"/>
            </a:pPr>
            <a:r>
              <a:rPr lang="en-US" sz="950" dirty="0">
                <a:solidFill>
                  <a:srgbClr val="334155"/>
                </a:solidFill>
              </a:rPr>
              <a:t>  • 0: Pengguna lain tiada sebarang akses (---)</a:t>
            </a:r>
            <a:endParaRPr lang="en-US" sz="950" dirty="0"/>
          </a:p>
        </p:txBody>
      </p:sp>
      <p:sp>
        <p:nvSpPr>
          <p:cNvPr id="22" name="Shape 19"/>
          <p:cNvSpPr/>
          <p:nvPr/>
        </p:nvSpPr>
        <p:spPr>
          <a:xfrm>
            <a:off x="6400800" y="5623560"/>
            <a:ext cx="4937760" cy="384048"/>
          </a:xfrm>
          <a:prstGeom prst="roundRect">
            <a:avLst>
              <a:gd name="adj" fmla="val 19048"/>
            </a:avLst>
          </a:prstGeom>
          <a:solidFill>
            <a:srgbClr val="F1F5F9"/>
          </a:solidFill>
          <a:ln w="10160">
            <a:solidFill>
              <a:srgbClr val="E2E8F0"/>
            </a:solidFill>
            <a:prstDash val="solid"/>
          </a:ln>
        </p:spPr>
      </p:sp>
      <p:sp>
        <p:nvSpPr>
          <p:cNvPr id="23" name="Text 20"/>
          <p:cNvSpPr/>
          <p:nvPr/>
        </p:nvSpPr>
        <p:spPr>
          <a:xfrm>
            <a:off x="6446520" y="5623560"/>
            <a:ext cx="4846320" cy="384048"/>
          </a:xfrm>
          <a:prstGeom prst="rect">
            <a:avLst/>
          </a:prstGeom>
          <a:noFill/>
          <a:ln/>
        </p:spPr>
        <p:txBody>
          <a:bodyPr wrap="square" rtlCol="0" anchor="ctr"/>
          <a:lstStyle/>
          <a:p>
            <a:pPr indent="0" marL="0">
              <a:buNone/>
            </a:pPr>
            <a:r>
              <a:rPr lang="en-US" sz="850" b="1" dirty="0">
                <a:solidFill>
                  <a:srgbClr val="009E96"/>
                </a:solidFill>
              </a:rPr>
              <a:t>Integriti dan kerahsiaan dokumen kehakiman terjamin 100%</a:t>
            </a:r>
            <a:endParaRPr lang="en-US" sz="850" dirty="0"/>
          </a:p>
        </p:txBody>
      </p:sp>
      <p:sp>
        <p:nvSpPr>
          <p:cNvPr id="24" name="Shape 21"/>
          <p:cNvSpPr/>
          <p:nvPr/>
        </p:nvSpPr>
        <p:spPr>
          <a:xfrm>
            <a:off x="640080" y="6400800"/>
            <a:ext cx="10881360" cy="0"/>
          </a:xfrm>
          <a:prstGeom prst="line">
            <a:avLst/>
          </a:prstGeom>
          <a:noFill/>
          <a:ln w="12700">
            <a:solidFill>
              <a:srgbClr val="E2E8F0"/>
            </a:solidFill>
            <a:prstDash val="solid"/>
          </a:ln>
        </p:spPr>
      </p:sp>
      <p:sp>
        <p:nvSpPr>
          <p:cNvPr id="25" name="Text 22"/>
          <p:cNvSpPr/>
          <p:nvPr/>
        </p:nvSpPr>
        <p:spPr>
          <a:xfrm>
            <a:off x="640080" y="6446520"/>
            <a:ext cx="4572000" cy="320040"/>
          </a:xfrm>
          <a:prstGeom prst="rect">
            <a:avLst/>
          </a:prstGeom>
          <a:noFill/>
          <a:ln/>
        </p:spPr>
        <p:txBody>
          <a:bodyPr wrap="square" rtlCol="0" anchor="ctr"/>
          <a:lstStyle/>
          <a:p>
            <a:pPr indent="0" marL="0">
              <a:buNone/>
            </a:pPr>
            <a:r>
              <a:rPr lang="en-US" sz="900" b="1" dirty="0">
                <a:solidFill>
                  <a:srgbClr val="64748B"/>
                </a:solidFill>
              </a:rPr>
              <a:t>Cognitoz BetaLab  |  Jabatan Kehakiman Malaysia (POJ)</a:t>
            </a:r>
            <a:endParaRPr lang="en-US" sz="900" dirty="0"/>
          </a:p>
        </p:txBody>
      </p:sp>
      <p:sp>
        <p:nvSpPr>
          <p:cNvPr id="26" name="Text 23"/>
          <p:cNvSpPr/>
          <p:nvPr/>
        </p:nvSpPr>
        <p:spPr>
          <a:xfrm>
            <a:off x="4389120" y="6446520"/>
            <a:ext cx="5029200" cy="320040"/>
          </a:xfrm>
          <a:prstGeom prst="rect">
            <a:avLst/>
          </a:prstGeom>
          <a:noFill/>
          <a:ln/>
        </p:spPr>
        <p:txBody>
          <a:bodyPr wrap="square" rtlCol="0" anchor="ctr"/>
          <a:lstStyle/>
          <a:p>
            <a:pPr algn="ctr" indent="0" marL="0">
              <a:buNone/>
            </a:pPr>
            <a:r>
              <a:rPr lang="en-US" sz="850" dirty="0">
                <a:solidFill>
                  <a:srgbClr val="64748B"/>
                </a:solidFill>
              </a:rPr>
              <a:t>Copyright © 2026 Cognitoz I.T Training Sdn Bhd — www.cognitoz.com</a:t>
            </a:r>
            <a:endParaRPr lang="en-US" sz="850" dirty="0"/>
          </a:p>
        </p:txBody>
      </p:sp>
      <p:sp>
        <p:nvSpPr>
          <p:cNvPr id="27" name="Text 24"/>
          <p:cNvSpPr/>
          <p:nvPr/>
        </p:nvSpPr>
        <p:spPr>
          <a:xfrm>
            <a:off x="9601200" y="6446520"/>
            <a:ext cx="1920240" cy="320040"/>
          </a:xfrm>
          <a:prstGeom prst="rect">
            <a:avLst/>
          </a:prstGeom>
          <a:noFill/>
          <a:ln/>
        </p:spPr>
        <p:txBody>
          <a:bodyPr wrap="square" rtlCol="0" anchor="ctr"/>
          <a:lstStyle/>
          <a:p>
            <a:pPr algn="r" indent="0" marL="0">
              <a:buNone/>
            </a:pPr>
            <a:r>
              <a:rPr lang="en-US" sz="900" b="1" dirty="0">
                <a:solidFill>
                  <a:srgbClr val="64748B"/>
                </a:solidFill>
              </a:rPr>
              <a:t>10 / 22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3044952" cy="54864"/>
          </a:xfrm>
          <a:prstGeom prst="rect">
            <a:avLst/>
          </a:prstGeom>
          <a:solidFill>
            <a:srgbClr val="7E22CE"/>
          </a:solidFill>
          <a:ln/>
        </p:spPr>
      </p:sp>
      <p:sp>
        <p:nvSpPr>
          <p:cNvPr id="3" name="Shape 1"/>
          <p:cNvSpPr/>
          <p:nvPr/>
        </p:nvSpPr>
        <p:spPr>
          <a:xfrm>
            <a:off x="3044952" y="0"/>
            <a:ext cx="3044952" cy="54864"/>
          </a:xfrm>
          <a:prstGeom prst="rect">
            <a:avLst/>
          </a:prstGeom>
          <a:solidFill>
            <a:srgbClr val="0078D4"/>
          </a:solidFill>
          <a:ln/>
        </p:spPr>
      </p:sp>
      <p:sp>
        <p:nvSpPr>
          <p:cNvPr id="4" name="Shape 2"/>
          <p:cNvSpPr/>
          <p:nvPr/>
        </p:nvSpPr>
        <p:spPr>
          <a:xfrm>
            <a:off x="6089904" y="0"/>
            <a:ext cx="3044952" cy="54864"/>
          </a:xfrm>
          <a:prstGeom prst="rect">
            <a:avLst/>
          </a:prstGeom>
          <a:solidFill>
            <a:srgbClr val="009E96"/>
          </a:solidFill>
          <a:ln/>
        </p:spPr>
      </p:sp>
      <p:sp>
        <p:nvSpPr>
          <p:cNvPr id="5" name="Shape 3"/>
          <p:cNvSpPr/>
          <p:nvPr/>
        </p:nvSpPr>
        <p:spPr>
          <a:xfrm>
            <a:off x="9134856" y="0"/>
            <a:ext cx="3054096" cy="54864"/>
          </a:xfrm>
          <a:prstGeom prst="rect">
            <a:avLst/>
          </a:prstGeom>
          <a:solidFill>
            <a:srgbClr val="D97706"/>
          </a:solidFill>
          <a:ln/>
        </p:spPr>
      </p:sp>
      <p:pic>
        <p:nvPicPr>
          <p:cNvPr id="6" name="Image 0" descr="D:/betalab.cognitoz.com/workshops/poj_centos/public/cognitoz-logo.png">    </p:cNvPr>
          <p:cNvPicPr>
            <a:picLocks noChangeAspect="1"/>
          </p:cNvPicPr>
          <p:nvPr/>
        </p:nvPicPr>
        <p:blipFill>
          <a:blip r:embed="rId1"/>
          <a:stretch>
            <a:fillRect/>
          </a:stretch>
        </p:blipFill>
        <p:spPr>
          <a:xfrm>
            <a:off x="640080" y="201168"/>
            <a:ext cx="1463040" cy="411480"/>
          </a:xfrm>
          <a:prstGeom prst="rect">
            <a:avLst/>
          </a:prstGeom>
        </p:spPr>
      </p:pic>
      <p:sp>
        <p:nvSpPr>
          <p:cNvPr id="7" name="Shape 4"/>
          <p:cNvSpPr/>
          <p:nvPr/>
        </p:nvSpPr>
        <p:spPr>
          <a:xfrm>
            <a:off x="7863840" y="228600"/>
            <a:ext cx="3657600" cy="347472"/>
          </a:xfrm>
          <a:prstGeom prst="roundRect">
            <a:avLst>
              <a:gd name="adj" fmla="val 47368"/>
            </a:avLst>
          </a:prstGeom>
          <a:solidFill>
            <a:srgbClr val="FFFFFF"/>
          </a:solidFill>
          <a:ln w="12700">
            <a:solidFill>
              <a:srgbClr val="E2E8F0"/>
            </a:solidFill>
            <a:prstDash val="solid"/>
          </a:ln>
        </p:spPr>
      </p:sp>
      <p:sp>
        <p:nvSpPr>
          <p:cNvPr id="8" name="Text 5"/>
          <p:cNvSpPr/>
          <p:nvPr/>
        </p:nvSpPr>
        <p:spPr>
          <a:xfrm>
            <a:off x="7863840" y="228600"/>
            <a:ext cx="3657600" cy="347472"/>
          </a:xfrm>
          <a:prstGeom prst="rect">
            <a:avLst/>
          </a:prstGeom>
          <a:noFill/>
          <a:ln/>
        </p:spPr>
        <p:txBody>
          <a:bodyPr wrap="square" rtlCol="0" anchor="ctr"/>
          <a:lstStyle/>
          <a:p>
            <a:pPr algn="ctr" indent="0" marL="0">
              <a:buNone/>
            </a:pPr>
            <a:r>
              <a:rPr lang="en-US" sz="900" b="1" dirty="0">
                <a:solidFill>
                  <a:srgbClr val="7E22CE"/>
                </a:solidFill>
              </a:rPr>
              <a:t>CentOS Stream 10  |  POJ Putrajaya</a:t>
            </a:r>
            <a:endParaRPr lang="en-US" sz="900" dirty="0"/>
          </a:p>
        </p:txBody>
      </p:sp>
      <p:sp>
        <p:nvSpPr>
          <p:cNvPr id="9" name="Text 6"/>
          <p:cNvSpPr/>
          <p:nvPr/>
        </p:nvSpPr>
        <p:spPr>
          <a:xfrm>
            <a:off x="640080" y="777240"/>
            <a:ext cx="10881360" cy="274320"/>
          </a:xfrm>
          <a:prstGeom prst="rect">
            <a:avLst/>
          </a:prstGeom>
          <a:noFill/>
          <a:ln/>
        </p:spPr>
        <p:txBody>
          <a:bodyPr wrap="square" rtlCol="0" anchor="ctr"/>
          <a:lstStyle/>
          <a:p>
            <a:pPr indent="0" marL="0">
              <a:buNone/>
            </a:pPr>
            <a:r>
              <a:rPr lang="en-US" sz="1000" b="1" spc="150" kern="0" dirty="0">
                <a:solidFill>
                  <a:srgbClr val="0078D4"/>
                </a:solidFill>
              </a:rPr>
              <a:t>KAWALAN SUDO TERPERINCI</a:t>
            </a:r>
            <a:endParaRPr lang="en-US" sz="1000" dirty="0"/>
          </a:p>
        </p:txBody>
      </p:sp>
      <p:sp>
        <p:nvSpPr>
          <p:cNvPr id="10" name="Text 7"/>
          <p:cNvSpPr/>
          <p:nvPr/>
        </p:nvSpPr>
        <p:spPr>
          <a:xfrm>
            <a:off x="640080" y="1024128"/>
            <a:ext cx="10881360" cy="502920"/>
          </a:xfrm>
          <a:prstGeom prst="rect">
            <a:avLst/>
          </a:prstGeom>
          <a:noFill/>
          <a:ln/>
        </p:spPr>
        <p:txBody>
          <a:bodyPr wrap="square" rtlCol="0" anchor="ctr"/>
          <a:lstStyle/>
          <a:p>
            <a:pPr indent="0" marL="0">
              <a:buNone/>
            </a:pPr>
            <a:r>
              <a:rPr lang="en-US" sz="2100" b="1" dirty="0">
                <a:solidFill>
                  <a:srgbClr val="0F172A"/>
                </a:solidFill>
              </a:rPr>
              <a:t>Konfigurasi Sudoers Berbutir Halus (Granular RBAC)</a:t>
            </a:r>
            <a:endParaRPr lang="en-US" sz="2100" dirty="0"/>
          </a:p>
        </p:txBody>
      </p:sp>
      <p:sp>
        <p:nvSpPr>
          <p:cNvPr id="11" name="Text 8"/>
          <p:cNvSpPr/>
          <p:nvPr/>
        </p:nvSpPr>
        <p:spPr>
          <a:xfrm>
            <a:off x="640080" y="1536192"/>
            <a:ext cx="10881360" cy="320040"/>
          </a:xfrm>
          <a:prstGeom prst="rect">
            <a:avLst/>
          </a:prstGeom>
          <a:noFill/>
          <a:ln/>
        </p:spPr>
        <p:txBody>
          <a:bodyPr wrap="square" rtlCol="0" anchor="ctr"/>
          <a:lstStyle/>
          <a:p>
            <a:pPr indent="0" marL="0">
              <a:buNone/>
            </a:pPr>
            <a:r>
              <a:rPr lang="en-US" sz="1200" dirty="0">
                <a:solidFill>
                  <a:srgbClr val="64748B"/>
                </a:solidFill>
              </a:rPr>
              <a:t>Menghadkan Hak Pelaksanaan Arahan Tertentu Sahaja Tanpa Kata Laluan</a:t>
            </a:r>
            <a:endParaRPr lang="en-US" sz="1200" dirty="0"/>
          </a:p>
        </p:txBody>
      </p:sp>
      <p:sp>
        <p:nvSpPr>
          <p:cNvPr id="12" name="Shape 9"/>
          <p:cNvSpPr/>
          <p:nvPr/>
        </p:nvSpPr>
        <p:spPr>
          <a:xfrm>
            <a:off x="640080" y="1920240"/>
            <a:ext cx="5212080" cy="4206240"/>
          </a:xfrm>
          <a:prstGeom prst="roundRect">
            <a:avLst>
              <a:gd name="adj" fmla="val 3261"/>
            </a:avLst>
          </a:prstGeom>
          <a:solidFill>
            <a:srgbClr val="FFFFFF"/>
          </a:solidFill>
          <a:ln w="12700">
            <a:solidFill>
              <a:srgbClr val="E2E8F0"/>
            </a:solidFill>
            <a:prstDash val="solid"/>
          </a:ln>
        </p:spPr>
      </p:sp>
      <p:sp>
        <p:nvSpPr>
          <p:cNvPr id="13" name="Shape 10"/>
          <p:cNvSpPr/>
          <p:nvPr/>
        </p:nvSpPr>
        <p:spPr>
          <a:xfrm>
            <a:off x="640080" y="1920240"/>
            <a:ext cx="5212080" cy="73152"/>
          </a:xfrm>
          <a:prstGeom prst="roundRect">
            <a:avLst>
              <a:gd name="adj" fmla="val 50000"/>
            </a:avLst>
          </a:prstGeom>
          <a:solidFill>
            <a:srgbClr val="0078D4"/>
          </a:solidFill>
          <a:ln w="12700">
            <a:solidFill>
              <a:srgbClr val="0078D4"/>
            </a:solidFill>
            <a:prstDash val="solid"/>
          </a:ln>
        </p:spPr>
      </p:sp>
      <p:sp>
        <p:nvSpPr>
          <p:cNvPr id="14" name="Text 11"/>
          <p:cNvSpPr/>
          <p:nvPr/>
        </p:nvSpPr>
        <p:spPr>
          <a:xfrm>
            <a:off x="868680" y="2103120"/>
            <a:ext cx="4754880" cy="320040"/>
          </a:xfrm>
          <a:prstGeom prst="rect">
            <a:avLst/>
          </a:prstGeom>
          <a:noFill/>
          <a:ln/>
        </p:spPr>
        <p:txBody>
          <a:bodyPr wrap="square" rtlCol="0" anchor="ctr"/>
          <a:lstStyle/>
          <a:p>
            <a:pPr indent="0" marL="0">
              <a:buNone/>
            </a:pPr>
            <a:r>
              <a:rPr lang="en-US" sz="1200" b="1" dirty="0">
                <a:solidFill>
                  <a:srgbClr val="0078D4"/>
                </a:solidFill>
              </a:rPr>
              <a:t>Anatomi Baris Konfigurasi Sudo</a:t>
            </a:r>
            <a:endParaRPr lang="en-US" sz="1200" dirty="0"/>
          </a:p>
        </p:txBody>
      </p:sp>
      <p:sp>
        <p:nvSpPr>
          <p:cNvPr id="15" name="Text 12"/>
          <p:cNvSpPr/>
          <p:nvPr/>
        </p:nvSpPr>
        <p:spPr>
          <a:xfrm>
            <a:off x="868680" y="2450592"/>
            <a:ext cx="4754880" cy="3127248"/>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Format asas: Pengguna Hos = (PenggunaSasaran) Arahan</a:t>
            </a:r>
            <a:endParaRPr lang="en-US" sz="950" dirty="0"/>
          </a:p>
          <a:p>
            <a:pPr marL="342900" indent="-342900">
              <a:lnSpc>
                <a:spcPts val="1400"/>
              </a:lnSpc>
              <a:buSzPct val="100000"/>
              <a:buChar char="•"/>
            </a:pPr>
            <a:r>
              <a:rPr lang="en-US" sz="950" dirty="0">
                <a:solidFill>
                  <a:srgbClr val="334155"/>
                </a:solidFill>
              </a:rPr>
              <a:t>Contoh: audit_officer ALL=(ALL) /bin/journalctl</a:t>
            </a:r>
            <a:endParaRPr lang="en-US" sz="950" dirty="0"/>
          </a:p>
          <a:p>
            <a:pPr marL="342900" indent="-342900">
              <a:lnSpc>
                <a:spcPts val="1400"/>
              </a:lnSpc>
              <a:buSzPct val="100000"/>
              <a:buChar char="•"/>
            </a:pPr>
            <a:r>
              <a:rPr lang="en-US" sz="950" dirty="0">
                <a:solidFill>
                  <a:srgbClr val="334155"/>
                </a:solidFill>
              </a:rPr>
              <a:t>NOPASSWD: Membenarkan pelaksanaan tanpa meminta kata laluan (sesuai untuk skrip automasi dan pemantauan).</a:t>
            </a:r>
            <a:endParaRPr lang="en-US" sz="950" dirty="0"/>
          </a:p>
          <a:p>
            <a:pPr marL="342900" indent="-342900">
              <a:lnSpc>
                <a:spcPts val="1400"/>
              </a:lnSpc>
              <a:buSzPct val="100000"/>
              <a:buChar char="•"/>
            </a:pPr>
            <a:r>
              <a:rPr lang="en-US" sz="950" dirty="0">
                <a:solidFill>
                  <a:srgbClr val="334155"/>
                </a:solidFill>
              </a:rPr>
              <a:t>Larangan Wildcard Bahaya: Jangan sesekali letakkan arahan seperti /bin/bash, /bin/sh, atau /usr/bin/vim dalam senarai sudo NOPASSWD kerana pengguna boleh escape shell.</a:t>
            </a:r>
            <a:endParaRPr lang="en-US" sz="950" dirty="0"/>
          </a:p>
        </p:txBody>
      </p:sp>
      <p:sp>
        <p:nvSpPr>
          <p:cNvPr id="16" name="Shape 13"/>
          <p:cNvSpPr/>
          <p:nvPr/>
        </p:nvSpPr>
        <p:spPr>
          <a:xfrm>
            <a:off x="822960" y="5623560"/>
            <a:ext cx="4846320" cy="384048"/>
          </a:xfrm>
          <a:prstGeom prst="roundRect">
            <a:avLst>
              <a:gd name="adj" fmla="val 19048"/>
            </a:avLst>
          </a:prstGeom>
          <a:solidFill>
            <a:srgbClr val="F1F5F9"/>
          </a:solidFill>
          <a:ln w="10160">
            <a:solidFill>
              <a:srgbClr val="E2E8F0"/>
            </a:solidFill>
            <a:prstDash val="solid"/>
          </a:ln>
        </p:spPr>
      </p:sp>
      <p:sp>
        <p:nvSpPr>
          <p:cNvPr id="17" name="Text 14"/>
          <p:cNvSpPr/>
          <p:nvPr/>
        </p:nvSpPr>
        <p:spPr>
          <a:xfrm>
            <a:off x="868680" y="5623560"/>
            <a:ext cx="4754880" cy="384048"/>
          </a:xfrm>
          <a:prstGeom prst="rect">
            <a:avLst/>
          </a:prstGeom>
          <a:noFill/>
          <a:ln/>
        </p:spPr>
        <p:txBody>
          <a:bodyPr wrap="square" rtlCol="0" anchor="ctr"/>
          <a:lstStyle/>
          <a:p>
            <a:pPr indent="0" marL="0">
              <a:buNone/>
            </a:pPr>
            <a:r>
              <a:rPr lang="en-US" sz="850" b="1" dirty="0">
                <a:solidFill>
                  <a:srgbClr val="0078D4"/>
                </a:solidFill>
              </a:rPr>
              <a:t>Fail konfigurasi disimpan di: /etc/sudoers.d/audit_officer</a:t>
            </a:r>
            <a:endParaRPr lang="en-US" sz="850" dirty="0"/>
          </a:p>
        </p:txBody>
      </p:sp>
      <p:sp>
        <p:nvSpPr>
          <p:cNvPr id="18" name="Shape 15"/>
          <p:cNvSpPr/>
          <p:nvPr/>
        </p:nvSpPr>
        <p:spPr>
          <a:xfrm>
            <a:off x="6217920" y="1920240"/>
            <a:ext cx="5303520" cy="4206240"/>
          </a:xfrm>
          <a:prstGeom prst="roundRect">
            <a:avLst>
              <a:gd name="adj" fmla="val 3261"/>
            </a:avLst>
          </a:prstGeom>
          <a:solidFill>
            <a:srgbClr val="FFFFFF"/>
          </a:solidFill>
          <a:ln w="12700">
            <a:solidFill>
              <a:srgbClr val="E2E8F0"/>
            </a:solidFill>
            <a:prstDash val="solid"/>
          </a:ln>
        </p:spPr>
      </p:sp>
      <p:sp>
        <p:nvSpPr>
          <p:cNvPr id="19" name="Shape 16"/>
          <p:cNvSpPr/>
          <p:nvPr/>
        </p:nvSpPr>
        <p:spPr>
          <a:xfrm>
            <a:off x="6217920" y="1920240"/>
            <a:ext cx="5303520" cy="73152"/>
          </a:xfrm>
          <a:prstGeom prst="roundRect">
            <a:avLst>
              <a:gd name="adj" fmla="val 50000"/>
            </a:avLst>
          </a:prstGeom>
          <a:solidFill>
            <a:srgbClr val="7E22CE"/>
          </a:solidFill>
          <a:ln w="12700">
            <a:solidFill>
              <a:srgbClr val="7E22CE"/>
            </a:solidFill>
            <a:prstDash val="solid"/>
          </a:ln>
        </p:spPr>
      </p:sp>
      <p:sp>
        <p:nvSpPr>
          <p:cNvPr id="20" name="Text 17"/>
          <p:cNvSpPr/>
          <p:nvPr/>
        </p:nvSpPr>
        <p:spPr>
          <a:xfrm>
            <a:off x="6446520" y="2103120"/>
            <a:ext cx="4846320" cy="320040"/>
          </a:xfrm>
          <a:prstGeom prst="rect">
            <a:avLst/>
          </a:prstGeom>
          <a:noFill/>
          <a:ln/>
        </p:spPr>
        <p:txBody>
          <a:bodyPr wrap="square" rtlCol="0" anchor="ctr"/>
          <a:lstStyle/>
          <a:p>
            <a:pPr indent="0" marL="0">
              <a:buNone/>
            </a:pPr>
            <a:r>
              <a:rPr lang="en-US" sz="1200" b="1" dirty="0">
                <a:solidFill>
                  <a:srgbClr val="7E22CE"/>
                </a:solidFill>
              </a:rPr>
              <a:t>Amalan Terbaik Pentadbiran Sudo</a:t>
            </a:r>
            <a:endParaRPr lang="en-US" sz="1200" dirty="0"/>
          </a:p>
        </p:txBody>
      </p:sp>
      <p:sp>
        <p:nvSpPr>
          <p:cNvPr id="21" name="Text 18"/>
          <p:cNvSpPr/>
          <p:nvPr/>
        </p:nvSpPr>
        <p:spPr>
          <a:xfrm>
            <a:off x="6446520" y="2450592"/>
            <a:ext cx="4846320" cy="3127248"/>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1. Sentiasa cipta fail berasingan di /etc/sudoers.d/ mengikut fungsi tugas atau nama perkhidmatan.</a:t>
            </a:r>
            <a:endParaRPr lang="en-US" sz="950" dirty="0"/>
          </a:p>
          <a:p>
            <a:pPr marL="342900" indent="-342900">
              <a:lnSpc>
                <a:spcPts val="1400"/>
              </a:lnSpc>
              <a:buSzPct val="100000"/>
              <a:buChar char="•"/>
            </a:pPr>
            <a:r>
              <a:rPr lang="en-US" sz="950" dirty="0">
                <a:solidFill>
                  <a:srgbClr val="334155"/>
                </a:solidFill>
              </a:rPr>
              <a:t>2. Tetapkan kebenaran fail kepada 0440 (hanya root boleh baca): chmod 0440 /etc/sudoers.d/audit_officer</a:t>
            </a:r>
            <a:endParaRPr lang="en-US" sz="950" dirty="0"/>
          </a:p>
          <a:p>
            <a:pPr marL="342900" indent="-342900">
              <a:lnSpc>
                <a:spcPts val="1400"/>
              </a:lnSpc>
              <a:buSzPct val="100000"/>
              <a:buChar char="•"/>
            </a:pPr>
            <a:r>
              <a:rPr lang="en-US" sz="950" dirty="0">
                <a:solidFill>
                  <a:srgbClr val="334155"/>
                </a:solidFill>
              </a:rPr>
              <a:t>3. Uji integriti sintaks sebelum keluar: sudo visudo -cf /etc/sudoers.d/audit_officer</a:t>
            </a:r>
            <a:endParaRPr lang="en-US" sz="950" dirty="0"/>
          </a:p>
          <a:p>
            <a:pPr marL="342900" indent="-342900">
              <a:lnSpc>
                <a:spcPts val="1400"/>
              </a:lnSpc>
              <a:buSzPct val="100000"/>
              <a:buChar char="•"/>
            </a:pPr>
            <a:r>
              <a:rPr lang="en-US" sz="950" dirty="0">
                <a:solidFill>
                  <a:srgbClr val="334155"/>
                </a:solidFill>
              </a:rPr>
              <a:t>4. Pantau log percubaan akses tidak sah dalam /var/log/secure.</a:t>
            </a:r>
            <a:endParaRPr lang="en-US" sz="950" dirty="0"/>
          </a:p>
        </p:txBody>
      </p:sp>
      <p:sp>
        <p:nvSpPr>
          <p:cNvPr id="22" name="Shape 19"/>
          <p:cNvSpPr/>
          <p:nvPr/>
        </p:nvSpPr>
        <p:spPr>
          <a:xfrm>
            <a:off x="6400800" y="5623560"/>
            <a:ext cx="4937760" cy="384048"/>
          </a:xfrm>
          <a:prstGeom prst="roundRect">
            <a:avLst>
              <a:gd name="adj" fmla="val 19048"/>
            </a:avLst>
          </a:prstGeom>
          <a:solidFill>
            <a:srgbClr val="F1F5F9"/>
          </a:solidFill>
          <a:ln w="10160">
            <a:solidFill>
              <a:srgbClr val="E2E8F0"/>
            </a:solidFill>
            <a:prstDash val="solid"/>
          </a:ln>
        </p:spPr>
      </p:sp>
      <p:sp>
        <p:nvSpPr>
          <p:cNvPr id="23" name="Text 20"/>
          <p:cNvSpPr/>
          <p:nvPr/>
        </p:nvSpPr>
        <p:spPr>
          <a:xfrm>
            <a:off x="6446520" y="5623560"/>
            <a:ext cx="4846320" cy="384048"/>
          </a:xfrm>
          <a:prstGeom prst="rect">
            <a:avLst/>
          </a:prstGeom>
          <a:noFill/>
          <a:ln/>
        </p:spPr>
        <p:txBody>
          <a:bodyPr wrap="square" rtlCol="0" anchor="ctr"/>
          <a:lstStyle/>
          <a:p>
            <a:pPr indent="0" marL="0">
              <a:buNone/>
            </a:pPr>
            <a:r>
              <a:rPr lang="en-US" sz="850" b="1" dirty="0">
                <a:solidFill>
                  <a:srgbClr val="7E22CE"/>
                </a:solidFill>
              </a:rPr>
              <a:t>Satu kesilapan sintaks dalam sudoers boleh mengunci akses sistem!</a:t>
            </a:r>
            <a:endParaRPr lang="en-US" sz="850" dirty="0"/>
          </a:p>
        </p:txBody>
      </p:sp>
      <p:sp>
        <p:nvSpPr>
          <p:cNvPr id="24" name="Shape 21"/>
          <p:cNvSpPr/>
          <p:nvPr/>
        </p:nvSpPr>
        <p:spPr>
          <a:xfrm>
            <a:off x="640080" y="6400800"/>
            <a:ext cx="10881360" cy="0"/>
          </a:xfrm>
          <a:prstGeom prst="line">
            <a:avLst/>
          </a:prstGeom>
          <a:noFill/>
          <a:ln w="12700">
            <a:solidFill>
              <a:srgbClr val="E2E8F0"/>
            </a:solidFill>
            <a:prstDash val="solid"/>
          </a:ln>
        </p:spPr>
      </p:sp>
      <p:sp>
        <p:nvSpPr>
          <p:cNvPr id="25" name="Text 22"/>
          <p:cNvSpPr/>
          <p:nvPr/>
        </p:nvSpPr>
        <p:spPr>
          <a:xfrm>
            <a:off x="640080" y="6446520"/>
            <a:ext cx="4572000" cy="320040"/>
          </a:xfrm>
          <a:prstGeom prst="rect">
            <a:avLst/>
          </a:prstGeom>
          <a:noFill/>
          <a:ln/>
        </p:spPr>
        <p:txBody>
          <a:bodyPr wrap="square" rtlCol="0" anchor="ctr"/>
          <a:lstStyle/>
          <a:p>
            <a:pPr indent="0" marL="0">
              <a:buNone/>
            </a:pPr>
            <a:r>
              <a:rPr lang="en-US" sz="900" b="1" dirty="0">
                <a:solidFill>
                  <a:srgbClr val="64748B"/>
                </a:solidFill>
              </a:rPr>
              <a:t>Cognitoz BetaLab  |  Jabatan Kehakiman Malaysia (POJ)</a:t>
            </a:r>
            <a:endParaRPr lang="en-US" sz="900" dirty="0"/>
          </a:p>
        </p:txBody>
      </p:sp>
      <p:sp>
        <p:nvSpPr>
          <p:cNvPr id="26" name="Text 23"/>
          <p:cNvSpPr/>
          <p:nvPr/>
        </p:nvSpPr>
        <p:spPr>
          <a:xfrm>
            <a:off x="4389120" y="6446520"/>
            <a:ext cx="5029200" cy="320040"/>
          </a:xfrm>
          <a:prstGeom prst="rect">
            <a:avLst/>
          </a:prstGeom>
          <a:noFill/>
          <a:ln/>
        </p:spPr>
        <p:txBody>
          <a:bodyPr wrap="square" rtlCol="0" anchor="ctr"/>
          <a:lstStyle/>
          <a:p>
            <a:pPr algn="ctr" indent="0" marL="0">
              <a:buNone/>
            </a:pPr>
            <a:r>
              <a:rPr lang="en-US" sz="850" dirty="0">
                <a:solidFill>
                  <a:srgbClr val="64748B"/>
                </a:solidFill>
              </a:rPr>
              <a:t>Copyright © 2026 Cognitoz I.T Training Sdn Bhd — www.cognitoz.com</a:t>
            </a:r>
            <a:endParaRPr lang="en-US" sz="850" dirty="0"/>
          </a:p>
        </p:txBody>
      </p:sp>
      <p:sp>
        <p:nvSpPr>
          <p:cNvPr id="27" name="Text 24"/>
          <p:cNvSpPr/>
          <p:nvPr/>
        </p:nvSpPr>
        <p:spPr>
          <a:xfrm>
            <a:off x="9601200" y="6446520"/>
            <a:ext cx="1920240" cy="320040"/>
          </a:xfrm>
          <a:prstGeom prst="rect">
            <a:avLst/>
          </a:prstGeom>
          <a:noFill/>
          <a:ln/>
        </p:spPr>
        <p:txBody>
          <a:bodyPr wrap="square" rtlCol="0" anchor="ctr"/>
          <a:lstStyle/>
          <a:p>
            <a:pPr algn="r" indent="0" marL="0">
              <a:buNone/>
            </a:pPr>
            <a:r>
              <a:rPr lang="en-US" sz="900" b="1" dirty="0">
                <a:solidFill>
                  <a:srgbClr val="64748B"/>
                </a:solidFill>
              </a:rPr>
              <a:t>11 / 22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3044952" cy="54864"/>
          </a:xfrm>
          <a:prstGeom prst="rect">
            <a:avLst/>
          </a:prstGeom>
          <a:solidFill>
            <a:srgbClr val="7E22CE"/>
          </a:solidFill>
          <a:ln/>
        </p:spPr>
      </p:sp>
      <p:sp>
        <p:nvSpPr>
          <p:cNvPr id="3" name="Shape 1"/>
          <p:cNvSpPr/>
          <p:nvPr/>
        </p:nvSpPr>
        <p:spPr>
          <a:xfrm>
            <a:off x="3044952" y="0"/>
            <a:ext cx="3044952" cy="54864"/>
          </a:xfrm>
          <a:prstGeom prst="rect">
            <a:avLst/>
          </a:prstGeom>
          <a:solidFill>
            <a:srgbClr val="0078D4"/>
          </a:solidFill>
          <a:ln/>
        </p:spPr>
      </p:sp>
      <p:sp>
        <p:nvSpPr>
          <p:cNvPr id="4" name="Shape 2"/>
          <p:cNvSpPr/>
          <p:nvPr/>
        </p:nvSpPr>
        <p:spPr>
          <a:xfrm>
            <a:off x="6089904" y="0"/>
            <a:ext cx="3044952" cy="54864"/>
          </a:xfrm>
          <a:prstGeom prst="rect">
            <a:avLst/>
          </a:prstGeom>
          <a:solidFill>
            <a:srgbClr val="009E96"/>
          </a:solidFill>
          <a:ln/>
        </p:spPr>
      </p:sp>
      <p:sp>
        <p:nvSpPr>
          <p:cNvPr id="5" name="Shape 3"/>
          <p:cNvSpPr/>
          <p:nvPr/>
        </p:nvSpPr>
        <p:spPr>
          <a:xfrm>
            <a:off x="9134856" y="0"/>
            <a:ext cx="3054096" cy="54864"/>
          </a:xfrm>
          <a:prstGeom prst="rect">
            <a:avLst/>
          </a:prstGeom>
          <a:solidFill>
            <a:srgbClr val="D97706"/>
          </a:solidFill>
          <a:ln/>
        </p:spPr>
      </p:sp>
      <p:pic>
        <p:nvPicPr>
          <p:cNvPr id="6" name="Image 0" descr="D:/betalab.cognitoz.com/workshops/poj_centos/public/cognitoz-logo.png">    </p:cNvPr>
          <p:cNvPicPr>
            <a:picLocks noChangeAspect="1"/>
          </p:cNvPicPr>
          <p:nvPr/>
        </p:nvPicPr>
        <p:blipFill>
          <a:blip r:embed="rId1"/>
          <a:stretch>
            <a:fillRect/>
          </a:stretch>
        </p:blipFill>
        <p:spPr>
          <a:xfrm>
            <a:off x="640080" y="201168"/>
            <a:ext cx="1463040" cy="411480"/>
          </a:xfrm>
          <a:prstGeom prst="rect">
            <a:avLst/>
          </a:prstGeom>
        </p:spPr>
      </p:pic>
      <p:sp>
        <p:nvSpPr>
          <p:cNvPr id="7" name="Shape 4"/>
          <p:cNvSpPr/>
          <p:nvPr/>
        </p:nvSpPr>
        <p:spPr>
          <a:xfrm>
            <a:off x="7863840" y="228600"/>
            <a:ext cx="3657600" cy="347472"/>
          </a:xfrm>
          <a:prstGeom prst="roundRect">
            <a:avLst>
              <a:gd name="adj" fmla="val 47368"/>
            </a:avLst>
          </a:prstGeom>
          <a:solidFill>
            <a:srgbClr val="FFFFFF"/>
          </a:solidFill>
          <a:ln w="12700">
            <a:solidFill>
              <a:srgbClr val="E2E8F0"/>
            </a:solidFill>
            <a:prstDash val="solid"/>
          </a:ln>
        </p:spPr>
      </p:sp>
      <p:sp>
        <p:nvSpPr>
          <p:cNvPr id="8" name="Text 5"/>
          <p:cNvSpPr/>
          <p:nvPr/>
        </p:nvSpPr>
        <p:spPr>
          <a:xfrm>
            <a:off x="7863840" y="228600"/>
            <a:ext cx="3657600" cy="347472"/>
          </a:xfrm>
          <a:prstGeom prst="rect">
            <a:avLst/>
          </a:prstGeom>
          <a:noFill/>
          <a:ln/>
        </p:spPr>
        <p:txBody>
          <a:bodyPr wrap="square" rtlCol="0" anchor="ctr"/>
          <a:lstStyle/>
          <a:p>
            <a:pPr algn="ctr" indent="0" marL="0">
              <a:buNone/>
            </a:pPr>
            <a:r>
              <a:rPr lang="en-US" sz="900" b="1" dirty="0">
                <a:solidFill>
                  <a:srgbClr val="7E22CE"/>
                </a:solidFill>
              </a:rPr>
              <a:t>CentOS Stream 10  |  POJ Putrajaya</a:t>
            </a:r>
            <a:endParaRPr lang="en-US" sz="900" dirty="0"/>
          </a:p>
        </p:txBody>
      </p:sp>
      <p:sp>
        <p:nvSpPr>
          <p:cNvPr id="9" name="Text 6"/>
          <p:cNvSpPr/>
          <p:nvPr/>
        </p:nvSpPr>
        <p:spPr>
          <a:xfrm>
            <a:off x="640080" y="777240"/>
            <a:ext cx="10881360" cy="274320"/>
          </a:xfrm>
          <a:prstGeom prst="rect">
            <a:avLst/>
          </a:prstGeom>
          <a:noFill/>
          <a:ln/>
        </p:spPr>
        <p:txBody>
          <a:bodyPr wrap="square" rtlCol="0" anchor="ctr"/>
          <a:lstStyle/>
          <a:p>
            <a:pPr indent="0" marL="0">
              <a:buNone/>
            </a:pPr>
            <a:r>
              <a:rPr lang="en-US" sz="1000" b="1" spc="150" kern="0" dirty="0">
                <a:solidFill>
                  <a:srgbClr val="0078D4"/>
                </a:solidFill>
              </a:rPr>
              <a:t>DEMO MAKMAL 2 (BETALAB)</a:t>
            </a:r>
            <a:endParaRPr lang="en-US" sz="1000" dirty="0"/>
          </a:p>
        </p:txBody>
      </p:sp>
      <p:sp>
        <p:nvSpPr>
          <p:cNvPr id="10" name="Text 7"/>
          <p:cNvSpPr/>
          <p:nvPr/>
        </p:nvSpPr>
        <p:spPr>
          <a:xfrm>
            <a:off x="640080" y="1024128"/>
            <a:ext cx="10881360" cy="502920"/>
          </a:xfrm>
          <a:prstGeom prst="rect">
            <a:avLst/>
          </a:prstGeom>
          <a:noFill/>
          <a:ln/>
        </p:spPr>
        <p:txBody>
          <a:bodyPr wrap="square" rtlCol="0" anchor="ctr"/>
          <a:lstStyle/>
          <a:p>
            <a:pPr indent="0" marL="0">
              <a:buNone/>
            </a:pPr>
            <a:r>
              <a:rPr lang="en-US" sz="2100" b="1" dirty="0">
                <a:solidFill>
                  <a:srgbClr val="0F172A"/>
                </a:solidFill>
              </a:rPr>
              <a:t>Pengurusan Akaun &amp; Kuatkuasa Granular Sudo</a:t>
            </a:r>
            <a:endParaRPr lang="en-US" sz="2100" dirty="0"/>
          </a:p>
        </p:txBody>
      </p:sp>
      <p:sp>
        <p:nvSpPr>
          <p:cNvPr id="11" name="Text 8"/>
          <p:cNvSpPr/>
          <p:nvPr/>
        </p:nvSpPr>
        <p:spPr>
          <a:xfrm>
            <a:off x="640080" y="1536192"/>
            <a:ext cx="10881360" cy="320040"/>
          </a:xfrm>
          <a:prstGeom prst="rect">
            <a:avLst/>
          </a:prstGeom>
          <a:noFill/>
          <a:ln/>
        </p:spPr>
        <p:txBody>
          <a:bodyPr wrap="square" rtlCol="0" anchor="ctr"/>
          <a:lstStyle/>
          <a:p>
            <a:pPr indent="0" marL="0">
              <a:buNone/>
            </a:pPr>
            <a:r>
              <a:rPr lang="en-US" sz="1200" dirty="0">
                <a:solidFill>
                  <a:srgbClr val="64748B"/>
                </a:solidFill>
              </a:rPr>
              <a:t>Peralihan Terus ke Terminal Interaktif: Amali Berasaskan Senario Nyata</a:t>
            </a:r>
            <a:endParaRPr lang="en-US" sz="1200" dirty="0"/>
          </a:p>
        </p:txBody>
      </p:sp>
      <p:sp>
        <p:nvSpPr>
          <p:cNvPr id="12" name="Shape 9"/>
          <p:cNvSpPr/>
          <p:nvPr/>
        </p:nvSpPr>
        <p:spPr>
          <a:xfrm>
            <a:off x="640080" y="1920240"/>
            <a:ext cx="5303520" cy="4023360"/>
          </a:xfrm>
          <a:prstGeom prst="roundRect">
            <a:avLst>
              <a:gd name="adj" fmla="val 3409"/>
            </a:avLst>
          </a:prstGeom>
          <a:solidFill>
            <a:srgbClr val="FFFFFF"/>
          </a:solidFill>
          <a:ln w="19050">
            <a:solidFill>
              <a:srgbClr val="BAE6FD"/>
            </a:solidFill>
            <a:prstDash val="solid"/>
          </a:ln>
        </p:spPr>
      </p:sp>
      <p:sp>
        <p:nvSpPr>
          <p:cNvPr id="13" name="Shape 10"/>
          <p:cNvSpPr/>
          <p:nvPr/>
        </p:nvSpPr>
        <p:spPr>
          <a:xfrm>
            <a:off x="640080" y="1920240"/>
            <a:ext cx="5303520" cy="411480"/>
          </a:xfrm>
          <a:prstGeom prst="roundRect">
            <a:avLst>
              <a:gd name="adj" fmla="val 33333"/>
            </a:avLst>
          </a:prstGeom>
          <a:solidFill>
            <a:srgbClr val="E0F2FE"/>
          </a:solidFill>
          <a:ln w="12700">
            <a:solidFill>
              <a:srgbClr val="BAE6FD"/>
            </a:solidFill>
            <a:prstDash val="solid"/>
          </a:ln>
        </p:spPr>
      </p:sp>
      <p:sp>
        <p:nvSpPr>
          <p:cNvPr id="14" name="Text 11"/>
          <p:cNvSpPr/>
          <p:nvPr/>
        </p:nvSpPr>
        <p:spPr>
          <a:xfrm>
            <a:off x="822960" y="1965960"/>
            <a:ext cx="4937760" cy="320040"/>
          </a:xfrm>
          <a:prstGeom prst="rect">
            <a:avLst/>
          </a:prstGeom>
          <a:noFill/>
          <a:ln/>
        </p:spPr>
        <p:txBody>
          <a:bodyPr wrap="square" rtlCol="0" anchor="ctr"/>
          <a:lstStyle/>
          <a:p>
            <a:pPr indent="0" marL="0">
              <a:buNone/>
            </a:pPr>
            <a:r>
              <a:rPr lang="en-US" sz="1000" b="1" dirty="0">
                <a:solidFill>
                  <a:srgbClr val="0369A1"/>
                </a:solidFill>
              </a:rPr>
              <a:t>ARAHAN TERMINAL BETALAB (LANGKAH 2)</a:t>
            </a:r>
            <a:endParaRPr lang="en-US" sz="1000" dirty="0"/>
          </a:p>
        </p:txBody>
      </p:sp>
      <p:sp>
        <p:nvSpPr>
          <p:cNvPr id="15" name="Text 12"/>
          <p:cNvSpPr/>
          <p:nvPr/>
        </p:nvSpPr>
        <p:spPr>
          <a:xfrm>
            <a:off x="822960" y="2423160"/>
            <a:ext cx="4937760" cy="3291840"/>
          </a:xfrm>
          <a:prstGeom prst="rect">
            <a:avLst/>
          </a:prstGeom>
          <a:noFill/>
          <a:ln/>
        </p:spPr>
        <p:txBody>
          <a:bodyPr wrap="square" rtlCol="0" anchor="t"/>
          <a:lstStyle/>
          <a:p>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1.  sudo groupadd kehakiman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2.  sudo useradd -m -G kehakiman audit_user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3.  sudo chmod 2770 /opt/poj/dokumen_kehakiman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4.  sudo chown root:kehakiman /opt/poj/dokumen_kehakiman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5.  echo "audit_user ALL=(ALL) NOPASSWD: /bin/journalctl" | sudo tee /etc/sudoers.d/audit_user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6.  sudo chmod 0440 /etc/sudoers.d/audit_user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7.  sudo -u audit_user sudo -l
</a:t>
            </a:r>
            <a:endParaRPr lang="en-US" sz="950" dirty="0"/>
          </a:p>
        </p:txBody>
      </p:sp>
      <p:sp>
        <p:nvSpPr>
          <p:cNvPr id="16" name="Shape 13"/>
          <p:cNvSpPr/>
          <p:nvPr/>
        </p:nvSpPr>
        <p:spPr>
          <a:xfrm>
            <a:off x="6217920" y="1920240"/>
            <a:ext cx="5303520" cy="4023360"/>
          </a:xfrm>
          <a:prstGeom prst="roundRect">
            <a:avLst>
              <a:gd name="adj" fmla="val 3409"/>
            </a:avLst>
          </a:prstGeom>
          <a:solidFill>
            <a:srgbClr val="FFFFFF"/>
          </a:solidFill>
          <a:ln w="19050">
            <a:solidFill>
              <a:srgbClr val="BBF7D0"/>
            </a:solidFill>
            <a:prstDash val="solid"/>
          </a:ln>
        </p:spPr>
      </p:sp>
      <p:sp>
        <p:nvSpPr>
          <p:cNvPr id="17" name="Shape 14"/>
          <p:cNvSpPr/>
          <p:nvPr/>
        </p:nvSpPr>
        <p:spPr>
          <a:xfrm>
            <a:off x="6217920" y="1920240"/>
            <a:ext cx="5303520" cy="411480"/>
          </a:xfrm>
          <a:prstGeom prst="roundRect">
            <a:avLst>
              <a:gd name="adj" fmla="val 33333"/>
            </a:avLst>
          </a:prstGeom>
          <a:solidFill>
            <a:srgbClr val="DCFCE7"/>
          </a:solidFill>
          <a:ln w="12700">
            <a:solidFill>
              <a:srgbClr val="BBF7D0"/>
            </a:solidFill>
            <a:prstDash val="solid"/>
          </a:ln>
        </p:spPr>
      </p:sp>
      <p:sp>
        <p:nvSpPr>
          <p:cNvPr id="18" name="Text 15"/>
          <p:cNvSpPr/>
          <p:nvPr/>
        </p:nvSpPr>
        <p:spPr>
          <a:xfrm>
            <a:off x="6400800" y="1965960"/>
            <a:ext cx="4937760" cy="320040"/>
          </a:xfrm>
          <a:prstGeom prst="rect">
            <a:avLst/>
          </a:prstGeom>
          <a:noFill/>
          <a:ln/>
        </p:spPr>
        <p:txBody>
          <a:bodyPr wrap="square" rtlCol="0" anchor="ctr"/>
          <a:lstStyle/>
          <a:p>
            <a:pPr indent="0" marL="0">
              <a:buNone/>
            </a:pPr>
            <a:r>
              <a:rPr lang="en-US" sz="1000" b="1" dirty="0">
                <a:solidFill>
                  <a:srgbClr val="15803D"/>
                </a:solidFill>
              </a:rPr>
              <a:t>TITIK PEMERHATIAN &amp; VERIFIKASI BUKTI</a:t>
            </a:r>
            <a:endParaRPr lang="en-US" sz="1000" dirty="0"/>
          </a:p>
        </p:txBody>
      </p:sp>
      <p:sp>
        <p:nvSpPr>
          <p:cNvPr id="19" name="Text 16"/>
          <p:cNvSpPr/>
          <p:nvPr/>
        </p:nvSpPr>
        <p:spPr>
          <a:xfrm>
            <a:off x="6400800" y="2423160"/>
            <a:ext cx="4937760" cy="2468880"/>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Akaun audit_user didaftarkan dan dimasukkan ke kumpulan kehakiman.</a:t>
            </a:r>
            <a:endParaRPr lang="en-US" sz="950" dirty="0"/>
          </a:p>
          <a:p>
            <a:pPr marL="342900" indent="-342900">
              <a:lnSpc>
                <a:spcPts val="1400"/>
              </a:lnSpc>
              <a:buSzPct val="100000"/>
              <a:buChar char="•"/>
            </a:pPr>
            <a:r>
              <a:rPr lang="en-US" sz="950" dirty="0">
                <a:solidFill>
                  <a:srgbClr val="334155"/>
                </a:solidFill>
              </a:rPr>
              <a:t>Direktori dokumen mempunyai atribut permissions: drwxrws---.</a:t>
            </a:r>
            <a:endParaRPr lang="en-US" sz="950" dirty="0"/>
          </a:p>
          <a:p>
            <a:pPr marL="342900" indent="-342900">
              <a:lnSpc>
                <a:spcPts val="1400"/>
              </a:lnSpc>
              <a:buSzPct val="100000"/>
              <a:buChar char="•"/>
            </a:pPr>
            <a:r>
              <a:rPr lang="en-US" sz="950" dirty="0">
                <a:solidFill>
                  <a:srgbClr val="334155"/>
                </a:solidFill>
              </a:rPr>
              <a:t>Ujian sudo -l bagi audit_user membuktikan kebenaran terhad kepada /bin/journalctl sahaja.</a:t>
            </a:r>
            <a:endParaRPr lang="en-US" sz="950" dirty="0"/>
          </a:p>
          <a:p>
            <a:pPr marL="342900" indent="-342900">
              <a:lnSpc>
                <a:spcPts val="1400"/>
              </a:lnSpc>
              <a:buSzPct val="100000"/>
              <a:buChar char="•"/>
            </a:pPr>
            <a:r>
              <a:rPr lang="en-US" sz="950" dirty="0">
                <a:solidFill>
                  <a:srgbClr val="334155"/>
                </a:solidFill>
              </a:rPr>
              <a:t>Percubaan menjalankan arahan selain yang dibenarkan akan ditolak oleh sudo.</a:t>
            </a:r>
            <a:endParaRPr lang="en-US" sz="950" dirty="0"/>
          </a:p>
        </p:txBody>
      </p:sp>
      <p:sp>
        <p:nvSpPr>
          <p:cNvPr id="20" name="Shape 17"/>
          <p:cNvSpPr/>
          <p:nvPr/>
        </p:nvSpPr>
        <p:spPr>
          <a:xfrm>
            <a:off x="6400800" y="5029200"/>
            <a:ext cx="4937760" cy="685800"/>
          </a:xfrm>
          <a:prstGeom prst="roundRect">
            <a:avLst>
              <a:gd name="adj" fmla="val 13333"/>
            </a:avLst>
          </a:prstGeom>
          <a:solidFill>
            <a:srgbClr val="F0FDF4"/>
          </a:solidFill>
          <a:ln w="12700">
            <a:solidFill>
              <a:srgbClr val="86EFAC"/>
            </a:solidFill>
            <a:prstDash val="solid"/>
          </a:ln>
        </p:spPr>
      </p:sp>
      <p:sp>
        <p:nvSpPr>
          <p:cNvPr id="21" name="Text 18"/>
          <p:cNvSpPr/>
          <p:nvPr/>
        </p:nvSpPr>
        <p:spPr>
          <a:xfrm>
            <a:off x="6537960" y="5029200"/>
            <a:ext cx="4663440" cy="685800"/>
          </a:xfrm>
          <a:prstGeom prst="rect">
            <a:avLst/>
          </a:prstGeom>
          <a:noFill/>
          <a:ln/>
        </p:spPr>
        <p:txBody>
          <a:bodyPr wrap="square" rtlCol="0" anchor="ctr"/>
          <a:lstStyle/>
          <a:p>
            <a:pPr indent="0" marL="0">
              <a:buNone/>
            </a:pPr>
            <a:r>
              <a:rPr lang="en-US" sz="900" b="1" dirty="0">
                <a:solidFill>
                  <a:srgbClr val="166534"/>
                </a:solidFill>
              </a:rPr>
              <a:t>HASIL &amp; BUKTI: Penguatkuasaan RBAC dan SetGID berjaya disahkan melalui bukti audit sudo.</a:t>
            </a:r>
            <a:endParaRPr lang="en-US" sz="900" dirty="0"/>
          </a:p>
        </p:txBody>
      </p:sp>
      <p:sp>
        <p:nvSpPr>
          <p:cNvPr id="22" name="Shape 19"/>
          <p:cNvSpPr/>
          <p:nvPr/>
        </p:nvSpPr>
        <p:spPr>
          <a:xfrm>
            <a:off x="640080" y="6400800"/>
            <a:ext cx="10881360" cy="0"/>
          </a:xfrm>
          <a:prstGeom prst="line">
            <a:avLst/>
          </a:prstGeom>
          <a:noFill/>
          <a:ln w="12700">
            <a:solidFill>
              <a:srgbClr val="E2E8F0"/>
            </a:solidFill>
            <a:prstDash val="solid"/>
          </a:ln>
        </p:spPr>
      </p:sp>
      <p:sp>
        <p:nvSpPr>
          <p:cNvPr id="23" name="Text 20"/>
          <p:cNvSpPr/>
          <p:nvPr/>
        </p:nvSpPr>
        <p:spPr>
          <a:xfrm>
            <a:off x="640080" y="6446520"/>
            <a:ext cx="4572000" cy="320040"/>
          </a:xfrm>
          <a:prstGeom prst="rect">
            <a:avLst/>
          </a:prstGeom>
          <a:noFill/>
          <a:ln/>
        </p:spPr>
        <p:txBody>
          <a:bodyPr wrap="square" rtlCol="0" anchor="ctr"/>
          <a:lstStyle/>
          <a:p>
            <a:pPr indent="0" marL="0">
              <a:buNone/>
            </a:pPr>
            <a:r>
              <a:rPr lang="en-US" sz="900" b="1" dirty="0">
                <a:solidFill>
                  <a:srgbClr val="64748B"/>
                </a:solidFill>
              </a:rPr>
              <a:t>Cognitoz BetaLab  |  Jabatan Kehakiman Malaysia (POJ)</a:t>
            </a:r>
            <a:endParaRPr lang="en-US" sz="900" dirty="0"/>
          </a:p>
        </p:txBody>
      </p:sp>
      <p:sp>
        <p:nvSpPr>
          <p:cNvPr id="24" name="Text 21"/>
          <p:cNvSpPr/>
          <p:nvPr/>
        </p:nvSpPr>
        <p:spPr>
          <a:xfrm>
            <a:off x="4389120" y="6446520"/>
            <a:ext cx="5029200" cy="320040"/>
          </a:xfrm>
          <a:prstGeom prst="rect">
            <a:avLst/>
          </a:prstGeom>
          <a:noFill/>
          <a:ln/>
        </p:spPr>
        <p:txBody>
          <a:bodyPr wrap="square" rtlCol="0" anchor="ctr"/>
          <a:lstStyle/>
          <a:p>
            <a:pPr algn="ctr" indent="0" marL="0">
              <a:buNone/>
            </a:pPr>
            <a:r>
              <a:rPr lang="en-US" sz="850" dirty="0">
                <a:solidFill>
                  <a:srgbClr val="64748B"/>
                </a:solidFill>
              </a:rPr>
              <a:t>Copyright © 2026 Cognitoz I.T Training Sdn Bhd — www.cognitoz.com</a:t>
            </a:r>
            <a:endParaRPr lang="en-US" sz="850" dirty="0"/>
          </a:p>
        </p:txBody>
      </p:sp>
      <p:sp>
        <p:nvSpPr>
          <p:cNvPr id="25" name="Text 22"/>
          <p:cNvSpPr/>
          <p:nvPr/>
        </p:nvSpPr>
        <p:spPr>
          <a:xfrm>
            <a:off x="9601200" y="6446520"/>
            <a:ext cx="1920240" cy="320040"/>
          </a:xfrm>
          <a:prstGeom prst="rect">
            <a:avLst/>
          </a:prstGeom>
          <a:noFill/>
          <a:ln/>
        </p:spPr>
        <p:txBody>
          <a:bodyPr wrap="square" rtlCol="0" anchor="ctr"/>
          <a:lstStyle/>
          <a:p>
            <a:pPr algn="r" indent="0" marL="0">
              <a:buNone/>
            </a:pPr>
            <a:r>
              <a:rPr lang="en-US" sz="900" b="1" dirty="0">
                <a:solidFill>
                  <a:srgbClr val="64748B"/>
                </a:solidFill>
              </a:rPr>
              <a:t>12 / 22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3044952" cy="54864"/>
          </a:xfrm>
          <a:prstGeom prst="rect">
            <a:avLst/>
          </a:prstGeom>
          <a:solidFill>
            <a:srgbClr val="7E22CE"/>
          </a:solidFill>
          <a:ln/>
        </p:spPr>
      </p:sp>
      <p:sp>
        <p:nvSpPr>
          <p:cNvPr id="3" name="Shape 1"/>
          <p:cNvSpPr/>
          <p:nvPr/>
        </p:nvSpPr>
        <p:spPr>
          <a:xfrm>
            <a:off x="3044952" y="0"/>
            <a:ext cx="3044952" cy="54864"/>
          </a:xfrm>
          <a:prstGeom prst="rect">
            <a:avLst/>
          </a:prstGeom>
          <a:solidFill>
            <a:srgbClr val="0078D4"/>
          </a:solidFill>
          <a:ln/>
        </p:spPr>
      </p:sp>
      <p:sp>
        <p:nvSpPr>
          <p:cNvPr id="4" name="Shape 2"/>
          <p:cNvSpPr/>
          <p:nvPr/>
        </p:nvSpPr>
        <p:spPr>
          <a:xfrm>
            <a:off x="6089904" y="0"/>
            <a:ext cx="3044952" cy="54864"/>
          </a:xfrm>
          <a:prstGeom prst="rect">
            <a:avLst/>
          </a:prstGeom>
          <a:solidFill>
            <a:srgbClr val="009E96"/>
          </a:solidFill>
          <a:ln/>
        </p:spPr>
      </p:sp>
      <p:sp>
        <p:nvSpPr>
          <p:cNvPr id="5" name="Shape 3"/>
          <p:cNvSpPr/>
          <p:nvPr/>
        </p:nvSpPr>
        <p:spPr>
          <a:xfrm>
            <a:off x="9134856" y="0"/>
            <a:ext cx="3054096" cy="54864"/>
          </a:xfrm>
          <a:prstGeom prst="rect">
            <a:avLst/>
          </a:prstGeom>
          <a:solidFill>
            <a:srgbClr val="D97706"/>
          </a:solidFill>
          <a:ln/>
        </p:spPr>
      </p:sp>
      <p:pic>
        <p:nvPicPr>
          <p:cNvPr id="6" name="Image 0" descr="D:/betalab.cognitoz.com/workshops/poj_centos/public/cognitoz-logo.png">    </p:cNvPr>
          <p:cNvPicPr>
            <a:picLocks noChangeAspect="1"/>
          </p:cNvPicPr>
          <p:nvPr/>
        </p:nvPicPr>
        <p:blipFill>
          <a:blip r:embed="rId1"/>
          <a:stretch>
            <a:fillRect/>
          </a:stretch>
        </p:blipFill>
        <p:spPr>
          <a:xfrm>
            <a:off x="640080" y="201168"/>
            <a:ext cx="1463040" cy="411480"/>
          </a:xfrm>
          <a:prstGeom prst="rect">
            <a:avLst/>
          </a:prstGeom>
        </p:spPr>
      </p:pic>
      <p:sp>
        <p:nvSpPr>
          <p:cNvPr id="7" name="Shape 4"/>
          <p:cNvSpPr/>
          <p:nvPr/>
        </p:nvSpPr>
        <p:spPr>
          <a:xfrm>
            <a:off x="7863840" y="228600"/>
            <a:ext cx="3657600" cy="347472"/>
          </a:xfrm>
          <a:prstGeom prst="roundRect">
            <a:avLst>
              <a:gd name="adj" fmla="val 47368"/>
            </a:avLst>
          </a:prstGeom>
          <a:solidFill>
            <a:srgbClr val="FFFFFF"/>
          </a:solidFill>
          <a:ln w="12700">
            <a:solidFill>
              <a:srgbClr val="E2E8F0"/>
            </a:solidFill>
            <a:prstDash val="solid"/>
          </a:ln>
        </p:spPr>
      </p:sp>
      <p:sp>
        <p:nvSpPr>
          <p:cNvPr id="8" name="Text 5"/>
          <p:cNvSpPr/>
          <p:nvPr/>
        </p:nvSpPr>
        <p:spPr>
          <a:xfrm>
            <a:off x="7863840" y="228600"/>
            <a:ext cx="3657600" cy="347472"/>
          </a:xfrm>
          <a:prstGeom prst="rect">
            <a:avLst/>
          </a:prstGeom>
          <a:noFill/>
          <a:ln/>
        </p:spPr>
        <p:txBody>
          <a:bodyPr wrap="square" rtlCol="0" anchor="ctr"/>
          <a:lstStyle/>
          <a:p>
            <a:pPr algn="ctr" indent="0" marL="0">
              <a:buNone/>
            </a:pPr>
            <a:r>
              <a:rPr lang="en-US" sz="900" b="1" dirty="0">
                <a:solidFill>
                  <a:srgbClr val="7E22CE"/>
                </a:solidFill>
              </a:rPr>
              <a:t>CentOS Stream 10  |  POJ Putrajaya</a:t>
            </a:r>
            <a:endParaRPr lang="en-US" sz="900" dirty="0"/>
          </a:p>
        </p:txBody>
      </p:sp>
      <p:sp>
        <p:nvSpPr>
          <p:cNvPr id="9" name="Text 6"/>
          <p:cNvSpPr/>
          <p:nvPr/>
        </p:nvSpPr>
        <p:spPr>
          <a:xfrm>
            <a:off x="640080" y="777240"/>
            <a:ext cx="10881360" cy="274320"/>
          </a:xfrm>
          <a:prstGeom prst="rect">
            <a:avLst/>
          </a:prstGeom>
          <a:noFill/>
          <a:ln/>
        </p:spPr>
        <p:txBody>
          <a:bodyPr wrap="square" rtlCol="0" anchor="ctr"/>
          <a:lstStyle/>
          <a:p>
            <a:pPr indent="0" marL="0">
              <a:buNone/>
            </a:pPr>
            <a:r>
              <a:rPr lang="en-US" sz="1000" b="1" spc="150" kern="0" dirty="0">
                <a:solidFill>
                  <a:srgbClr val="0078D4"/>
                </a:solidFill>
              </a:rPr>
              <a:t>MODUL 3: PENGURUSAN STORAN</a:t>
            </a:r>
            <a:endParaRPr lang="en-US" sz="1000" dirty="0"/>
          </a:p>
        </p:txBody>
      </p:sp>
      <p:sp>
        <p:nvSpPr>
          <p:cNvPr id="10" name="Text 7"/>
          <p:cNvSpPr/>
          <p:nvPr/>
        </p:nvSpPr>
        <p:spPr>
          <a:xfrm>
            <a:off x="640080" y="1024128"/>
            <a:ext cx="10881360" cy="502920"/>
          </a:xfrm>
          <a:prstGeom prst="rect">
            <a:avLst/>
          </a:prstGeom>
          <a:noFill/>
          <a:ln/>
        </p:spPr>
        <p:txBody>
          <a:bodyPr wrap="square" rtlCol="0" anchor="ctr"/>
          <a:lstStyle/>
          <a:p>
            <a:pPr indent="0" marL="0">
              <a:buNone/>
            </a:pPr>
            <a:r>
              <a:rPr lang="en-US" sz="2100" b="1" dirty="0">
                <a:solidFill>
                  <a:srgbClr val="0F172A"/>
                </a:solidFill>
              </a:rPr>
              <a:t>Seni Bina Storan Dinamik (LVM)</a:t>
            </a:r>
            <a:endParaRPr lang="en-US" sz="2100" dirty="0"/>
          </a:p>
        </p:txBody>
      </p:sp>
      <p:sp>
        <p:nvSpPr>
          <p:cNvPr id="11" name="Text 8"/>
          <p:cNvSpPr/>
          <p:nvPr/>
        </p:nvSpPr>
        <p:spPr>
          <a:xfrm>
            <a:off x="640080" y="1536192"/>
            <a:ext cx="10881360" cy="320040"/>
          </a:xfrm>
          <a:prstGeom prst="rect">
            <a:avLst/>
          </a:prstGeom>
          <a:noFill/>
          <a:ln/>
        </p:spPr>
        <p:txBody>
          <a:bodyPr wrap="square" rtlCol="0" anchor="ctr"/>
          <a:lstStyle/>
          <a:p>
            <a:pPr indent="0" marL="0">
              <a:buNone/>
            </a:pPr>
            <a:r>
              <a:rPr lang="en-US" sz="1200" dirty="0">
                <a:solidFill>
                  <a:srgbClr val="64748B"/>
                </a:solidFill>
              </a:rPr>
              <a:t>Lapisan Abstraksi Storan Fleksibel untuk Pusat Data Perusahaan</a:t>
            </a:r>
            <a:endParaRPr lang="en-US" sz="1200" dirty="0"/>
          </a:p>
        </p:txBody>
      </p:sp>
      <p:sp>
        <p:nvSpPr>
          <p:cNvPr id="12" name="Shape 9"/>
          <p:cNvSpPr/>
          <p:nvPr/>
        </p:nvSpPr>
        <p:spPr>
          <a:xfrm>
            <a:off x="640080" y="1920240"/>
            <a:ext cx="3383280" cy="4206240"/>
          </a:xfrm>
          <a:prstGeom prst="roundRect">
            <a:avLst>
              <a:gd name="adj" fmla="val 4054"/>
            </a:avLst>
          </a:prstGeom>
          <a:solidFill>
            <a:srgbClr val="FFFFFF"/>
          </a:solidFill>
          <a:ln w="12700">
            <a:solidFill>
              <a:srgbClr val="E2E8F0"/>
            </a:solidFill>
            <a:prstDash val="solid"/>
          </a:ln>
        </p:spPr>
      </p:sp>
      <p:sp>
        <p:nvSpPr>
          <p:cNvPr id="13" name="Shape 10"/>
          <p:cNvSpPr/>
          <p:nvPr/>
        </p:nvSpPr>
        <p:spPr>
          <a:xfrm>
            <a:off x="640080" y="1920240"/>
            <a:ext cx="3383280" cy="73152"/>
          </a:xfrm>
          <a:prstGeom prst="roundRect">
            <a:avLst>
              <a:gd name="adj" fmla="val 50000"/>
            </a:avLst>
          </a:prstGeom>
          <a:solidFill>
            <a:srgbClr val="0078D4"/>
          </a:solidFill>
          <a:ln w="12700">
            <a:solidFill>
              <a:srgbClr val="0078D4"/>
            </a:solidFill>
            <a:prstDash val="solid"/>
          </a:ln>
        </p:spPr>
      </p:sp>
      <p:sp>
        <p:nvSpPr>
          <p:cNvPr id="14" name="Text 11"/>
          <p:cNvSpPr/>
          <p:nvPr/>
        </p:nvSpPr>
        <p:spPr>
          <a:xfrm>
            <a:off x="868680" y="2103120"/>
            <a:ext cx="2926080" cy="320040"/>
          </a:xfrm>
          <a:prstGeom prst="rect">
            <a:avLst/>
          </a:prstGeom>
          <a:noFill/>
          <a:ln/>
        </p:spPr>
        <p:txBody>
          <a:bodyPr wrap="square" rtlCol="0" anchor="ctr"/>
          <a:lstStyle/>
          <a:p>
            <a:pPr indent="0" marL="0">
              <a:buNone/>
            </a:pPr>
            <a:r>
              <a:rPr lang="en-US" sz="1200" b="1" dirty="0">
                <a:solidFill>
                  <a:srgbClr val="0078D4"/>
                </a:solidFill>
              </a:rPr>
              <a:t>1. Physical Volume (PV)</a:t>
            </a:r>
            <a:endParaRPr lang="en-US" sz="1200" dirty="0"/>
          </a:p>
        </p:txBody>
      </p:sp>
      <p:sp>
        <p:nvSpPr>
          <p:cNvPr id="15" name="Text 12"/>
          <p:cNvSpPr/>
          <p:nvPr/>
        </p:nvSpPr>
        <p:spPr>
          <a:xfrm>
            <a:off x="868680" y="2450592"/>
            <a:ext cx="2926080" cy="3127248"/>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Cakera fizikal atau partisyen sebenar (cth: /dev/sdb, /dev/nvme0n1).</a:t>
            </a:r>
            <a:endParaRPr lang="en-US" sz="950" dirty="0"/>
          </a:p>
          <a:p>
            <a:pPr marL="342900" indent="-342900">
              <a:lnSpc>
                <a:spcPts val="1400"/>
              </a:lnSpc>
              <a:buSzPct val="100000"/>
              <a:buChar char="•"/>
            </a:pPr>
            <a:r>
              <a:rPr lang="en-US" sz="950" dirty="0">
                <a:solidFill>
                  <a:srgbClr val="334155"/>
                </a:solidFill>
              </a:rPr>
              <a:t>Diinisialisasikan dengan perintah: pvcreate /dev/sdb</a:t>
            </a:r>
            <a:endParaRPr lang="en-US" sz="950" dirty="0"/>
          </a:p>
          <a:p>
            <a:pPr marL="342900" indent="-342900">
              <a:lnSpc>
                <a:spcPts val="1400"/>
              </a:lnSpc>
              <a:buSzPct val="100000"/>
              <a:buChar char="•"/>
            </a:pPr>
            <a:r>
              <a:rPr lang="en-US" sz="950" dirty="0">
                <a:solidFill>
                  <a:srgbClr val="334155"/>
                </a:solidFill>
              </a:rPr>
              <a:t>Dibahagikan kepada blok kecil dipanggil Physical Extents (PE), biasanya bersaiz 4MB.</a:t>
            </a:r>
            <a:endParaRPr lang="en-US" sz="950" dirty="0"/>
          </a:p>
          <a:p>
            <a:pPr marL="342900" indent="-342900">
              <a:lnSpc>
                <a:spcPts val="1400"/>
              </a:lnSpc>
              <a:buSzPct val="100000"/>
              <a:buChar char="•"/>
            </a:pPr>
            <a:r>
              <a:rPr lang="en-US" sz="950" dirty="0">
                <a:solidFill>
                  <a:srgbClr val="334155"/>
                </a:solidFill>
              </a:rPr>
              <a:t>Asas kepada penggabungan beberapa cakera fizikal menjadi satu kolam storan.</a:t>
            </a:r>
            <a:endParaRPr lang="en-US" sz="950" dirty="0"/>
          </a:p>
        </p:txBody>
      </p:sp>
      <p:sp>
        <p:nvSpPr>
          <p:cNvPr id="16" name="Shape 13"/>
          <p:cNvSpPr/>
          <p:nvPr/>
        </p:nvSpPr>
        <p:spPr>
          <a:xfrm>
            <a:off x="822960" y="5623560"/>
            <a:ext cx="3017520" cy="384048"/>
          </a:xfrm>
          <a:prstGeom prst="roundRect">
            <a:avLst>
              <a:gd name="adj" fmla="val 19048"/>
            </a:avLst>
          </a:prstGeom>
          <a:solidFill>
            <a:srgbClr val="F1F5F9"/>
          </a:solidFill>
          <a:ln w="10160">
            <a:solidFill>
              <a:srgbClr val="E2E8F0"/>
            </a:solidFill>
            <a:prstDash val="solid"/>
          </a:ln>
        </p:spPr>
      </p:sp>
      <p:sp>
        <p:nvSpPr>
          <p:cNvPr id="17" name="Text 14"/>
          <p:cNvSpPr/>
          <p:nvPr/>
        </p:nvSpPr>
        <p:spPr>
          <a:xfrm>
            <a:off x="868680" y="5623560"/>
            <a:ext cx="2926080" cy="384048"/>
          </a:xfrm>
          <a:prstGeom prst="rect">
            <a:avLst/>
          </a:prstGeom>
          <a:noFill/>
          <a:ln/>
        </p:spPr>
        <p:txBody>
          <a:bodyPr wrap="square" rtlCol="0" anchor="ctr"/>
          <a:lstStyle/>
          <a:p>
            <a:pPr indent="0" marL="0">
              <a:buNone/>
            </a:pPr>
            <a:r>
              <a:rPr lang="en-US" sz="850" b="1" dirty="0">
                <a:solidFill>
                  <a:srgbClr val="0078D4"/>
                </a:solidFill>
              </a:rPr>
              <a:t>Semak dengan: pvs atau pvdisplay</a:t>
            </a:r>
            <a:endParaRPr lang="en-US" sz="850" dirty="0"/>
          </a:p>
        </p:txBody>
      </p:sp>
      <p:sp>
        <p:nvSpPr>
          <p:cNvPr id="18" name="Shape 15"/>
          <p:cNvSpPr/>
          <p:nvPr/>
        </p:nvSpPr>
        <p:spPr>
          <a:xfrm>
            <a:off x="4389120" y="1920240"/>
            <a:ext cx="3383280" cy="4206240"/>
          </a:xfrm>
          <a:prstGeom prst="roundRect">
            <a:avLst>
              <a:gd name="adj" fmla="val 4054"/>
            </a:avLst>
          </a:prstGeom>
          <a:solidFill>
            <a:srgbClr val="FFFFFF"/>
          </a:solidFill>
          <a:ln w="12700">
            <a:solidFill>
              <a:srgbClr val="E2E8F0"/>
            </a:solidFill>
            <a:prstDash val="solid"/>
          </a:ln>
        </p:spPr>
      </p:sp>
      <p:sp>
        <p:nvSpPr>
          <p:cNvPr id="19" name="Shape 16"/>
          <p:cNvSpPr/>
          <p:nvPr/>
        </p:nvSpPr>
        <p:spPr>
          <a:xfrm>
            <a:off x="4389120" y="1920240"/>
            <a:ext cx="3383280" cy="73152"/>
          </a:xfrm>
          <a:prstGeom prst="roundRect">
            <a:avLst>
              <a:gd name="adj" fmla="val 50000"/>
            </a:avLst>
          </a:prstGeom>
          <a:solidFill>
            <a:srgbClr val="009E96"/>
          </a:solidFill>
          <a:ln w="12700">
            <a:solidFill>
              <a:srgbClr val="009E96"/>
            </a:solidFill>
            <a:prstDash val="solid"/>
          </a:ln>
        </p:spPr>
      </p:sp>
      <p:sp>
        <p:nvSpPr>
          <p:cNvPr id="20" name="Text 17"/>
          <p:cNvSpPr/>
          <p:nvPr/>
        </p:nvSpPr>
        <p:spPr>
          <a:xfrm>
            <a:off x="4617720" y="2103120"/>
            <a:ext cx="2926080" cy="320040"/>
          </a:xfrm>
          <a:prstGeom prst="rect">
            <a:avLst/>
          </a:prstGeom>
          <a:noFill/>
          <a:ln/>
        </p:spPr>
        <p:txBody>
          <a:bodyPr wrap="square" rtlCol="0" anchor="ctr"/>
          <a:lstStyle/>
          <a:p>
            <a:pPr indent="0" marL="0">
              <a:buNone/>
            </a:pPr>
            <a:r>
              <a:rPr lang="en-US" sz="1200" b="1" dirty="0">
                <a:solidFill>
                  <a:srgbClr val="009E96"/>
                </a:solidFill>
              </a:rPr>
              <a:t>2. Volume Group (VG)</a:t>
            </a:r>
            <a:endParaRPr lang="en-US" sz="1200" dirty="0"/>
          </a:p>
        </p:txBody>
      </p:sp>
      <p:sp>
        <p:nvSpPr>
          <p:cNvPr id="21" name="Text 18"/>
          <p:cNvSpPr/>
          <p:nvPr/>
        </p:nvSpPr>
        <p:spPr>
          <a:xfrm>
            <a:off x="4617720" y="2450592"/>
            <a:ext cx="2926080" cy="3127248"/>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Kolam storan (storage pool) yang menggabungkan satu atau lebih PV.</a:t>
            </a:r>
            <a:endParaRPr lang="en-US" sz="950" dirty="0"/>
          </a:p>
          <a:p>
            <a:pPr marL="342900" indent="-342900">
              <a:lnSpc>
                <a:spcPts val="1400"/>
              </a:lnSpc>
              <a:buSzPct val="100000"/>
              <a:buChar char="•"/>
            </a:pPr>
            <a:r>
              <a:rPr lang="en-US" sz="950" dirty="0">
                <a:solidFill>
                  <a:srgbClr val="334155"/>
                </a:solidFill>
              </a:rPr>
              <a:t>Dicipta dengan perintah: vgcreate vg_data /dev/sdb</a:t>
            </a:r>
            <a:endParaRPr lang="en-US" sz="950" dirty="0"/>
          </a:p>
          <a:p>
            <a:pPr marL="342900" indent="-342900">
              <a:lnSpc>
                <a:spcPts val="1400"/>
              </a:lnSpc>
              <a:buSzPct val="100000"/>
              <a:buChar char="•"/>
            </a:pPr>
            <a:r>
              <a:rPr lang="en-US" sz="950" dirty="0">
                <a:solidFill>
                  <a:srgbClr val="334155"/>
                </a:solidFill>
              </a:rPr>
              <a:t>Membolehkan kapasiti storan ditambah pada bila-bila masa dengan hanya menambah PV baharu: vgextend vg_data /dev/sdc.</a:t>
            </a:r>
            <a:endParaRPr lang="en-US" sz="950" dirty="0"/>
          </a:p>
          <a:p>
            <a:pPr marL="342900" indent="-342900">
              <a:lnSpc>
                <a:spcPts val="1400"/>
              </a:lnSpc>
              <a:buSzPct val="100000"/>
              <a:buChar char="•"/>
            </a:pPr>
            <a:r>
              <a:rPr lang="en-US" sz="950" dirty="0">
                <a:solidFill>
                  <a:srgbClr val="334155"/>
                </a:solidFill>
              </a:rPr>
              <a:t>Menghapuskan had kapasiti satu cakera fizikal.</a:t>
            </a:r>
            <a:endParaRPr lang="en-US" sz="950" dirty="0"/>
          </a:p>
        </p:txBody>
      </p:sp>
      <p:sp>
        <p:nvSpPr>
          <p:cNvPr id="22" name="Shape 19"/>
          <p:cNvSpPr/>
          <p:nvPr/>
        </p:nvSpPr>
        <p:spPr>
          <a:xfrm>
            <a:off x="4572000" y="5623560"/>
            <a:ext cx="3017520" cy="384048"/>
          </a:xfrm>
          <a:prstGeom prst="roundRect">
            <a:avLst>
              <a:gd name="adj" fmla="val 19048"/>
            </a:avLst>
          </a:prstGeom>
          <a:solidFill>
            <a:srgbClr val="F1F5F9"/>
          </a:solidFill>
          <a:ln w="10160">
            <a:solidFill>
              <a:srgbClr val="E2E8F0"/>
            </a:solidFill>
            <a:prstDash val="solid"/>
          </a:ln>
        </p:spPr>
      </p:sp>
      <p:sp>
        <p:nvSpPr>
          <p:cNvPr id="23" name="Text 20"/>
          <p:cNvSpPr/>
          <p:nvPr/>
        </p:nvSpPr>
        <p:spPr>
          <a:xfrm>
            <a:off x="4617720" y="5623560"/>
            <a:ext cx="2926080" cy="384048"/>
          </a:xfrm>
          <a:prstGeom prst="rect">
            <a:avLst/>
          </a:prstGeom>
          <a:noFill/>
          <a:ln/>
        </p:spPr>
        <p:txBody>
          <a:bodyPr wrap="square" rtlCol="0" anchor="ctr"/>
          <a:lstStyle/>
          <a:p>
            <a:pPr indent="0" marL="0">
              <a:buNone/>
            </a:pPr>
            <a:r>
              <a:rPr lang="en-US" sz="850" b="1" dirty="0">
                <a:solidFill>
                  <a:srgbClr val="009E96"/>
                </a:solidFill>
              </a:rPr>
              <a:t>Semak dengan: vgs atau vgdisplay</a:t>
            </a:r>
            <a:endParaRPr lang="en-US" sz="850" dirty="0"/>
          </a:p>
        </p:txBody>
      </p:sp>
      <p:sp>
        <p:nvSpPr>
          <p:cNvPr id="24" name="Shape 21"/>
          <p:cNvSpPr/>
          <p:nvPr/>
        </p:nvSpPr>
        <p:spPr>
          <a:xfrm>
            <a:off x="8138160" y="1920240"/>
            <a:ext cx="3383280" cy="4206240"/>
          </a:xfrm>
          <a:prstGeom prst="roundRect">
            <a:avLst>
              <a:gd name="adj" fmla="val 4054"/>
            </a:avLst>
          </a:prstGeom>
          <a:solidFill>
            <a:srgbClr val="FFFFFF"/>
          </a:solidFill>
          <a:ln w="12700">
            <a:solidFill>
              <a:srgbClr val="E2E8F0"/>
            </a:solidFill>
            <a:prstDash val="solid"/>
          </a:ln>
        </p:spPr>
      </p:sp>
      <p:sp>
        <p:nvSpPr>
          <p:cNvPr id="25" name="Shape 22"/>
          <p:cNvSpPr/>
          <p:nvPr/>
        </p:nvSpPr>
        <p:spPr>
          <a:xfrm>
            <a:off x="8138160" y="1920240"/>
            <a:ext cx="3383280" cy="73152"/>
          </a:xfrm>
          <a:prstGeom prst="roundRect">
            <a:avLst>
              <a:gd name="adj" fmla="val 50000"/>
            </a:avLst>
          </a:prstGeom>
          <a:solidFill>
            <a:srgbClr val="7E22CE"/>
          </a:solidFill>
          <a:ln w="12700">
            <a:solidFill>
              <a:srgbClr val="7E22CE"/>
            </a:solidFill>
            <a:prstDash val="solid"/>
          </a:ln>
        </p:spPr>
      </p:sp>
      <p:sp>
        <p:nvSpPr>
          <p:cNvPr id="26" name="Text 23"/>
          <p:cNvSpPr/>
          <p:nvPr/>
        </p:nvSpPr>
        <p:spPr>
          <a:xfrm>
            <a:off x="8366760" y="2103120"/>
            <a:ext cx="2926080" cy="320040"/>
          </a:xfrm>
          <a:prstGeom prst="rect">
            <a:avLst/>
          </a:prstGeom>
          <a:noFill/>
          <a:ln/>
        </p:spPr>
        <p:txBody>
          <a:bodyPr wrap="square" rtlCol="0" anchor="ctr"/>
          <a:lstStyle/>
          <a:p>
            <a:pPr indent="0" marL="0">
              <a:buNone/>
            </a:pPr>
            <a:r>
              <a:rPr lang="en-US" sz="1200" b="1" dirty="0">
                <a:solidFill>
                  <a:srgbClr val="7E22CE"/>
                </a:solidFill>
              </a:rPr>
              <a:t>3. Logical Volume (LV)</a:t>
            </a:r>
            <a:endParaRPr lang="en-US" sz="1200" dirty="0"/>
          </a:p>
        </p:txBody>
      </p:sp>
      <p:sp>
        <p:nvSpPr>
          <p:cNvPr id="27" name="Text 24"/>
          <p:cNvSpPr/>
          <p:nvPr/>
        </p:nvSpPr>
        <p:spPr>
          <a:xfrm>
            <a:off x="8366760" y="2450592"/>
            <a:ext cx="2926080" cy="3127248"/>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Partisyen maya yang diperuntukkan daripada Volume Group.</a:t>
            </a:r>
            <a:endParaRPr lang="en-US" sz="950" dirty="0"/>
          </a:p>
          <a:p>
            <a:pPr marL="342900" indent="-342900">
              <a:lnSpc>
                <a:spcPts val="1400"/>
              </a:lnSpc>
              <a:buSzPct val="100000"/>
              <a:buChar char="•"/>
            </a:pPr>
            <a:r>
              <a:rPr lang="en-US" sz="950" dirty="0">
                <a:solidFill>
                  <a:srgbClr val="334155"/>
                </a:solidFill>
              </a:rPr>
              <a:t>Dicipta dengan perintah: lvcreate -L 1G -n lv_kes vg_data</a:t>
            </a:r>
            <a:endParaRPr lang="en-US" sz="950" dirty="0"/>
          </a:p>
          <a:p>
            <a:pPr marL="342900" indent="-342900">
              <a:lnSpc>
                <a:spcPts val="1400"/>
              </a:lnSpc>
              <a:buSzPct val="100000"/>
              <a:buChar char="•"/>
            </a:pPr>
            <a:r>
              <a:rPr lang="en-US" sz="950" dirty="0">
                <a:solidFill>
                  <a:srgbClr val="334155"/>
                </a:solidFill>
              </a:rPr>
              <a:t>Berfungsi seperti peranti blok standard (/dev/vg_data/lv_kes).</a:t>
            </a:r>
            <a:endParaRPr lang="en-US" sz="950" dirty="0"/>
          </a:p>
          <a:p>
            <a:pPr marL="342900" indent="-342900">
              <a:lnSpc>
                <a:spcPts val="1400"/>
              </a:lnSpc>
              <a:buSzPct val="100000"/>
              <a:buChar char="•"/>
            </a:pPr>
            <a:r>
              <a:rPr lang="en-US" sz="950" dirty="0">
                <a:solidFill>
                  <a:srgbClr val="334155"/>
                </a:solidFill>
              </a:rPr>
              <a:t>Boleh dibesarkan atau dikecilkan mengikut keperluan tanpa memformat semula.</a:t>
            </a:r>
            <a:endParaRPr lang="en-US" sz="950" dirty="0"/>
          </a:p>
        </p:txBody>
      </p:sp>
      <p:sp>
        <p:nvSpPr>
          <p:cNvPr id="28" name="Shape 25"/>
          <p:cNvSpPr/>
          <p:nvPr/>
        </p:nvSpPr>
        <p:spPr>
          <a:xfrm>
            <a:off x="8321040" y="5623560"/>
            <a:ext cx="3017520" cy="384048"/>
          </a:xfrm>
          <a:prstGeom prst="roundRect">
            <a:avLst>
              <a:gd name="adj" fmla="val 19048"/>
            </a:avLst>
          </a:prstGeom>
          <a:solidFill>
            <a:srgbClr val="F1F5F9"/>
          </a:solidFill>
          <a:ln w="10160">
            <a:solidFill>
              <a:srgbClr val="E2E8F0"/>
            </a:solidFill>
            <a:prstDash val="solid"/>
          </a:ln>
        </p:spPr>
      </p:sp>
      <p:sp>
        <p:nvSpPr>
          <p:cNvPr id="29" name="Text 26"/>
          <p:cNvSpPr/>
          <p:nvPr/>
        </p:nvSpPr>
        <p:spPr>
          <a:xfrm>
            <a:off x="8366760" y="5623560"/>
            <a:ext cx="2926080" cy="384048"/>
          </a:xfrm>
          <a:prstGeom prst="rect">
            <a:avLst/>
          </a:prstGeom>
          <a:noFill/>
          <a:ln/>
        </p:spPr>
        <p:txBody>
          <a:bodyPr wrap="square" rtlCol="0" anchor="ctr"/>
          <a:lstStyle/>
          <a:p>
            <a:pPr indent="0" marL="0">
              <a:buNone/>
            </a:pPr>
            <a:r>
              <a:rPr lang="en-US" sz="850" b="1" dirty="0">
                <a:solidFill>
                  <a:srgbClr val="7E22CE"/>
                </a:solidFill>
              </a:rPr>
              <a:t>Semak dengan: lvs atau lvdisplay</a:t>
            </a:r>
            <a:endParaRPr lang="en-US" sz="850" dirty="0"/>
          </a:p>
        </p:txBody>
      </p:sp>
      <p:sp>
        <p:nvSpPr>
          <p:cNvPr id="30" name="Shape 27"/>
          <p:cNvSpPr/>
          <p:nvPr/>
        </p:nvSpPr>
        <p:spPr>
          <a:xfrm>
            <a:off x="640080" y="6400800"/>
            <a:ext cx="10881360" cy="0"/>
          </a:xfrm>
          <a:prstGeom prst="line">
            <a:avLst/>
          </a:prstGeom>
          <a:noFill/>
          <a:ln w="12700">
            <a:solidFill>
              <a:srgbClr val="E2E8F0"/>
            </a:solidFill>
            <a:prstDash val="solid"/>
          </a:ln>
        </p:spPr>
      </p:sp>
      <p:sp>
        <p:nvSpPr>
          <p:cNvPr id="31" name="Text 28"/>
          <p:cNvSpPr/>
          <p:nvPr/>
        </p:nvSpPr>
        <p:spPr>
          <a:xfrm>
            <a:off x="640080" y="6446520"/>
            <a:ext cx="4572000" cy="320040"/>
          </a:xfrm>
          <a:prstGeom prst="rect">
            <a:avLst/>
          </a:prstGeom>
          <a:noFill/>
          <a:ln/>
        </p:spPr>
        <p:txBody>
          <a:bodyPr wrap="square" rtlCol="0" anchor="ctr"/>
          <a:lstStyle/>
          <a:p>
            <a:pPr indent="0" marL="0">
              <a:buNone/>
            </a:pPr>
            <a:r>
              <a:rPr lang="en-US" sz="900" b="1" dirty="0">
                <a:solidFill>
                  <a:srgbClr val="64748B"/>
                </a:solidFill>
              </a:rPr>
              <a:t>Cognitoz BetaLab  |  Jabatan Kehakiman Malaysia (POJ)</a:t>
            </a:r>
            <a:endParaRPr lang="en-US" sz="900" dirty="0"/>
          </a:p>
        </p:txBody>
      </p:sp>
      <p:sp>
        <p:nvSpPr>
          <p:cNvPr id="32" name="Text 29"/>
          <p:cNvSpPr/>
          <p:nvPr/>
        </p:nvSpPr>
        <p:spPr>
          <a:xfrm>
            <a:off x="4389120" y="6446520"/>
            <a:ext cx="5029200" cy="320040"/>
          </a:xfrm>
          <a:prstGeom prst="rect">
            <a:avLst/>
          </a:prstGeom>
          <a:noFill/>
          <a:ln/>
        </p:spPr>
        <p:txBody>
          <a:bodyPr wrap="square" rtlCol="0" anchor="ctr"/>
          <a:lstStyle/>
          <a:p>
            <a:pPr algn="ctr" indent="0" marL="0">
              <a:buNone/>
            </a:pPr>
            <a:r>
              <a:rPr lang="en-US" sz="850" dirty="0">
                <a:solidFill>
                  <a:srgbClr val="64748B"/>
                </a:solidFill>
              </a:rPr>
              <a:t>Copyright © 2026 Cognitoz I.T Training Sdn Bhd — www.cognitoz.com</a:t>
            </a:r>
            <a:endParaRPr lang="en-US" sz="850" dirty="0"/>
          </a:p>
        </p:txBody>
      </p:sp>
      <p:sp>
        <p:nvSpPr>
          <p:cNvPr id="33" name="Text 30"/>
          <p:cNvSpPr/>
          <p:nvPr/>
        </p:nvSpPr>
        <p:spPr>
          <a:xfrm>
            <a:off x="9601200" y="6446520"/>
            <a:ext cx="1920240" cy="320040"/>
          </a:xfrm>
          <a:prstGeom prst="rect">
            <a:avLst/>
          </a:prstGeom>
          <a:noFill/>
          <a:ln/>
        </p:spPr>
        <p:txBody>
          <a:bodyPr wrap="square" rtlCol="0" anchor="ctr"/>
          <a:lstStyle/>
          <a:p>
            <a:pPr algn="r" indent="0" marL="0">
              <a:buNone/>
            </a:pPr>
            <a:r>
              <a:rPr lang="en-US" sz="900" b="1" dirty="0">
                <a:solidFill>
                  <a:srgbClr val="64748B"/>
                </a:solidFill>
              </a:rPr>
              <a:t>13 / 22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3044952" cy="54864"/>
          </a:xfrm>
          <a:prstGeom prst="rect">
            <a:avLst/>
          </a:prstGeom>
          <a:solidFill>
            <a:srgbClr val="7E22CE"/>
          </a:solidFill>
          <a:ln/>
        </p:spPr>
      </p:sp>
      <p:sp>
        <p:nvSpPr>
          <p:cNvPr id="3" name="Shape 1"/>
          <p:cNvSpPr/>
          <p:nvPr/>
        </p:nvSpPr>
        <p:spPr>
          <a:xfrm>
            <a:off x="3044952" y="0"/>
            <a:ext cx="3044952" cy="54864"/>
          </a:xfrm>
          <a:prstGeom prst="rect">
            <a:avLst/>
          </a:prstGeom>
          <a:solidFill>
            <a:srgbClr val="0078D4"/>
          </a:solidFill>
          <a:ln/>
        </p:spPr>
      </p:sp>
      <p:sp>
        <p:nvSpPr>
          <p:cNvPr id="4" name="Shape 2"/>
          <p:cNvSpPr/>
          <p:nvPr/>
        </p:nvSpPr>
        <p:spPr>
          <a:xfrm>
            <a:off x="6089904" y="0"/>
            <a:ext cx="3044952" cy="54864"/>
          </a:xfrm>
          <a:prstGeom prst="rect">
            <a:avLst/>
          </a:prstGeom>
          <a:solidFill>
            <a:srgbClr val="009E96"/>
          </a:solidFill>
          <a:ln/>
        </p:spPr>
      </p:sp>
      <p:sp>
        <p:nvSpPr>
          <p:cNvPr id="5" name="Shape 3"/>
          <p:cNvSpPr/>
          <p:nvPr/>
        </p:nvSpPr>
        <p:spPr>
          <a:xfrm>
            <a:off x="9134856" y="0"/>
            <a:ext cx="3054096" cy="54864"/>
          </a:xfrm>
          <a:prstGeom prst="rect">
            <a:avLst/>
          </a:prstGeom>
          <a:solidFill>
            <a:srgbClr val="D97706"/>
          </a:solidFill>
          <a:ln/>
        </p:spPr>
      </p:sp>
      <p:pic>
        <p:nvPicPr>
          <p:cNvPr id="6" name="Image 0" descr="D:/betalab.cognitoz.com/workshops/poj_centos/public/cognitoz-logo.png">    </p:cNvPr>
          <p:cNvPicPr>
            <a:picLocks noChangeAspect="1"/>
          </p:cNvPicPr>
          <p:nvPr/>
        </p:nvPicPr>
        <p:blipFill>
          <a:blip r:embed="rId1"/>
          <a:stretch>
            <a:fillRect/>
          </a:stretch>
        </p:blipFill>
        <p:spPr>
          <a:xfrm>
            <a:off x="640080" y="201168"/>
            <a:ext cx="1463040" cy="411480"/>
          </a:xfrm>
          <a:prstGeom prst="rect">
            <a:avLst/>
          </a:prstGeom>
        </p:spPr>
      </p:pic>
      <p:sp>
        <p:nvSpPr>
          <p:cNvPr id="7" name="Shape 4"/>
          <p:cNvSpPr/>
          <p:nvPr/>
        </p:nvSpPr>
        <p:spPr>
          <a:xfrm>
            <a:off x="7863840" y="228600"/>
            <a:ext cx="3657600" cy="347472"/>
          </a:xfrm>
          <a:prstGeom prst="roundRect">
            <a:avLst>
              <a:gd name="adj" fmla="val 47368"/>
            </a:avLst>
          </a:prstGeom>
          <a:solidFill>
            <a:srgbClr val="FFFFFF"/>
          </a:solidFill>
          <a:ln w="12700">
            <a:solidFill>
              <a:srgbClr val="E2E8F0"/>
            </a:solidFill>
            <a:prstDash val="solid"/>
          </a:ln>
        </p:spPr>
      </p:sp>
      <p:sp>
        <p:nvSpPr>
          <p:cNvPr id="8" name="Text 5"/>
          <p:cNvSpPr/>
          <p:nvPr/>
        </p:nvSpPr>
        <p:spPr>
          <a:xfrm>
            <a:off x="7863840" y="228600"/>
            <a:ext cx="3657600" cy="347472"/>
          </a:xfrm>
          <a:prstGeom prst="rect">
            <a:avLst/>
          </a:prstGeom>
          <a:noFill/>
          <a:ln/>
        </p:spPr>
        <p:txBody>
          <a:bodyPr wrap="square" rtlCol="0" anchor="ctr"/>
          <a:lstStyle/>
          <a:p>
            <a:pPr algn="ctr" indent="0" marL="0">
              <a:buNone/>
            </a:pPr>
            <a:r>
              <a:rPr lang="en-US" sz="900" b="1" dirty="0">
                <a:solidFill>
                  <a:srgbClr val="7E22CE"/>
                </a:solidFill>
              </a:rPr>
              <a:t>CentOS Stream 10  |  POJ Putrajaya</a:t>
            </a:r>
            <a:endParaRPr lang="en-US" sz="900" dirty="0"/>
          </a:p>
        </p:txBody>
      </p:sp>
      <p:sp>
        <p:nvSpPr>
          <p:cNvPr id="9" name="Text 6"/>
          <p:cNvSpPr/>
          <p:nvPr/>
        </p:nvSpPr>
        <p:spPr>
          <a:xfrm>
            <a:off x="640080" y="777240"/>
            <a:ext cx="10881360" cy="274320"/>
          </a:xfrm>
          <a:prstGeom prst="rect">
            <a:avLst/>
          </a:prstGeom>
          <a:noFill/>
          <a:ln/>
        </p:spPr>
        <p:txBody>
          <a:bodyPr wrap="square" rtlCol="0" anchor="ctr"/>
          <a:lstStyle/>
          <a:p>
            <a:pPr indent="0" marL="0">
              <a:buNone/>
            </a:pPr>
            <a:r>
              <a:rPr lang="en-US" sz="1000" b="1" spc="150" kern="0" dirty="0">
                <a:solidFill>
                  <a:srgbClr val="0078D4"/>
                </a:solidFill>
              </a:rPr>
              <a:t>SISTEM FAIL ENTERPRISE</a:t>
            </a:r>
            <a:endParaRPr lang="en-US" sz="1000" dirty="0"/>
          </a:p>
        </p:txBody>
      </p:sp>
      <p:sp>
        <p:nvSpPr>
          <p:cNvPr id="10" name="Text 7"/>
          <p:cNvSpPr/>
          <p:nvPr/>
        </p:nvSpPr>
        <p:spPr>
          <a:xfrm>
            <a:off x="640080" y="1024128"/>
            <a:ext cx="10881360" cy="502920"/>
          </a:xfrm>
          <a:prstGeom prst="rect">
            <a:avLst/>
          </a:prstGeom>
          <a:noFill/>
          <a:ln/>
        </p:spPr>
        <p:txBody>
          <a:bodyPr wrap="square" rtlCol="0" anchor="ctr"/>
          <a:lstStyle/>
          <a:p>
            <a:pPr indent="0" marL="0">
              <a:buNone/>
            </a:pPr>
            <a:r>
              <a:rPr lang="en-US" sz="2100" b="1" dirty="0">
                <a:solidFill>
                  <a:srgbClr val="0F172A"/>
                </a:solidFill>
              </a:rPr>
              <a:t>Sistem Fail XFS &amp; Pembesaran Secara Langsung</a:t>
            </a:r>
            <a:endParaRPr lang="en-US" sz="2100" dirty="0"/>
          </a:p>
        </p:txBody>
      </p:sp>
      <p:sp>
        <p:nvSpPr>
          <p:cNvPr id="11" name="Text 8"/>
          <p:cNvSpPr/>
          <p:nvPr/>
        </p:nvSpPr>
        <p:spPr>
          <a:xfrm>
            <a:off x="640080" y="1536192"/>
            <a:ext cx="10881360" cy="320040"/>
          </a:xfrm>
          <a:prstGeom prst="rect">
            <a:avLst/>
          </a:prstGeom>
          <a:noFill/>
          <a:ln/>
        </p:spPr>
        <p:txBody>
          <a:bodyPr wrap="square" rtlCol="0" anchor="ctr"/>
          <a:lstStyle/>
          <a:p>
            <a:pPr indent="0" marL="0">
              <a:buNone/>
            </a:pPr>
            <a:r>
              <a:rPr lang="en-US" sz="1200" dirty="0">
                <a:solidFill>
                  <a:srgbClr val="64748B"/>
                </a:solidFill>
              </a:rPr>
              <a:t>Teknologi Sistem Fail Berprestasi Tinggi dengan Ciri Zero-Downtime Expansion</a:t>
            </a:r>
            <a:endParaRPr lang="en-US" sz="1200" dirty="0"/>
          </a:p>
        </p:txBody>
      </p:sp>
      <p:sp>
        <p:nvSpPr>
          <p:cNvPr id="12" name="Shape 9"/>
          <p:cNvSpPr/>
          <p:nvPr/>
        </p:nvSpPr>
        <p:spPr>
          <a:xfrm>
            <a:off x="640080" y="1920240"/>
            <a:ext cx="5212080" cy="4206240"/>
          </a:xfrm>
          <a:prstGeom prst="roundRect">
            <a:avLst>
              <a:gd name="adj" fmla="val 3261"/>
            </a:avLst>
          </a:prstGeom>
          <a:solidFill>
            <a:srgbClr val="FFFFFF"/>
          </a:solidFill>
          <a:ln w="12700">
            <a:solidFill>
              <a:srgbClr val="E2E8F0"/>
            </a:solidFill>
            <a:prstDash val="solid"/>
          </a:ln>
        </p:spPr>
      </p:sp>
      <p:sp>
        <p:nvSpPr>
          <p:cNvPr id="13" name="Shape 10"/>
          <p:cNvSpPr/>
          <p:nvPr/>
        </p:nvSpPr>
        <p:spPr>
          <a:xfrm>
            <a:off x="640080" y="1920240"/>
            <a:ext cx="5212080" cy="73152"/>
          </a:xfrm>
          <a:prstGeom prst="roundRect">
            <a:avLst>
              <a:gd name="adj" fmla="val 50000"/>
            </a:avLst>
          </a:prstGeom>
          <a:solidFill>
            <a:srgbClr val="0078D4"/>
          </a:solidFill>
          <a:ln w="12700">
            <a:solidFill>
              <a:srgbClr val="0078D4"/>
            </a:solidFill>
            <a:prstDash val="solid"/>
          </a:ln>
        </p:spPr>
      </p:sp>
      <p:sp>
        <p:nvSpPr>
          <p:cNvPr id="14" name="Text 11"/>
          <p:cNvSpPr/>
          <p:nvPr/>
        </p:nvSpPr>
        <p:spPr>
          <a:xfrm>
            <a:off x="868680" y="2103120"/>
            <a:ext cx="4754880" cy="320040"/>
          </a:xfrm>
          <a:prstGeom prst="rect">
            <a:avLst/>
          </a:prstGeom>
          <a:noFill/>
          <a:ln/>
        </p:spPr>
        <p:txBody>
          <a:bodyPr wrap="square" rtlCol="0" anchor="ctr"/>
          <a:lstStyle/>
          <a:p>
            <a:pPr indent="0" marL="0">
              <a:buNone/>
            </a:pPr>
            <a:r>
              <a:rPr lang="en-US" sz="1200" b="1" dirty="0">
                <a:solidFill>
                  <a:srgbClr val="0078D4"/>
                </a:solidFill>
              </a:rPr>
              <a:t>Mengapa XFS Pilihan Utama RHEL/CentOS?</a:t>
            </a:r>
            <a:endParaRPr lang="en-US" sz="1200" dirty="0"/>
          </a:p>
        </p:txBody>
      </p:sp>
      <p:sp>
        <p:nvSpPr>
          <p:cNvPr id="15" name="Text 12"/>
          <p:cNvSpPr/>
          <p:nvPr/>
        </p:nvSpPr>
        <p:spPr>
          <a:xfrm>
            <a:off x="868680" y="2450592"/>
            <a:ext cx="4754880" cy="3127248"/>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Direka khas untuk beban kerja I/O selari berskala besar (parallel I/O).</a:t>
            </a:r>
            <a:endParaRPr lang="en-US" sz="950" dirty="0"/>
          </a:p>
          <a:p>
            <a:pPr marL="342900" indent="-342900">
              <a:lnSpc>
                <a:spcPts val="1400"/>
              </a:lnSpc>
              <a:buSzPct val="100000"/>
              <a:buChar char="•"/>
            </a:pPr>
            <a:r>
              <a:rPr lang="en-US" sz="950" dirty="0">
                <a:solidFill>
                  <a:srgbClr val="334155"/>
                </a:solidFill>
              </a:rPr>
              <a:t>Menyokong saiz fail dan sistem fail sehingga ratusan Terabyte tanpa degradasi prestasi.</a:t>
            </a:r>
            <a:endParaRPr lang="en-US" sz="950" dirty="0"/>
          </a:p>
          <a:p>
            <a:pPr marL="342900" indent="-342900">
              <a:lnSpc>
                <a:spcPts val="1400"/>
              </a:lnSpc>
              <a:buSzPct val="100000"/>
              <a:buChar char="•"/>
            </a:pPr>
            <a:r>
              <a:rPr lang="en-US" sz="950" dirty="0">
                <a:solidFill>
                  <a:srgbClr val="334155"/>
                </a:solidFill>
              </a:rPr>
              <a:t>Menggunakan teknologi journaling pantas untuk pemulihan integriti segera sekiranya bekalan elektrik terputus.</a:t>
            </a:r>
            <a:endParaRPr lang="en-US" sz="950" dirty="0"/>
          </a:p>
          <a:p>
            <a:pPr marL="342900" indent="-342900">
              <a:lnSpc>
                <a:spcPts val="1400"/>
              </a:lnSpc>
              <a:buSzPct val="100000"/>
              <a:buChar char="•"/>
            </a:pPr>
            <a:r>
              <a:rPr lang="en-US" sz="950" dirty="0">
                <a:solidFill>
                  <a:srgbClr val="334155"/>
                </a:solidFill>
              </a:rPr>
              <a:t>Sistem fail default untuk CentOS Stream 10 dan Red Hat Enterprise Linux.</a:t>
            </a:r>
            <a:endParaRPr lang="en-US" sz="950" dirty="0"/>
          </a:p>
        </p:txBody>
      </p:sp>
      <p:sp>
        <p:nvSpPr>
          <p:cNvPr id="16" name="Shape 13"/>
          <p:cNvSpPr/>
          <p:nvPr/>
        </p:nvSpPr>
        <p:spPr>
          <a:xfrm>
            <a:off x="822960" y="5623560"/>
            <a:ext cx="4846320" cy="384048"/>
          </a:xfrm>
          <a:prstGeom prst="roundRect">
            <a:avLst>
              <a:gd name="adj" fmla="val 19048"/>
            </a:avLst>
          </a:prstGeom>
          <a:solidFill>
            <a:srgbClr val="F1F5F9"/>
          </a:solidFill>
          <a:ln w="10160">
            <a:solidFill>
              <a:srgbClr val="E2E8F0"/>
            </a:solidFill>
            <a:prstDash val="solid"/>
          </a:ln>
        </p:spPr>
      </p:sp>
      <p:sp>
        <p:nvSpPr>
          <p:cNvPr id="17" name="Text 14"/>
          <p:cNvSpPr/>
          <p:nvPr/>
        </p:nvSpPr>
        <p:spPr>
          <a:xfrm>
            <a:off x="868680" y="5623560"/>
            <a:ext cx="4754880" cy="384048"/>
          </a:xfrm>
          <a:prstGeom prst="rect">
            <a:avLst/>
          </a:prstGeom>
          <a:noFill/>
          <a:ln/>
        </p:spPr>
        <p:txBody>
          <a:bodyPr wrap="square" rtlCol="0" anchor="ctr"/>
          <a:lstStyle/>
          <a:p>
            <a:pPr indent="0" marL="0">
              <a:buNone/>
            </a:pPr>
            <a:r>
              <a:rPr lang="en-US" sz="850" b="1" dirty="0">
                <a:solidFill>
                  <a:srgbClr val="0078D4"/>
                </a:solidFill>
              </a:rPr>
              <a:t>Format peranti dengan: mkfs.xfs /dev/vg_data/lv_kes</a:t>
            </a:r>
            <a:endParaRPr lang="en-US" sz="850" dirty="0"/>
          </a:p>
        </p:txBody>
      </p:sp>
      <p:sp>
        <p:nvSpPr>
          <p:cNvPr id="18" name="Shape 15"/>
          <p:cNvSpPr/>
          <p:nvPr/>
        </p:nvSpPr>
        <p:spPr>
          <a:xfrm>
            <a:off x="6217920" y="1920240"/>
            <a:ext cx="5303520" cy="4206240"/>
          </a:xfrm>
          <a:prstGeom prst="roundRect">
            <a:avLst>
              <a:gd name="adj" fmla="val 3261"/>
            </a:avLst>
          </a:prstGeom>
          <a:solidFill>
            <a:srgbClr val="FFFFFF"/>
          </a:solidFill>
          <a:ln w="12700">
            <a:solidFill>
              <a:srgbClr val="E2E8F0"/>
            </a:solidFill>
            <a:prstDash val="solid"/>
          </a:ln>
        </p:spPr>
      </p:sp>
      <p:sp>
        <p:nvSpPr>
          <p:cNvPr id="19" name="Shape 16"/>
          <p:cNvSpPr/>
          <p:nvPr/>
        </p:nvSpPr>
        <p:spPr>
          <a:xfrm>
            <a:off x="6217920" y="1920240"/>
            <a:ext cx="5303520" cy="73152"/>
          </a:xfrm>
          <a:prstGeom prst="roundRect">
            <a:avLst>
              <a:gd name="adj" fmla="val 50000"/>
            </a:avLst>
          </a:prstGeom>
          <a:solidFill>
            <a:srgbClr val="009E96"/>
          </a:solidFill>
          <a:ln w="12700">
            <a:solidFill>
              <a:srgbClr val="009E96"/>
            </a:solidFill>
            <a:prstDash val="solid"/>
          </a:ln>
        </p:spPr>
      </p:sp>
      <p:sp>
        <p:nvSpPr>
          <p:cNvPr id="20" name="Text 17"/>
          <p:cNvSpPr/>
          <p:nvPr/>
        </p:nvSpPr>
        <p:spPr>
          <a:xfrm>
            <a:off x="6446520" y="2103120"/>
            <a:ext cx="4846320" cy="320040"/>
          </a:xfrm>
          <a:prstGeom prst="rect">
            <a:avLst/>
          </a:prstGeom>
          <a:noFill/>
          <a:ln/>
        </p:spPr>
        <p:txBody>
          <a:bodyPr wrap="square" rtlCol="0" anchor="ctr"/>
          <a:lstStyle/>
          <a:p>
            <a:pPr indent="0" marL="0">
              <a:buNone/>
            </a:pPr>
            <a:r>
              <a:rPr lang="en-US" sz="1200" b="1" dirty="0">
                <a:solidFill>
                  <a:srgbClr val="009E96"/>
                </a:solidFill>
              </a:rPr>
              <a:t>Pembesaran Online (Zero Downtime)</a:t>
            </a:r>
            <a:endParaRPr lang="en-US" sz="1200" dirty="0"/>
          </a:p>
        </p:txBody>
      </p:sp>
      <p:sp>
        <p:nvSpPr>
          <p:cNvPr id="21" name="Text 18"/>
          <p:cNvSpPr/>
          <p:nvPr/>
        </p:nvSpPr>
        <p:spPr>
          <a:xfrm>
            <a:off x="6446520" y="2450592"/>
            <a:ext cx="4846320" cy="3127248"/>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Langkah 1: Besarkan volum logikal LVM:</a:t>
            </a:r>
            <a:endParaRPr lang="en-US" sz="950" dirty="0"/>
          </a:p>
          <a:p>
            <a:pPr marL="342900" indent="-342900">
              <a:lnSpc>
                <a:spcPts val="1400"/>
              </a:lnSpc>
              <a:buSzPct val="100000"/>
              <a:buChar char="•"/>
            </a:pPr>
            <a:r>
              <a:rPr lang="en-US" sz="950" dirty="0">
                <a:solidFill>
                  <a:srgbClr val="334155"/>
                </a:solidFill>
              </a:rPr>
              <a:t>  sudo lvextend -L +500M /dev/vg_data/lv_kes</a:t>
            </a:r>
            <a:endParaRPr lang="en-US" sz="950" dirty="0"/>
          </a:p>
          <a:p>
            <a:pPr marL="342900" indent="-342900">
              <a:lnSpc>
                <a:spcPts val="1400"/>
              </a:lnSpc>
              <a:buSzPct val="100000"/>
              <a:buChar char="•"/>
            </a:pPr>
            <a:r>
              <a:rPr lang="en-US" sz="950" dirty="0">
                <a:solidFill>
                  <a:srgbClr val="334155"/>
                </a:solidFill>
              </a:rPr>
              <a:t>Langkah 2: Besarkan sistem fail XFS secara langsung semasa volum sedang di-mount:</a:t>
            </a:r>
            <a:endParaRPr lang="en-US" sz="950" dirty="0"/>
          </a:p>
          <a:p>
            <a:pPr marL="342900" indent="-342900">
              <a:lnSpc>
                <a:spcPts val="1400"/>
              </a:lnSpc>
              <a:buSzPct val="100000"/>
              <a:buChar char="•"/>
            </a:pPr>
            <a:r>
              <a:rPr lang="en-US" sz="950" dirty="0">
                <a:solidFill>
                  <a:srgbClr val="334155"/>
                </a:solidFill>
              </a:rPr>
              <a:t>  sudo xfs_growfs /mnt/data_kes</a:t>
            </a:r>
            <a:endParaRPr lang="en-US" sz="950" dirty="0"/>
          </a:p>
          <a:p>
            <a:pPr marL="342900" indent="-342900">
              <a:lnSpc>
                <a:spcPts val="1400"/>
              </a:lnSpc>
              <a:buSzPct val="100000"/>
              <a:buChar char="•"/>
            </a:pPr>
            <a:r>
              <a:rPr lang="en-US" sz="950" dirty="0">
                <a:solidFill>
                  <a:srgbClr val="334155"/>
                </a:solidFill>
              </a:rPr>
              <a:t>Atau gunakan flag pintar yang melaksanakan kedua-dua langkah serentak:</a:t>
            </a:r>
            <a:endParaRPr lang="en-US" sz="950" dirty="0"/>
          </a:p>
          <a:p>
            <a:pPr marL="342900" indent="-342900">
              <a:lnSpc>
                <a:spcPts val="1400"/>
              </a:lnSpc>
              <a:buSzPct val="100000"/>
              <a:buChar char="•"/>
            </a:pPr>
            <a:r>
              <a:rPr lang="en-US" sz="950" dirty="0">
                <a:solidFill>
                  <a:srgbClr val="334155"/>
                </a:solidFill>
              </a:rPr>
              <a:t>  sudo lvextend -L +500M -r /dev/vg_data/lv_kes</a:t>
            </a:r>
            <a:endParaRPr lang="en-US" sz="950" dirty="0"/>
          </a:p>
          <a:p>
            <a:pPr marL="342900" indent="-342900">
              <a:lnSpc>
                <a:spcPts val="1400"/>
              </a:lnSpc>
              <a:buSzPct val="100000"/>
              <a:buChar char="•"/>
            </a:pPr>
            <a:r>
              <a:rPr lang="en-US" sz="950" dirty="0">
                <a:solidFill>
                  <a:srgbClr val="334155"/>
                </a:solidFill>
              </a:rPr>
              <a:t>Perhatian Penting: Sistem fail XFS boleh dibesarkan secara online, tetapi TIDAK boleh dikecilkan (cannot shrink).</a:t>
            </a:r>
            <a:endParaRPr lang="en-US" sz="950" dirty="0"/>
          </a:p>
        </p:txBody>
      </p:sp>
      <p:sp>
        <p:nvSpPr>
          <p:cNvPr id="22" name="Shape 19"/>
          <p:cNvSpPr/>
          <p:nvPr/>
        </p:nvSpPr>
        <p:spPr>
          <a:xfrm>
            <a:off x="6400800" y="5623560"/>
            <a:ext cx="4937760" cy="384048"/>
          </a:xfrm>
          <a:prstGeom prst="roundRect">
            <a:avLst>
              <a:gd name="adj" fmla="val 19048"/>
            </a:avLst>
          </a:prstGeom>
          <a:solidFill>
            <a:srgbClr val="F1F5F9"/>
          </a:solidFill>
          <a:ln w="10160">
            <a:solidFill>
              <a:srgbClr val="E2E8F0"/>
            </a:solidFill>
            <a:prstDash val="solid"/>
          </a:ln>
        </p:spPr>
      </p:sp>
      <p:sp>
        <p:nvSpPr>
          <p:cNvPr id="23" name="Text 20"/>
          <p:cNvSpPr/>
          <p:nvPr/>
        </p:nvSpPr>
        <p:spPr>
          <a:xfrm>
            <a:off x="6446520" y="5623560"/>
            <a:ext cx="4846320" cy="384048"/>
          </a:xfrm>
          <a:prstGeom prst="rect">
            <a:avLst/>
          </a:prstGeom>
          <a:noFill/>
          <a:ln/>
        </p:spPr>
        <p:txBody>
          <a:bodyPr wrap="square" rtlCol="0" anchor="ctr"/>
          <a:lstStyle/>
          <a:p>
            <a:pPr indent="0" marL="0">
              <a:buNone/>
            </a:pPr>
            <a:r>
              <a:rPr lang="en-US" sz="850" b="1" dirty="0">
                <a:solidFill>
                  <a:srgbClr val="009E96"/>
                </a:solidFill>
              </a:rPr>
              <a:t>Tiada unmount diperlukan — perkhidmatan kekal aktif!</a:t>
            </a:r>
            <a:endParaRPr lang="en-US" sz="850" dirty="0"/>
          </a:p>
        </p:txBody>
      </p:sp>
      <p:sp>
        <p:nvSpPr>
          <p:cNvPr id="24" name="Shape 21"/>
          <p:cNvSpPr/>
          <p:nvPr/>
        </p:nvSpPr>
        <p:spPr>
          <a:xfrm>
            <a:off x="640080" y="6400800"/>
            <a:ext cx="10881360" cy="0"/>
          </a:xfrm>
          <a:prstGeom prst="line">
            <a:avLst/>
          </a:prstGeom>
          <a:noFill/>
          <a:ln w="12700">
            <a:solidFill>
              <a:srgbClr val="E2E8F0"/>
            </a:solidFill>
            <a:prstDash val="solid"/>
          </a:ln>
        </p:spPr>
      </p:sp>
      <p:sp>
        <p:nvSpPr>
          <p:cNvPr id="25" name="Text 22"/>
          <p:cNvSpPr/>
          <p:nvPr/>
        </p:nvSpPr>
        <p:spPr>
          <a:xfrm>
            <a:off x="640080" y="6446520"/>
            <a:ext cx="4572000" cy="320040"/>
          </a:xfrm>
          <a:prstGeom prst="rect">
            <a:avLst/>
          </a:prstGeom>
          <a:noFill/>
          <a:ln/>
        </p:spPr>
        <p:txBody>
          <a:bodyPr wrap="square" rtlCol="0" anchor="ctr"/>
          <a:lstStyle/>
          <a:p>
            <a:pPr indent="0" marL="0">
              <a:buNone/>
            </a:pPr>
            <a:r>
              <a:rPr lang="en-US" sz="900" b="1" dirty="0">
                <a:solidFill>
                  <a:srgbClr val="64748B"/>
                </a:solidFill>
              </a:rPr>
              <a:t>Cognitoz BetaLab  |  Jabatan Kehakiman Malaysia (POJ)</a:t>
            </a:r>
            <a:endParaRPr lang="en-US" sz="900" dirty="0"/>
          </a:p>
        </p:txBody>
      </p:sp>
      <p:sp>
        <p:nvSpPr>
          <p:cNvPr id="26" name="Text 23"/>
          <p:cNvSpPr/>
          <p:nvPr/>
        </p:nvSpPr>
        <p:spPr>
          <a:xfrm>
            <a:off x="4389120" y="6446520"/>
            <a:ext cx="5029200" cy="320040"/>
          </a:xfrm>
          <a:prstGeom prst="rect">
            <a:avLst/>
          </a:prstGeom>
          <a:noFill/>
          <a:ln/>
        </p:spPr>
        <p:txBody>
          <a:bodyPr wrap="square" rtlCol="0" anchor="ctr"/>
          <a:lstStyle/>
          <a:p>
            <a:pPr algn="ctr" indent="0" marL="0">
              <a:buNone/>
            </a:pPr>
            <a:r>
              <a:rPr lang="en-US" sz="850" dirty="0">
                <a:solidFill>
                  <a:srgbClr val="64748B"/>
                </a:solidFill>
              </a:rPr>
              <a:t>Copyright © 2026 Cognitoz I.T Training Sdn Bhd — www.cognitoz.com</a:t>
            </a:r>
            <a:endParaRPr lang="en-US" sz="850" dirty="0"/>
          </a:p>
        </p:txBody>
      </p:sp>
      <p:sp>
        <p:nvSpPr>
          <p:cNvPr id="27" name="Text 24"/>
          <p:cNvSpPr/>
          <p:nvPr/>
        </p:nvSpPr>
        <p:spPr>
          <a:xfrm>
            <a:off x="9601200" y="6446520"/>
            <a:ext cx="1920240" cy="320040"/>
          </a:xfrm>
          <a:prstGeom prst="rect">
            <a:avLst/>
          </a:prstGeom>
          <a:noFill/>
          <a:ln/>
        </p:spPr>
        <p:txBody>
          <a:bodyPr wrap="square" rtlCol="0" anchor="ctr"/>
          <a:lstStyle/>
          <a:p>
            <a:pPr algn="r" indent="0" marL="0">
              <a:buNone/>
            </a:pPr>
            <a:r>
              <a:rPr lang="en-US" sz="900" b="1" dirty="0">
                <a:solidFill>
                  <a:srgbClr val="64748B"/>
                </a:solidFill>
              </a:rPr>
              <a:t>14 / 22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3044952" cy="54864"/>
          </a:xfrm>
          <a:prstGeom prst="rect">
            <a:avLst/>
          </a:prstGeom>
          <a:solidFill>
            <a:srgbClr val="7E22CE"/>
          </a:solidFill>
          <a:ln/>
        </p:spPr>
      </p:sp>
      <p:sp>
        <p:nvSpPr>
          <p:cNvPr id="3" name="Shape 1"/>
          <p:cNvSpPr/>
          <p:nvPr/>
        </p:nvSpPr>
        <p:spPr>
          <a:xfrm>
            <a:off x="3044952" y="0"/>
            <a:ext cx="3044952" cy="54864"/>
          </a:xfrm>
          <a:prstGeom prst="rect">
            <a:avLst/>
          </a:prstGeom>
          <a:solidFill>
            <a:srgbClr val="0078D4"/>
          </a:solidFill>
          <a:ln/>
        </p:spPr>
      </p:sp>
      <p:sp>
        <p:nvSpPr>
          <p:cNvPr id="4" name="Shape 2"/>
          <p:cNvSpPr/>
          <p:nvPr/>
        </p:nvSpPr>
        <p:spPr>
          <a:xfrm>
            <a:off x="6089904" y="0"/>
            <a:ext cx="3044952" cy="54864"/>
          </a:xfrm>
          <a:prstGeom prst="rect">
            <a:avLst/>
          </a:prstGeom>
          <a:solidFill>
            <a:srgbClr val="009E96"/>
          </a:solidFill>
          <a:ln/>
        </p:spPr>
      </p:sp>
      <p:sp>
        <p:nvSpPr>
          <p:cNvPr id="5" name="Shape 3"/>
          <p:cNvSpPr/>
          <p:nvPr/>
        </p:nvSpPr>
        <p:spPr>
          <a:xfrm>
            <a:off x="9134856" y="0"/>
            <a:ext cx="3054096" cy="54864"/>
          </a:xfrm>
          <a:prstGeom prst="rect">
            <a:avLst/>
          </a:prstGeom>
          <a:solidFill>
            <a:srgbClr val="D97706"/>
          </a:solidFill>
          <a:ln/>
        </p:spPr>
      </p:sp>
      <p:pic>
        <p:nvPicPr>
          <p:cNvPr id="6" name="Image 0" descr="D:/betalab.cognitoz.com/workshops/poj_centos/public/cognitoz-logo.png">    </p:cNvPr>
          <p:cNvPicPr>
            <a:picLocks noChangeAspect="1"/>
          </p:cNvPicPr>
          <p:nvPr/>
        </p:nvPicPr>
        <p:blipFill>
          <a:blip r:embed="rId1"/>
          <a:stretch>
            <a:fillRect/>
          </a:stretch>
        </p:blipFill>
        <p:spPr>
          <a:xfrm>
            <a:off x="640080" y="201168"/>
            <a:ext cx="1463040" cy="411480"/>
          </a:xfrm>
          <a:prstGeom prst="rect">
            <a:avLst/>
          </a:prstGeom>
        </p:spPr>
      </p:pic>
      <p:sp>
        <p:nvSpPr>
          <p:cNvPr id="7" name="Shape 4"/>
          <p:cNvSpPr/>
          <p:nvPr/>
        </p:nvSpPr>
        <p:spPr>
          <a:xfrm>
            <a:off x="7863840" y="228600"/>
            <a:ext cx="3657600" cy="347472"/>
          </a:xfrm>
          <a:prstGeom prst="roundRect">
            <a:avLst>
              <a:gd name="adj" fmla="val 47368"/>
            </a:avLst>
          </a:prstGeom>
          <a:solidFill>
            <a:srgbClr val="FFFFFF"/>
          </a:solidFill>
          <a:ln w="12700">
            <a:solidFill>
              <a:srgbClr val="E2E8F0"/>
            </a:solidFill>
            <a:prstDash val="solid"/>
          </a:ln>
        </p:spPr>
      </p:sp>
      <p:sp>
        <p:nvSpPr>
          <p:cNvPr id="8" name="Text 5"/>
          <p:cNvSpPr/>
          <p:nvPr/>
        </p:nvSpPr>
        <p:spPr>
          <a:xfrm>
            <a:off x="7863840" y="228600"/>
            <a:ext cx="3657600" cy="347472"/>
          </a:xfrm>
          <a:prstGeom prst="rect">
            <a:avLst/>
          </a:prstGeom>
          <a:noFill/>
          <a:ln/>
        </p:spPr>
        <p:txBody>
          <a:bodyPr wrap="square" rtlCol="0" anchor="ctr"/>
          <a:lstStyle/>
          <a:p>
            <a:pPr algn="ctr" indent="0" marL="0">
              <a:buNone/>
            </a:pPr>
            <a:r>
              <a:rPr lang="en-US" sz="900" b="1" dirty="0">
                <a:solidFill>
                  <a:srgbClr val="7E22CE"/>
                </a:solidFill>
              </a:rPr>
              <a:t>CentOS Stream 10  |  POJ Putrajaya</a:t>
            </a:r>
            <a:endParaRPr lang="en-US" sz="900" dirty="0"/>
          </a:p>
        </p:txBody>
      </p:sp>
      <p:sp>
        <p:nvSpPr>
          <p:cNvPr id="9" name="Text 6"/>
          <p:cNvSpPr/>
          <p:nvPr/>
        </p:nvSpPr>
        <p:spPr>
          <a:xfrm>
            <a:off x="640080" y="777240"/>
            <a:ext cx="10881360" cy="274320"/>
          </a:xfrm>
          <a:prstGeom prst="rect">
            <a:avLst/>
          </a:prstGeom>
          <a:noFill/>
          <a:ln/>
        </p:spPr>
        <p:txBody>
          <a:bodyPr wrap="square" rtlCol="0" anchor="ctr"/>
          <a:lstStyle/>
          <a:p>
            <a:pPr indent="0" marL="0">
              <a:buNone/>
            </a:pPr>
            <a:r>
              <a:rPr lang="en-US" sz="1000" b="1" spc="150" kern="0" dirty="0">
                <a:solidFill>
                  <a:srgbClr val="0078D4"/>
                </a:solidFill>
              </a:rPr>
              <a:t>DEMO MAKMAL 3 (BETALAB)</a:t>
            </a:r>
            <a:endParaRPr lang="en-US" sz="1000" dirty="0"/>
          </a:p>
        </p:txBody>
      </p:sp>
      <p:sp>
        <p:nvSpPr>
          <p:cNvPr id="10" name="Text 7"/>
          <p:cNvSpPr/>
          <p:nvPr/>
        </p:nvSpPr>
        <p:spPr>
          <a:xfrm>
            <a:off x="640080" y="1024128"/>
            <a:ext cx="10881360" cy="502920"/>
          </a:xfrm>
          <a:prstGeom prst="rect">
            <a:avLst/>
          </a:prstGeom>
          <a:noFill/>
          <a:ln/>
        </p:spPr>
        <p:txBody>
          <a:bodyPr wrap="square" rtlCol="0" anchor="ctr"/>
          <a:lstStyle/>
          <a:p>
            <a:pPr indent="0" marL="0">
              <a:buNone/>
            </a:pPr>
            <a:r>
              <a:rPr lang="en-US" sz="2100" b="1" dirty="0">
                <a:solidFill>
                  <a:srgbClr val="0F172A"/>
                </a:solidFill>
              </a:rPr>
              <a:t>Konfigurasi LVM &amp; Pembesaran Storan XFS Online</a:t>
            </a:r>
            <a:endParaRPr lang="en-US" sz="2100" dirty="0"/>
          </a:p>
        </p:txBody>
      </p:sp>
      <p:sp>
        <p:nvSpPr>
          <p:cNvPr id="11" name="Text 8"/>
          <p:cNvSpPr/>
          <p:nvPr/>
        </p:nvSpPr>
        <p:spPr>
          <a:xfrm>
            <a:off x="640080" y="1536192"/>
            <a:ext cx="10881360" cy="320040"/>
          </a:xfrm>
          <a:prstGeom prst="rect">
            <a:avLst/>
          </a:prstGeom>
          <a:noFill/>
          <a:ln/>
        </p:spPr>
        <p:txBody>
          <a:bodyPr wrap="square" rtlCol="0" anchor="ctr"/>
          <a:lstStyle/>
          <a:p>
            <a:pPr indent="0" marL="0">
              <a:buNone/>
            </a:pPr>
            <a:r>
              <a:rPr lang="en-US" sz="1200" dirty="0">
                <a:solidFill>
                  <a:srgbClr val="64748B"/>
                </a:solidFill>
              </a:rPr>
              <a:t>Peralihan Terus ke Terminal Interaktif: Amali Berasaskan Senario Nyata</a:t>
            </a:r>
            <a:endParaRPr lang="en-US" sz="1200" dirty="0"/>
          </a:p>
        </p:txBody>
      </p:sp>
      <p:sp>
        <p:nvSpPr>
          <p:cNvPr id="12" name="Shape 9"/>
          <p:cNvSpPr/>
          <p:nvPr/>
        </p:nvSpPr>
        <p:spPr>
          <a:xfrm>
            <a:off x="640080" y="1920240"/>
            <a:ext cx="5303520" cy="4023360"/>
          </a:xfrm>
          <a:prstGeom prst="roundRect">
            <a:avLst>
              <a:gd name="adj" fmla="val 3409"/>
            </a:avLst>
          </a:prstGeom>
          <a:solidFill>
            <a:srgbClr val="FFFFFF"/>
          </a:solidFill>
          <a:ln w="19050">
            <a:solidFill>
              <a:srgbClr val="BAE6FD"/>
            </a:solidFill>
            <a:prstDash val="solid"/>
          </a:ln>
        </p:spPr>
      </p:sp>
      <p:sp>
        <p:nvSpPr>
          <p:cNvPr id="13" name="Shape 10"/>
          <p:cNvSpPr/>
          <p:nvPr/>
        </p:nvSpPr>
        <p:spPr>
          <a:xfrm>
            <a:off x="640080" y="1920240"/>
            <a:ext cx="5303520" cy="411480"/>
          </a:xfrm>
          <a:prstGeom prst="roundRect">
            <a:avLst>
              <a:gd name="adj" fmla="val 33333"/>
            </a:avLst>
          </a:prstGeom>
          <a:solidFill>
            <a:srgbClr val="E0F2FE"/>
          </a:solidFill>
          <a:ln w="12700">
            <a:solidFill>
              <a:srgbClr val="BAE6FD"/>
            </a:solidFill>
            <a:prstDash val="solid"/>
          </a:ln>
        </p:spPr>
      </p:sp>
      <p:sp>
        <p:nvSpPr>
          <p:cNvPr id="14" name="Text 11"/>
          <p:cNvSpPr/>
          <p:nvPr/>
        </p:nvSpPr>
        <p:spPr>
          <a:xfrm>
            <a:off x="822960" y="1965960"/>
            <a:ext cx="4937760" cy="320040"/>
          </a:xfrm>
          <a:prstGeom prst="rect">
            <a:avLst/>
          </a:prstGeom>
          <a:noFill/>
          <a:ln/>
        </p:spPr>
        <p:txBody>
          <a:bodyPr wrap="square" rtlCol="0" anchor="ctr"/>
          <a:lstStyle/>
          <a:p>
            <a:pPr indent="0" marL="0">
              <a:buNone/>
            </a:pPr>
            <a:r>
              <a:rPr lang="en-US" sz="1000" b="1" dirty="0">
                <a:solidFill>
                  <a:srgbClr val="0369A1"/>
                </a:solidFill>
              </a:rPr>
              <a:t>ARAHAN TERMINAL BETALAB (LANGKAH 3)</a:t>
            </a:r>
            <a:endParaRPr lang="en-US" sz="1000" dirty="0"/>
          </a:p>
        </p:txBody>
      </p:sp>
      <p:sp>
        <p:nvSpPr>
          <p:cNvPr id="15" name="Text 12"/>
          <p:cNvSpPr/>
          <p:nvPr/>
        </p:nvSpPr>
        <p:spPr>
          <a:xfrm>
            <a:off x="822960" y="2423160"/>
            <a:ext cx="4937760" cy="3291840"/>
          </a:xfrm>
          <a:prstGeom prst="rect">
            <a:avLst/>
          </a:prstGeom>
          <a:noFill/>
          <a:ln/>
        </p:spPr>
        <p:txBody>
          <a:bodyPr wrap="square" rtlCol="0" anchor="t"/>
          <a:lstStyle/>
          <a:p>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1.  sudo pvcreate /dev/loop0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2.  sudo vgcreate vg_poj /dev/loop0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3.  sudo lvcreate -L 800M -n lv_dokumen vg_poj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4.  sudo mkfs.xfs /dev/vg_poj/lv_dokumen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5.  sudo mount /dev/vg_poj/lv_dokumen /opt/poj/dokumen_kehakiman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6.  df -hT /opt/poj/dokumen_kehakiman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7.  sudo lvextend -L +400M -r /dev/vg_poj/lv_dokumen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8.  df -hT /opt/poj/dokumen_kehakiman
</a:t>
            </a:r>
            <a:endParaRPr lang="en-US" sz="950" dirty="0"/>
          </a:p>
        </p:txBody>
      </p:sp>
      <p:sp>
        <p:nvSpPr>
          <p:cNvPr id="16" name="Shape 13"/>
          <p:cNvSpPr/>
          <p:nvPr/>
        </p:nvSpPr>
        <p:spPr>
          <a:xfrm>
            <a:off x="6217920" y="1920240"/>
            <a:ext cx="5303520" cy="4023360"/>
          </a:xfrm>
          <a:prstGeom prst="roundRect">
            <a:avLst>
              <a:gd name="adj" fmla="val 3409"/>
            </a:avLst>
          </a:prstGeom>
          <a:solidFill>
            <a:srgbClr val="FFFFFF"/>
          </a:solidFill>
          <a:ln w="19050">
            <a:solidFill>
              <a:srgbClr val="BBF7D0"/>
            </a:solidFill>
            <a:prstDash val="solid"/>
          </a:ln>
        </p:spPr>
      </p:sp>
      <p:sp>
        <p:nvSpPr>
          <p:cNvPr id="17" name="Shape 14"/>
          <p:cNvSpPr/>
          <p:nvPr/>
        </p:nvSpPr>
        <p:spPr>
          <a:xfrm>
            <a:off x="6217920" y="1920240"/>
            <a:ext cx="5303520" cy="411480"/>
          </a:xfrm>
          <a:prstGeom prst="roundRect">
            <a:avLst>
              <a:gd name="adj" fmla="val 33333"/>
            </a:avLst>
          </a:prstGeom>
          <a:solidFill>
            <a:srgbClr val="DCFCE7"/>
          </a:solidFill>
          <a:ln w="12700">
            <a:solidFill>
              <a:srgbClr val="BBF7D0"/>
            </a:solidFill>
            <a:prstDash val="solid"/>
          </a:ln>
        </p:spPr>
      </p:sp>
      <p:sp>
        <p:nvSpPr>
          <p:cNvPr id="18" name="Text 15"/>
          <p:cNvSpPr/>
          <p:nvPr/>
        </p:nvSpPr>
        <p:spPr>
          <a:xfrm>
            <a:off x="6400800" y="1965960"/>
            <a:ext cx="4937760" cy="320040"/>
          </a:xfrm>
          <a:prstGeom prst="rect">
            <a:avLst/>
          </a:prstGeom>
          <a:noFill/>
          <a:ln/>
        </p:spPr>
        <p:txBody>
          <a:bodyPr wrap="square" rtlCol="0" anchor="ctr"/>
          <a:lstStyle/>
          <a:p>
            <a:pPr indent="0" marL="0">
              <a:buNone/>
            </a:pPr>
            <a:r>
              <a:rPr lang="en-US" sz="1000" b="1" dirty="0">
                <a:solidFill>
                  <a:srgbClr val="15803D"/>
                </a:solidFill>
              </a:rPr>
              <a:t>TITIK PEMERHATIAN &amp; VERIFIKASI BUKTI</a:t>
            </a:r>
            <a:endParaRPr lang="en-US" sz="1000" dirty="0"/>
          </a:p>
        </p:txBody>
      </p:sp>
      <p:sp>
        <p:nvSpPr>
          <p:cNvPr id="19" name="Text 16"/>
          <p:cNvSpPr/>
          <p:nvPr/>
        </p:nvSpPr>
        <p:spPr>
          <a:xfrm>
            <a:off x="6400800" y="2423160"/>
            <a:ext cx="4937760" cy="2468880"/>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PV dan VG berjaya dicipta menggunakan peranti blok loopback.</a:t>
            </a:r>
            <a:endParaRPr lang="en-US" sz="950" dirty="0"/>
          </a:p>
          <a:p>
            <a:pPr marL="342900" indent="-342900">
              <a:lnSpc>
                <a:spcPts val="1400"/>
              </a:lnSpc>
              <a:buSzPct val="100000"/>
              <a:buChar char="•"/>
            </a:pPr>
            <a:r>
              <a:rPr lang="en-US" sz="950" dirty="0">
                <a:solidFill>
                  <a:srgbClr val="334155"/>
                </a:solidFill>
              </a:rPr>
              <a:t>LV bersaiz 800MB diformat dengan sistem fail XFS dan di-mount.</a:t>
            </a:r>
            <a:endParaRPr lang="en-US" sz="950" dirty="0"/>
          </a:p>
          <a:p>
            <a:pPr marL="342900" indent="-342900">
              <a:lnSpc>
                <a:spcPts val="1400"/>
              </a:lnSpc>
              <a:buSzPct val="100000"/>
              <a:buChar char="•"/>
            </a:pPr>
            <a:r>
              <a:rPr lang="en-US" sz="950" dirty="0">
                <a:solidFill>
                  <a:srgbClr val="334155"/>
                </a:solidFill>
              </a:rPr>
              <a:t>Arahan lvextend -r membesarkan LV ke 1.2GB dan terus membesarkan XFS.</a:t>
            </a:r>
            <a:endParaRPr lang="en-US" sz="950" dirty="0"/>
          </a:p>
          <a:p>
            <a:pPr marL="342900" indent="-342900">
              <a:lnSpc>
                <a:spcPts val="1400"/>
              </a:lnSpc>
              <a:buSzPct val="100000"/>
              <a:buChar char="•"/>
            </a:pPr>
            <a:r>
              <a:rPr lang="en-US" sz="950" dirty="0">
                <a:solidFill>
                  <a:srgbClr val="334155"/>
                </a:solidFill>
              </a:rPr>
              <a:t>Output df -hT membuktikan kapasiti meningkat serta-merta tanpa unmount.</a:t>
            </a:r>
            <a:endParaRPr lang="en-US" sz="950" dirty="0"/>
          </a:p>
        </p:txBody>
      </p:sp>
      <p:sp>
        <p:nvSpPr>
          <p:cNvPr id="20" name="Shape 17"/>
          <p:cNvSpPr/>
          <p:nvPr/>
        </p:nvSpPr>
        <p:spPr>
          <a:xfrm>
            <a:off x="6400800" y="5029200"/>
            <a:ext cx="4937760" cy="685800"/>
          </a:xfrm>
          <a:prstGeom prst="roundRect">
            <a:avLst>
              <a:gd name="adj" fmla="val 13333"/>
            </a:avLst>
          </a:prstGeom>
          <a:solidFill>
            <a:srgbClr val="F0FDF4"/>
          </a:solidFill>
          <a:ln w="12700">
            <a:solidFill>
              <a:srgbClr val="86EFAC"/>
            </a:solidFill>
            <a:prstDash val="solid"/>
          </a:ln>
        </p:spPr>
      </p:sp>
      <p:sp>
        <p:nvSpPr>
          <p:cNvPr id="21" name="Text 18"/>
          <p:cNvSpPr/>
          <p:nvPr/>
        </p:nvSpPr>
        <p:spPr>
          <a:xfrm>
            <a:off x="6537960" y="5029200"/>
            <a:ext cx="4663440" cy="685800"/>
          </a:xfrm>
          <a:prstGeom prst="rect">
            <a:avLst/>
          </a:prstGeom>
          <a:noFill/>
          <a:ln/>
        </p:spPr>
        <p:txBody>
          <a:bodyPr wrap="square" rtlCol="0" anchor="ctr"/>
          <a:lstStyle/>
          <a:p>
            <a:pPr indent="0" marL="0">
              <a:buNone/>
            </a:pPr>
            <a:r>
              <a:rPr lang="en-US" sz="900" b="1" dirty="0">
                <a:solidFill>
                  <a:srgbClr val="166534"/>
                </a:solidFill>
              </a:rPr>
              <a:t>HASIL &amp; BUKTI: Storan kehakiman dibesarkan secara langsung daripada 800MB ke 1.2GB dengan status Clean.</a:t>
            </a:r>
            <a:endParaRPr lang="en-US" sz="900" dirty="0"/>
          </a:p>
        </p:txBody>
      </p:sp>
      <p:sp>
        <p:nvSpPr>
          <p:cNvPr id="22" name="Shape 19"/>
          <p:cNvSpPr/>
          <p:nvPr/>
        </p:nvSpPr>
        <p:spPr>
          <a:xfrm>
            <a:off x="640080" y="6400800"/>
            <a:ext cx="10881360" cy="0"/>
          </a:xfrm>
          <a:prstGeom prst="line">
            <a:avLst/>
          </a:prstGeom>
          <a:noFill/>
          <a:ln w="12700">
            <a:solidFill>
              <a:srgbClr val="E2E8F0"/>
            </a:solidFill>
            <a:prstDash val="solid"/>
          </a:ln>
        </p:spPr>
      </p:sp>
      <p:sp>
        <p:nvSpPr>
          <p:cNvPr id="23" name="Text 20"/>
          <p:cNvSpPr/>
          <p:nvPr/>
        </p:nvSpPr>
        <p:spPr>
          <a:xfrm>
            <a:off x="640080" y="6446520"/>
            <a:ext cx="4572000" cy="320040"/>
          </a:xfrm>
          <a:prstGeom prst="rect">
            <a:avLst/>
          </a:prstGeom>
          <a:noFill/>
          <a:ln/>
        </p:spPr>
        <p:txBody>
          <a:bodyPr wrap="square" rtlCol="0" anchor="ctr"/>
          <a:lstStyle/>
          <a:p>
            <a:pPr indent="0" marL="0">
              <a:buNone/>
            </a:pPr>
            <a:r>
              <a:rPr lang="en-US" sz="900" b="1" dirty="0">
                <a:solidFill>
                  <a:srgbClr val="64748B"/>
                </a:solidFill>
              </a:rPr>
              <a:t>Cognitoz BetaLab  |  Jabatan Kehakiman Malaysia (POJ)</a:t>
            </a:r>
            <a:endParaRPr lang="en-US" sz="900" dirty="0"/>
          </a:p>
        </p:txBody>
      </p:sp>
      <p:sp>
        <p:nvSpPr>
          <p:cNvPr id="24" name="Text 21"/>
          <p:cNvSpPr/>
          <p:nvPr/>
        </p:nvSpPr>
        <p:spPr>
          <a:xfrm>
            <a:off x="4389120" y="6446520"/>
            <a:ext cx="5029200" cy="320040"/>
          </a:xfrm>
          <a:prstGeom prst="rect">
            <a:avLst/>
          </a:prstGeom>
          <a:noFill/>
          <a:ln/>
        </p:spPr>
        <p:txBody>
          <a:bodyPr wrap="square" rtlCol="0" anchor="ctr"/>
          <a:lstStyle/>
          <a:p>
            <a:pPr algn="ctr" indent="0" marL="0">
              <a:buNone/>
            </a:pPr>
            <a:r>
              <a:rPr lang="en-US" sz="850" dirty="0">
                <a:solidFill>
                  <a:srgbClr val="64748B"/>
                </a:solidFill>
              </a:rPr>
              <a:t>Copyright © 2026 Cognitoz I.T Training Sdn Bhd — www.cognitoz.com</a:t>
            </a:r>
            <a:endParaRPr lang="en-US" sz="850" dirty="0"/>
          </a:p>
        </p:txBody>
      </p:sp>
      <p:sp>
        <p:nvSpPr>
          <p:cNvPr id="25" name="Text 22"/>
          <p:cNvSpPr/>
          <p:nvPr/>
        </p:nvSpPr>
        <p:spPr>
          <a:xfrm>
            <a:off x="9601200" y="6446520"/>
            <a:ext cx="1920240" cy="320040"/>
          </a:xfrm>
          <a:prstGeom prst="rect">
            <a:avLst/>
          </a:prstGeom>
          <a:noFill/>
          <a:ln/>
        </p:spPr>
        <p:txBody>
          <a:bodyPr wrap="square" rtlCol="0" anchor="ctr"/>
          <a:lstStyle/>
          <a:p>
            <a:pPr algn="r" indent="0" marL="0">
              <a:buNone/>
            </a:pPr>
            <a:r>
              <a:rPr lang="en-US" sz="900" b="1" dirty="0">
                <a:solidFill>
                  <a:srgbClr val="64748B"/>
                </a:solidFill>
              </a:rPr>
              <a:t>15 / 22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3044952" cy="54864"/>
          </a:xfrm>
          <a:prstGeom prst="rect">
            <a:avLst/>
          </a:prstGeom>
          <a:solidFill>
            <a:srgbClr val="7E22CE"/>
          </a:solidFill>
          <a:ln/>
        </p:spPr>
      </p:sp>
      <p:sp>
        <p:nvSpPr>
          <p:cNvPr id="3" name="Shape 1"/>
          <p:cNvSpPr/>
          <p:nvPr/>
        </p:nvSpPr>
        <p:spPr>
          <a:xfrm>
            <a:off x="3044952" y="0"/>
            <a:ext cx="3044952" cy="54864"/>
          </a:xfrm>
          <a:prstGeom prst="rect">
            <a:avLst/>
          </a:prstGeom>
          <a:solidFill>
            <a:srgbClr val="0078D4"/>
          </a:solidFill>
          <a:ln/>
        </p:spPr>
      </p:sp>
      <p:sp>
        <p:nvSpPr>
          <p:cNvPr id="4" name="Shape 2"/>
          <p:cNvSpPr/>
          <p:nvPr/>
        </p:nvSpPr>
        <p:spPr>
          <a:xfrm>
            <a:off x="6089904" y="0"/>
            <a:ext cx="3044952" cy="54864"/>
          </a:xfrm>
          <a:prstGeom prst="rect">
            <a:avLst/>
          </a:prstGeom>
          <a:solidFill>
            <a:srgbClr val="009E96"/>
          </a:solidFill>
          <a:ln/>
        </p:spPr>
      </p:sp>
      <p:sp>
        <p:nvSpPr>
          <p:cNvPr id="5" name="Shape 3"/>
          <p:cNvSpPr/>
          <p:nvPr/>
        </p:nvSpPr>
        <p:spPr>
          <a:xfrm>
            <a:off x="9134856" y="0"/>
            <a:ext cx="3054096" cy="54864"/>
          </a:xfrm>
          <a:prstGeom prst="rect">
            <a:avLst/>
          </a:prstGeom>
          <a:solidFill>
            <a:srgbClr val="D97706"/>
          </a:solidFill>
          <a:ln/>
        </p:spPr>
      </p:sp>
      <p:pic>
        <p:nvPicPr>
          <p:cNvPr id="6" name="Image 0" descr="D:/betalab.cognitoz.com/workshops/poj_centos/public/cognitoz-logo.png">    </p:cNvPr>
          <p:cNvPicPr>
            <a:picLocks noChangeAspect="1"/>
          </p:cNvPicPr>
          <p:nvPr/>
        </p:nvPicPr>
        <p:blipFill>
          <a:blip r:embed="rId1"/>
          <a:stretch>
            <a:fillRect/>
          </a:stretch>
        </p:blipFill>
        <p:spPr>
          <a:xfrm>
            <a:off x="640080" y="201168"/>
            <a:ext cx="1463040" cy="411480"/>
          </a:xfrm>
          <a:prstGeom prst="rect">
            <a:avLst/>
          </a:prstGeom>
        </p:spPr>
      </p:pic>
      <p:sp>
        <p:nvSpPr>
          <p:cNvPr id="7" name="Shape 4"/>
          <p:cNvSpPr/>
          <p:nvPr/>
        </p:nvSpPr>
        <p:spPr>
          <a:xfrm>
            <a:off x="7863840" y="228600"/>
            <a:ext cx="3657600" cy="347472"/>
          </a:xfrm>
          <a:prstGeom prst="roundRect">
            <a:avLst>
              <a:gd name="adj" fmla="val 47368"/>
            </a:avLst>
          </a:prstGeom>
          <a:solidFill>
            <a:srgbClr val="FFFFFF"/>
          </a:solidFill>
          <a:ln w="12700">
            <a:solidFill>
              <a:srgbClr val="E2E8F0"/>
            </a:solidFill>
            <a:prstDash val="solid"/>
          </a:ln>
        </p:spPr>
      </p:sp>
      <p:sp>
        <p:nvSpPr>
          <p:cNvPr id="8" name="Text 5"/>
          <p:cNvSpPr/>
          <p:nvPr/>
        </p:nvSpPr>
        <p:spPr>
          <a:xfrm>
            <a:off x="7863840" y="228600"/>
            <a:ext cx="3657600" cy="347472"/>
          </a:xfrm>
          <a:prstGeom prst="rect">
            <a:avLst/>
          </a:prstGeom>
          <a:noFill/>
          <a:ln/>
        </p:spPr>
        <p:txBody>
          <a:bodyPr wrap="square" rtlCol="0" anchor="ctr"/>
          <a:lstStyle/>
          <a:p>
            <a:pPr algn="ctr" indent="0" marL="0">
              <a:buNone/>
            </a:pPr>
            <a:r>
              <a:rPr lang="en-US" sz="900" b="1" dirty="0">
                <a:solidFill>
                  <a:srgbClr val="7E22CE"/>
                </a:solidFill>
              </a:rPr>
              <a:t>CentOS Stream 10  |  POJ Putrajaya</a:t>
            </a:r>
            <a:endParaRPr lang="en-US" sz="900" dirty="0"/>
          </a:p>
        </p:txBody>
      </p:sp>
      <p:sp>
        <p:nvSpPr>
          <p:cNvPr id="9" name="Text 6"/>
          <p:cNvSpPr/>
          <p:nvPr/>
        </p:nvSpPr>
        <p:spPr>
          <a:xfrm>
            <a:off x="640080" y="777240"/>
            <a:ext cx="10881360" cy="274320"/>
          </a:xfrm>
          <a:prstGeom prst="rect">
            <a:avLst/>
          </a:prstGeom>
          <a:noFill/>
          <a:ln/>
        </p:spPr>
        <p:txBody>
          <a:bodyPr wrap="square" rtlCol="0" anchor="ctr"/>
          <a:lstStyle/>
          <a:p>
            <a:pPr indent="0" marL="0">
              <a:buNone/>
            </a:pPr>
            <a:r>
              <a:rPr lang="en-US" sz="1000" b="1" spc="150" kern="0" dirty="0">
                <a:solidFill>
                  <a:srgbClr val="0078D4"/>
                </a:solidFill>
              </a:rPr>
              <a:t>MODUL 4: KESELAMATAN RANGKAIAN</a:t>
            </a:r>
            <a:endParaRPr lang="en-US" sz="1000" dirty="0"/>
          </a:p>
        </p:txBody>
      </p:sp>
      <p:sp>
        <p:nvSpPr>
          <p:cNvPr id="10" name="Text 7"/>
          <p:cNvSpPr/>
          <p:nvPr/>
        </p:nvSpPr>
        <p:spPr>
          <a:xfrm>
            <a:off x="640080" y="1024128"/>
            <a:ext cx="10881360" cy="502920"/>
          </a:xfrm>
          <a:prstGeom prst="rect">
            <a:avLst/>
          </a:prstGeom>
          <a:noFill/>
          <a:ln/>
        </p:spPr>
        <p:txBody>
          <a:bodyPr wrap="square" rtlCol="0" anchor="ctr"/>
          <a:lstStyle/>
          <a:p>
            <a:pPr indent="0" marL="0">
              <a:buNone/>
            </a:pPr>
            <a:r>
              <a:rPr lang="en-US" sz="2100" b="1" dirty="0">
                <a:solidFill>
                  <a:srgbClr val="0F172A"/>
                </a:solidFill>
              </a:rPr>
              <a:t>Pengurusan Port Rangkaian &amp; firewalld</a:t>
            </a:r>
            <a:endParaRPr lang="en-US" sz="2100" dirty="0"/>
          </a:p>
        </p:txBody>
      </p:sp>
      <p:sp>
        <p:nvSpPr>
          <p:cNvPr id="11" name="Text 8"/>
          <p:cNvSpPr/>
          <p:nvPr/>
        </p:nvSpPr>
        <p:spPr>
          <a:xfrm>
            <a:off x="640080" y="1536192"/>
            <a:ext cx="10881360" cy="320040"/>
          </a:xfrm>
          <a:prstGeom prst="rect">
            <a:avLst/>
          </a:prstGeom>
          <a:noFill/>
          <a:ln/>
        </p:spPr>
        <p:txBody>
          <a:bodyPr wrap="square" rtlCol="0" anchor="ctr"/>
          <a:lstStyle/>
          <a:p>
            <a:pPr indent="0" marL="0">
              <a:buNone/>
            </a:pPr>
            <a:r>
              <a:rPr lang="en-US" sz="1200" dirty="0">
                <a:solidFill>
                  <a:srgbClr val="64748B"/>
                </a:solidFill>
              </a:rPr>
              <a:t>Audit Port Aktif dan Pengurusan Tembok Api Dinamik Berasaskan Zon</a:t>
            </a:r>
            <a:endParaRPr lang="en-US" sz="1200" dirty="0"/>
          </a:p>
        </p:txBody>
      </p:sp>
      <p:sp>
        <p:nvSpPr>
          <p:cNvPr id="12" name="Shape 9"/>
          <p:cNvSpPr/>
          <p:nvPr/>
        </p:nvSpPr>
        <p:spPr>
          <a:xfrm>
            <a:off x="640080" y="1920240"/>
            <a:ext cx="5212080" cy="4206240"/>
          </a:xfrm>
          <a:prstGeom prst="roundRect">
            <a:avLst>
              <a:gd name="adj" fmla="val 3261"/>
            </a:avLst>
          </a:prstGeom>
          <a:solidFill>
            <a:srgbClr val="FFFFFF"/>
          </a:solidFill>
          <a:ln w="12700">
            <a:solidFill>
              <a:srgbClr val="E2E8F0"/>
            </a:solidFill>
            <a:prstDash val="solid"/>
          </a:ln>
        </p:spPr>
      </p:sp>
      <p:sp>
        <p:nvSpPr>
          <p:cNvPr id="13" name="Shape 10"/>
          <p:cNvSpPr/>
          <p:nvPr/>
        </p:nvSpPr>
        <p:spPr>
          <a:xfrm>
            <a:off x="640080" y="1920240"/>
            <a:ext cx="5212080" cy="73152"/>
          </a:xfrm>
          <a:prstGeom prst="roundRect">
            <a:avLst>
              <a:gd name="adj" fmla="val 50000"/>
            </a:avLst>
          </a:prstGeom>
          <a:solidFill>
            <a:srgbClr val="0078D4"/>
          </a:solidFill>
          <a:ln w="12700">
            <a:solidFill>
              <a:srgbClr val="0078D4"/>
            </a:solidFill>
            <a:prstDash val="solid"/>
          </a:ln>
        </p:spPr>
      </p:sp>
      <p:sp>
        <p:nvSpPr>
          <p:cNvPr id="14" name="Text 11"/>
          <p:cNvSpPr/>
          <p:nvPr/>
        </p:nvSpPr>
        <p:spPr>
          <a:xfrm>
            <a:off x="868680" y="2103120"/>
            <a:ext cx="4754880" cy="320040"/>
          </a:xfrm>
          <a:prstGeom prst="rect">
            <a:avLst/>
          </a:prstGeom>
          <a:noFill/>
          <a:ln/>
        </p:spPr>
        <p:txBody>
          <a:bodyPr wrap="square" rtlCol="0" anchor="ctr"/>
          <a:lstStyle/>
          <a:p>
            <a:pPr indent="0" marL="0">
              <a:buNone/>
            </a:pPr>
            <a:r>
              <a:rPr lang="en-US" sz="1200" b="1" dirty="0">
                <a:solidFill>
                  <a:srgbClr val="0078D4"/>
                </a:solidFill>
              </a:rPr>
              <a:t>Audit Port Rangkaian dengan ss</a:t>
            </a:r>
            <a:endParaRPr lang="en-US" sz="1200" dirty="0"/>
          </a:p>
        </p:txBody>
      </p:sp>
      <p:sp>
        <p:nvSpPr>
          <p:cNvPr id="15" name="Text 12"/>
          <p:cNvSpPr/>
          <p:nvPr/>
        </p:nvSpPr>
        <p:spPr>
          <a:xfrm>
            <a:off x="868680" y="2450592"/>
            <a:ext cx="4754880" cy="3127248"/>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Perintah ss (socket statistics) menggantikan perintah netstat legasi.</a:t>
            </a:r>
            <a:endParaRPr lang="en-US" sz="950" dirty="0"/>
          </a:p>
          <a:p>
            <a:pPr marL="342900" indent="-342900">
              <a:lnSpc>
                <a:spcPts val="1400"/>
              </a:lnSpc>
              <a:buSzPct val="100000"/>
              <a:buChar char="•"/>
            </a:pPr>
            <a:r>
              <a:rPr lang="en-US" sz="950" dirty="0">
                <a:solidFill>
                  <a:srgbClr val="334155"/>
                </a:solidFill>
              </a:rPr>
              <a:t>Sintaks standard: ss -tulpn</a:t>
            </a:r>
            <a:endParaRPr lang="en-US" sz="950" dirty="0"/>
          </a:p>
          <a:p>
            <a:pPr marL="342900" indent="-342900">
              <a:lnSpc>
                <a:spcPts val="1400"/>
              </a:lnSpc>
              <a:buSzPct val="100000"/>
              <a:buChar char="•"/>
            </a:pPr>
            <a:r>
              <a:rPr lang="en-US" sz="950" dirty="0">
                <a:solidFill>
                  <a:srgbClr val="334155"/>
                </a:solidFill>
              </a:rPr>
              <a:t>  • -t : Port TCP sahaja</a:t>
            </a:r>
            <a:endParaRPr lang="en-US" sz="950" dirty="0"/>
          </a:p>
          <a:p>
            <a:pPr marL="342900" indent="-342900">
              <a:lnSpc>
                <a:spcPts val="1400"/>
              </a:lnSpc>
              <a:buSzPct val="100000"/>
              <a:buChar char="•"/>
            </a:pPr>
            <a:r>
              <a:rPr lang="en-US" sz="950" dirty="0">
                <a:solidFill>
                  <a:srgbClr val="334155"/>
                </a:solidFill>
              </a:rPr>
              <a:t>  • -u : Port UDP sahaja</a:t>
            </a:r>
            <a:endParaRPr lang="en-US" sz="950" dirty="0"/>
          </a:p>
          <a:p>
            <a:pPr marL="342900" indent="-342900">
              <a:lnSpc>
                <a:spcPts val="1400"/>
              </a:lnSpc>
              <a:buSzPct val="100000"/>
              <a:buChar char="•"/>
            </a:pPr>
            <a:r>
              <a:rPr lang="en-US" sz="950" dirty="0">
                <a:solidFill>
                  <a:srgbClr val="334155"/>
                </a:solidFill>
              </a:rPr>
              <a:t>  • -l : Port yang sedang mendengar (listening)</a:t>
            </a:r>
            <a:endParaRPr lang="en-US" sz="950" dirty="0"/>
          </a:p>
          <a:p>
            <a:pPr marL="342900" indent="-342900">
              <a:lnSpc>
                <a:spcPts val="1400"/>
              </a:lnSpc>
              <a:buSzPct val="100000"/>
              <a:buChar char="•"/>
            </a:pPr>
            <a:r>
              <a:rPr lang="en-US" sz="950" dirty="0">
                <a:solidFill>
                  <a:srgbClr val="334155"/>
                </a:solidFill>
              </a:rPr>
              <a:t>  • -p : Papar nama proses dan PID pemilik port</a:t>
            </a:r>
            <a:endParaRPr lang="en-US" sz="950" dirty="0"/>
          </a:p>
          <a:p>
            <a:pPr marL="342900" indent="-342900">
              <a:lnSpc>
                <a:spcPts val="1400"/>
              </a:lnSpc>
              <a:buSzPct val="100000"/>
              <a:buChar char="•"/>
            </a:pPr>
            <a:r>
              <a:rPr lang="en-US" sz="950" dirty="0">
                <a:solidFill>
                  <a:srgbClr val="334155"/>
                </a:solidFill>
              </a:rPr>
              <a:t>  • -n : Papar nombor port tanpa resolusi DNS perlahan</a:t>
            </a:r>
            <a:endParaRPr lang="en-US" sz="950" dirty="0"/>
          </a:p>
          <a:p>
            <a:pPr marL="342900" indent="-342900">
              <a:lnSpc>
                <a:spcPts val="1400"/>
              </a:lnSpc>
              <a:buSzPct val="100000"/>
              <a:buChar char="•"/>
            </a:pPr>
            <a:r>
              <a:rPr lang="en-US" sz="950" dirty="0">
                <a:solidFill>
                  <a:srgbClr val="334155"/>
                </a:solidFill>
              </a:rPr>
              <a:t>Penting: Kenal pasti sebarang port terdedah sebelum mengaktifkan tembok api.</a:t>
            </a:r>
            <a:endParaRPr lang="en-US" sz="950" dirty="0"/>
          </a:p>
        </p:txBody>
      </p:sp>
      <p:sp>
        <p:nvSpPr>
          <p:cNvPr id="16" name="Shape 13"/>
          <p:cNvSpPr/>
          <p:nvPr/>
        </p:nvSpPr>
        <p:spPr>
          <a:xfrm>
            <a:off x="822960" y="5623560"/>
            <a:ext cx="4846320" cy="384048"/>
          </a:xfrm>
          <a:prstGeom prst="roundRect">
            <a:avLst>
              <a:gd name="adj" fmla="val 19048"/>
            </a:avLst>
          </a:prstGeom>
          <a:solidFill>
            <a:srgbClr val="F1F5F9"/>
          </a:solidFill>
          <a:ln w="10160">
            <a:solidFill>
              <a:srgbClr val="E2E8F0"/>
            </a:solidFill>
            <a:prstDash val="solid"/>
          </a:ln>
        </p:spPr>
      </p:sp>
      <p:sp>
        <p:nvSpPr>
          <p:cNvPr id="17" name="Text 14"/>
          <p:cNvSpPr/>
          <p:nvPr/>
        </p:nvSpPr>
        <p:spPr>
          <a:xfrm>
            <a:off x="868680" y="5623560"/>
            <a:ext cx="4754880" cy="384048"/>
          </a:xfrm>
          <a:prstGeom prst="rect">
            <a:avLst/>
          </a:prstGeom>
          <a:noFill/>
          <a:ln/>
        </p:spPr>
        <p:txBody>
          <a:bodyPr wrap="square" rtlCol="0" anchor="ctr"/>
          <a:lstStyle/>
          <a:p>
            <a:pPr indent="0" marL="0">
              <a:buNone/>
            </a:pPr>
            <a:r>
              <a:rPr lang="en-US" sz="850" b="1" dirty="0">
                <a:solidFill>
                  <a:srgbClr val="0078D4"/>
                </a:solidFill>
              </a:rPr>
              <a:t>Jalankan audit berkala untuk mengesan port mencurigakan</a:t>
            </a:r>
            <a:endParaRPr lang="en-US" sz="850" dirty="0"/>
          </a:p>
        </p:txBody>
      </p:sp>
      <p:sp>
        <p:nvSpPr>
          <p:cNvPr id="18" name="Shape 15"/>
          <p:cNvSpPr/>
          <p:nvPr/>
        </p:nvSpPr>
        <p:spPr>
          <a:xfrm>
            <a:off x="6217920" y="1920240"/>
            <a:ext cx="5303520" cy="4206240"/>
          </a:xfrm>
          <a:prstGeom prst="roundRect">
            <a:avLst>
              <a:gd name="adj" fmla="val 3261"/>
            </a:avLst>
          </a:prstGeom>
          <a:solidFill>
            <a:srgbClr val="FFFFFF"/>
          </a:solidFill>
          <a:ln w="12700">
            <a:solidFill>
              <a:srgbClr val="E2E8F0"/>
            </a:solidFill>
            <a:prstDash val="solid"/>
          </a:ln>
        </p:spPr>
      </p:sp>
      <p:sp>
        <p:nvSpPr>
          <p:cNvPr id="19" name="Shape 16"/>
          <p:cNvSpPr/>
          <p:nvPr/>
        </p:nvSpPr>
        <p:spPr>
          <a:xfrm>
            <a:off x="6217920" y="1920240"/>
            <a:ext cx="5303520" cy="73152"/>
          </a:xfrm>
          <a:prstGeom prst="roundRect">
            <a:avLst>
              <a:gd name="adj" fmla="val 50000"/>
            </a:avLst>
          </a:prstGeom>
          <a:solidFill>
            <a:srgbClr val="009E96"/>
          </a:solidFill>
          <a:ln w="12700">
            <a:solidFill>
              <a:srgbClr val="009E96"/>
            </a:solidFill>
            <a:prstDash val="solid"/>
          </a:ln>
        </p:spPr>
      </p:sp>
      <p:sp>
        <p:nvSpPr>
          <p:cNvPr id="20" name="Text 17"/>
          <p:cNvSpPr/>
          <p:nvPr/>
        </p:nvSpPr>
        <p:spPr>
          <a:xfrm>
            <a:off x="6446520" y="2103120"/>
            <a:ext cx="4846320" cy="320040"/>
          </a:xfrm>
          <a:prstGeom prst="rect">
            <a:avLst/>
          </a:prstGeom>
          <a:noFill/>
          <a:ln/>
        </p:spPr>
        <p:txBody>
          <a:bodyPr wrap="square" rtlCol="0" anchor="ctr"/>
          <a:lstStyle/>
          <a:p>
            <a:pPr indent="0" marL="0">
              <a:buNone/>
            </a:pPr>
            <a:r>
              <a:rPr lang="en-US" sz="1200" b="1" dirty="0">
                <a:solidFill>
                  <a:srgbClr val="009E96"/>
                </a:solidFill>
              </a:rPr>
              <a:t>Konsep Zon firewalld</a:t>
            </a:r>
            <a:endParaRPr lang="en-US" sz="1200" dirty="0"/>
          </a:p>
        </p:txBody>
      </p:sp>
      <p:sp>
        <p:nvSpPr>
          <p:cNvPr id="21" name="Text 18"/>
          <p:cNvSpPr/>
          <p:nvPr/>
        </p:nvSpPr>
        <p:spPr>
          <a:xfrm>
            <a:off x="6446520" y="2450592"/>
            <a:ext cx="4846320" cy="3127248"/>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firewalld adalah daemon dinamik yang menguruskan peraturan nftables.</a:t>
            </a:r>
            <a:endParaRPr lang="en-US" sz="950" dirty="0"/>
          </a:p>
          <a:p>
            <a:pPr marL="342900" indent="-342900">
              <a:lnSpc>
                <a:spcPts val="1400"/>
              </a:lnSpc>
              <a:buSzPct val="100000"/>
              <a:buChar char="•"/>
            </a:pPr>
            <a:r>
              <a:rPr lang="en-US" sz="950" dirty="0">
                <a:solidFill>
                  <a:srgbClr val="334155"/>
                </a:solidFill>
              </a:rPr>
              <a:t>Berasaskan konsep Zon: public, internal, trusted, drop, dmz.</a:t>
            </a:r>
            <a:endParaRPr lang="en-US" sz="950" dirty="0"/>
          </a:p>
          <a:p>
            <a:pPr marL="342900" indent="-342900">
              <a:lnSpc>
                <a:spcPts val="1400"/>
              </a:lnSpc>
              <a:buSzPct val="100000"/>
              <a:buChar char="•"/>
            </a:pPr>
            <a:r>
              <a:rPr lang="en-US" sz="950" dirty="0">
                <a:solidFill>
                  <a:srgbClr val="334155"/>
                </a:solidFill>
              </a:rPr>
              <a:t>Setiap antaramuka rangkaian (cth: eth0) diletakkan di bawah satu zon aktif.</a:t>
            </a:r>
            <a:endParaRPr lang="en-US" sz="950" dirty="0"/>
          </a:p>
          <a:p>
            <a:pPr marL="342900" indent="-342900">
              <a:lnSpc>
                <a:spcPts val="1400"/>
              </a:lnSpc>
              <a:buSzPct val="100000"/>
              <a:buChar char="•"/>
            </a:pPr>
            <a:r>
              <a:rPr lang="en-US" sz="950" dirty="0">
                <a:solidFill>
                  <a:srgbClr val="334155"/>
                </a:solidFill>
              </a:rPr>
              <a:t>Zon "public" biasanya menjadi zon lalai bagi pelayan.</a:t>
            </a:r>
            <a:endParaRPr lang="en-US" sz="950" dirty="0"/>
          </a:p>
          <a:p>
            <a:pPr marL="342900" indent="-342900">
              <a:lnSpc>
                <a:spcPts val="1400"/>
              </a:lnSpc>
              <a:buSzPct val="100000"/>
              <a:buChar char="•"/>
            </a:pPr>
            <a:r>
              <a:rPr lang="en-US" sz="950" dirty="0">
                <a:solidFill>
                  <a:srgbClr val="334155"/>
                </a:solidFill>
              </a:rPr>
              <a:t>Perubahan peraturan boleh dibuat serta-merta tanpa memutuskan sambungan aktif sedia ada.</a:t>
            </a:r>
            <a:endParaRPr lang="en-US" sz="950" dirty="0"/>
          </a:p>
        </p:txBody>
      </p:sp>
      <p:sp>
        <p:nvSpPr>
          <p:cNvPr id="22" name="Shape 19"/>
          <p:cNvSpPr/>
          <p:nvPr/>
        </p:nvSpPr>
        <p:spPr>
          <a:xfrm>
            <a:off x="6400800" y="5623560"/>
            <a:ext cx="4937760" cy="384048"/>
          </a:xfrm>
          <a:prstGeom prst="roundRect">
            <a:avLst>
              <a:gd name="adj" fmla="val 19048"/>
            </a:avLst>
          </a:prstGeom>
          <a:solidFill>
            <a:srgbClr val="F1F5F9"/>
          </a:solidFill>
          <a:ln w="10160">
            <a:solidFill>
              <a:srgbClr val="E2E8F0"/>
            </a:solidFill>
            <a:prstDash val="solid"/>
          </a:ln>
        </p:spPr>
      </p:sp>
      <p:sp>
        <p:nvSpPr>
          <p:cNvPr id="23" name="Text 20"/>
          <p:cNvSpPr/>
          <p:nvPr/>
        </p:nvSpPr>
        <p:spPr>
          <a:xfrm>
            <a:off x="6446520" y="5623560"/>
            <a:ext cx="4846320" cy="384048"/>
          </a:xfrm>
          <a:prstGeom prst="rect">
            <a:avLst/>
          </a:prstGeom>
          <a:noFill/>
          <a:ln/>
        </p:spPr>
        <p:txBody>
          <a:bodyPr wrap="square" rtlCol="0" anchor="ctr"/>
          <a:lstStyle/>
          <a:p>
            <a:pPr indent="0" marL="0">
              <a:buNone/>
            </a:pPr>
            <a:r>
              <a:rPr lang="en-US" sz="850" b="1" dirty="0">
                <a:solidFill>
                  <a:srgbClr val="009E96"/>
                </a:solidFill>
              </a:rPr>
              <a:t>Status semasa disemak dengan: sudo firewall-cmd --state</a:t>
            </a:r>
            <a:endParaRPr lang="en-US" sz="850" dirty="0"/>
          </a:p>
        </p:txBody>
      </p:sp>
      <p:sp>
        <p:nvSpPr>
          <p:cNvPr id="24" name="Shape 21"/>
          <p:cNvSpPr/>
          <p:nvPr/>
        </p:nvSpPr>
        <p:spPr>
          <a:xfrm>
            <a:off x="640080" y="6400800"/>
            <a:ext cx="10881360" cy="0"/>
          </a:xfrm>
          <a:prstGeom prst="line">
            <a:avLst/>
          </a:prstGeom>
          <a:noFill/>
          <a:ln w="12700">
            <a:solidFill>
              <a:srgbClr val="E2E8F0"/>
            </a:solidFill>
            <a:prstDash val="solid"/>
          </a:ln>
        </p:spPr>
      </p:sp>
      <p:sp>
        <p:nvSpPr>
          <p:cNvPr id="25" name="Text 22"/>
          <p:cNvSpPr/>
          <p:nvPr/>
        </p:nvSpPr>
        <p:spPr>
          <a:xfrm>
            <a:off x="640080" y="6446520"/>
            <a:ext cx="4572000" cy="320040"/>
          </a:xfrm>
          <a:prstGeom prst="rect">
            <a:avLst/>
          </a:prstGeom>
          <a:noFill/>
          <a:ln/>
        </p:spPr>
        <p:txBody>
          <a:bodyPr wrap="square" rtlCol="0" anchor="ctr"/>
          <a:lstStyle/>
          <a:p>
            <a:pPr indent="0" marL="0">
              <a:buNone/>
            </a:pPr>
            <a:r>
              <a:rPr lang="en-US" sz="900" b="1" dirty="0">
                <a:solidFill>
                  <a:srgbClr val="64748B"/>
                </a:solidFill>
              </a:rPr>
              <a:t>Cognitoz BetaLab  |  Jabatan Kehakiman Malaysia (POJ)</a:t>
            </a:r>
            <a:endParaRPr lang="en-US" sz="900" dirty="0"/>
          </a:p>
        </p:txBody>
      </p:sp>
      <p:sp>
        <p:nvSpPr>
          <p:cNvPr id="26" name="Text 23"/>
          <p:cNvSpPr/>
          <p:nvPr/>
        </p:nvSpPr>
        <p:spPr>
          <a:xfrm>
            <a:off x="4389120" y="6446520"/>
            <a:ext cx="5029200" cy="320040"/>
          </a:xfrm>
          <a:prstGeom prst="rect">
            <a:avLst/>
          </a:prstGeom>
          <a:noFill/>
          <a:ln/>
        </p:spPr>
        <p:txBody>
          <a:bodyPr wrap="square" rtlCol="0" anchor="ctr"/>
          <a:lstStyle/>
          <a:p>
            <a:pPr algn="ctr" indent="0" marL="0">
              <a:buNone/>
            </a:pPr>
            <a:r>
              <a:rPr lang="en-US" sz="850" dirty="0">
                <a:solidFill>
                  <a:srgbClr val="64748B"/>
                </a:solidFill>
              </a:rPr>
              <a:t>Copyright © 2026 Cognitoz I.T Training Sdn Bhd — www.cognitoz.com</a:t>
            </a:r>
            <a:endParaRPr lang="en-US" sz="850" dirty="0"/>
          </a:p>
        </p:txBody>
      </p:sp>
      <p:sp>
        <p:nvSpPr>
          <p:cNvPr id="27" name="Text 24"/>
          <p:cNvSpPr/>
          <p:nvPr/>
        </p:nvSpPr>
        <p:spPr>
          <a:xfrm>
            <a:off x="9601200" y="6446520"/>
            <a:ext cx="1920240" cy="320040"/>
          </a:xfrm>
          <a:prstGeom prst="rect">
            <a:avLst/>
          </a:prstGeom>
          <a:noFill/>
          <a:ln/>
        </p:spPr>
        <p:txBody>
          <a:bodyPr wrap="square" rtlCol="0" anchor="ctr"/>
          <a:lstStyle/>
          <a:p>
            <a:pPr algn="r" indent="0" marL="0">
              <a:buNone/>
            </a:pPr>
            <a:r>
              <a:rPr lang="en-US" sz="900" b="1" dirty="0">
                <a:solidFill>
                  <a:srgbClr val="64748B"/>
                </a:solidFill>
              </a:rPr>
              <a:t>16 / 22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3044952" cy="54864"/>
          </a:xfrm>
          <a:prstGeom prst="rect">
            <a:avLst/>
          </a:prstGeom>
          <a:solidFill>
            <a:srgbClr val="7E22CE"/>
          </a:solidFill>
          <a:ln/>
        </p:spPr>
      </p:sp>
      <p:sp>
        <p:nvSpPr>
          <p:cNvPr id="3" name="Shape 1"/>
          <p:cNvSpPr/>
          <p:nvPr/>
        </p:nvSpPr>
        <p:spPr>
          <a:xfrm>
            <a:off x="3044952" y="0"/>
            <a:ext cx="3044952" cy="54864"/>
          </a:xfrm>
          <a:prstGeom prst="rect">
            <a:avLst/>
          </a:prstGeom>
          <a:solidFill>
            <a:srgbClr val="0078D4"/>
          </a:solidFill>
          <a:ln/>
        </p:spPr>
      </p:sp>
      <p:sp>
        <p:nvSpPr>
          <p:cNvPr id="4" name="Shape 2"/>
          <p:cNvSpPr/>
          <p:nvPr/>
        </p:nvSpPr>
        <p:spPr>
          <a:xfrm>
            <a:off x="6089904" y="0"/>
            <a:ext cx="3044952" cy="54864"/>
          </a:xfrm>
          <a:prstGeom prst="rect">
            <a:avLst/>
          </a:prstGeom>
          <a:solidFill>
            <a:srgbClr val="009E96"/>
          </a:solidFill>
          <a:ln/>
        </p:spPr>
      </p:sp>
      <p:sp>
        <p:nvSpPr>
          <p:cNvPr id="5" name="Shape 3"/>
          <p:cNvSpPr/>
          <p:nvPr/>
        </p:nvSpPr>
        <p:spPr>
          <a:xfrm>
            <a:off x="9134856" y="0"/>
            <a:ext cx="3054096" cy="54864"/>
          </a:xfrm>
          <a:prstGeom prst="rect">
            <a:avLst/>
          </a:prstGeom>
          <a:solidFill>
            <a:srgbClr val="D97706"/>
          </a:solidFill>
          <a:ln/>
        </p:spPr>
      </p:sp>
      <p:pic>
        <p:nvPicPr>
          <p:cNvPr id="6" name="Image 0" descr="D:/betalab.cognitoz.com/workshops/poj_centos/public/cognitoz-logo.png">    </p:cNvPr>
          <p:cNvPicPr>
            <a:picLocks noChangeAspect="1"/>
          </p:cNvPicPr>
          <p:nvPr/>
        </p:nvPicPr>
        <p:blipFill>
          <a:blip r:embed="rId1"/>
          <a:stretch>
            <a:fillRect/>
          </a:stretch>
        </p:blipFill>
        <p:spPr>
          <a:xfrm>
            <a:off x="640080" y="201168"/>
            <a:ext cx="1463040" cy="411480"/>
          </a:xfrm>
          <a:prstGeom prst="rect">
            <a:avLst/>
          </a:prstGeom>
        </p:spPr>
      </p:pic>
      <p:sp>
        <p:nvSpPr>
          <p:cNvPr id="7" name="Shape 4"/>
          <p:cNvSpPr/>
          <p:nvPr/>
        </p:nvSpPr>
        <p:spPr>
          <a:xfrm>
            <a:off x="7863840" y="228600"/>
            <a:ext cx="3657600" cy="347472"/>
          </a:xfrm>
          <a:prstGeom prst="roundRect">
            <a:avLst>
              <a:gd name="adj" fmla="val 47368"/>
            </a:avLst>
          </a:prstGeom>
          <a:solidFill>
            <a:srgbClr val="FFFFFF"/>
          </a:solidFill>
          <a:ln w="12700">
            <a:solidFill>
              <a:srgbClr val="E2E8F0"/>
            </a:solidFill>
            <a:prstDash val="solid"/>
          </a:ln>
        </p:spPr>
      </p:sp>
      <p:sp>
        <p:nvSpPr>
          <p:cNvPr id="8" name="Text 5"/>
          <p:cNvSpPr/>
          <p:nvPr/>
        </p:nvSpPr>
        <p:spPr>
          <a:xfrm>
            <a:off x="7863840" y="228600"/>
            <a:ext cx="3657600" cy="347472"/>
          </a:xfrm>
          <a:prstGeom prst="rect">
            <a:avLst/>
          </a:prstGeom>
          <a:noFill/>
          <a:ln/>
        </p:spPr>
        <p:txBody>
          <a:bodyPr wrap="square" rtlCol="0" anchor="ctr"/>
          <a:lstStyle/>
          <a:p>
            <a:pPr algn="ctr" indent="0" marL="0">
              <a:buNone/>
            </a:pPr>
            <a:r>
              <a:rPr lang="en-US" sz="900" b="1" dirty="0">
                <a:solidFill>
                  <a:srgbClr val="7E22CE"/>
                </a:solidFill>
              </a:rPr>
              <a:t>CentOS Stream 10  |  POJ Putrajaya</a:t>
            </a:r>
            <a:endParaRPr lang="en-US" sz="900" dirty="0"/>
          </a:p>
        </p:txBody>
      </p:sp>
      <p:sp>
        <p:nvSpPr>
          <p:cNvPr id="9" name="Text 6"/>
          <p:cNvSpPr/>
          <p:nvPr/>
        </p:nvSpPr>
        <p:spPr>
          <a:xfrm>
            <a:off x="640080" y="777240"/>
            <a:ext cx="10881360" cy="274320"/>
          </a:xfrm>
          <a:prstGeom prst="rect">
            <a:avLst/>
          </a:prstGeom>
          <a:noFill/>
          <a:ln/>
        </p:spPr>
        <p:txBody>
          <a:bodyPr wrap="square" rtlCol="0" anchor="ctr"/>
          <a:lstStyle/>
          <a:p>
            <a:pPr indent="0" marL="0">
              <a:buNone/>
            </a:pPr>
            <a:r>
              <a:rPr lang="en-US" sz="1000" b="1" spc="150" kern="0" dirty="0">
                <a:solidFill>
                  <a:srgbClr val="0078D4"/>
                </a:solidFill>
              </a:rPr>
              <a:t>PERATURAN KAYA TEMBOK API</a:t>
            </a:r>
            <a:endParaRPr lang="en-US" sz="1000" dirty="0"/>
          </a:p>
        </p:txBody>
      </p:sp>
      <p:sp>
        <p:nvSpPr>
          <p:cNvPr id="10" name="Text 7"/>
          <p:cNvSpPr/>
          <p:nvPr/>
        </p:nvSpPr>
        <p:spPr>
          <a:xfrm>
            <a:off x="640080" y="1024128"/>
            <a:ext cx="10881360" cy="502920"/>
          </a:xfrm>
          <a:prstGeom prst="rect">
            <a:avLst/>
          </a:prstGeom>
          <a:noFill/>
          <a:ln/>
        </p:spPr>
        <p:txBody>
          <a:bodyPr wrap="square" rtlCol="0" anchor="ctr"/>
          <a:lstStyle/>
          <a:p>
            <a:pPr indent="0" marL="0">
              <a:buNone/>
            </a:pPr>
            <a:r>
              <a:rPr lang="en-US" sz="2100" b="1" dirty="0">
                <a:solidFill>
                  <a:srgbClr val="0F172A"/>
                </a:solidFill>
              </a:rPr>
              <a:t>Mengurus firewalld &amp; Peraturan Kaya (Rich Rules)</a:t>
            </a:r>
            <a:endParaRPr lang="en-US" sz="2100" dirty="0"/>
          </a:p>
        </p:txBody>
      </p:sp>
      <p:sp>
        <p:nvSpPr>
          <p:cNvPr id="11" name="Text 8"/>
          <p:cNvSpPr/>
          <p:nvPr/>
        </p:nvSpPr>
        <p:spPr>
          <a:xfrm>
            <a:off x="640080" y="1536192"/>
            <a:ext cx="10881360" cy="320040"/>
          </a:xfrm>
          <a:prstGeom prst="rect">
            <a:avLst/>
          </a:prstGeom>
          <a:noFill/>
          <a:ln/>
        </p:spPr>
        <p:txBody>
          <a:bodyPr wrap="square" rtlCol="0" anchor="ctr"/>
          <a:lstStyle/>
          <a:p>
            <a:pPr indent="0" marL="0">
              <a:buNone/>
            </a:pPr>
            <a:r>
              <a:rPr lang="en-US" sz="1200" dirty="0">
                <a:solidFill>
                  <a:srgbClr val="64748B"/>
                </a:solidFill>
              </a:rPr>
              <a:t>Kawalan Trafik Berbutir Halus Berdasarkan IP Sumber, Port, dan Had Sambungan</a:t>
            </a:r>
            <a:endParaRPr lang="en-US" sz="1200" dirty="0"/>
          </a:p>
        </p:txBody>
      </p:sp>
      <p:sp>
        <p:nvSpPr>
          <p:cNvPr id="12" name="Shape 9"/>
          <p:cNvSpPr/>
          <p:nvPr/>
        </p:nvSpPr>
        <p:spPr>
          <a:xfrm>
            <a:off x="640080" y="1920240"/>
            <a:ext cx="5212080" cy="4206240"/>
          </a:xfrm>
          <a:prstGeom prst="roundRect">
            <a:avLst>
              <a:gd name="adj" fmla="val 3261"/>
            </a:avLst>
          </a:prstGeom>
          <a:solidFill>
            <a:srgbClr val="FFFFFF"/>
          </a:solidFill>
          <a:ln w="12700">
            <a:solidFill>
              <a:srgbClr val="E2E8F0"/>
            </a:solidFill>
            <a:prstDash val="solid"/>
          </a:ln>
        </p:spPr>
      </p:sp>
      <p:sp>
        <p:nvSpPr>
          <p:cNvPr id="13" name="Shape 10"/>
          <p:cNvSpPr/>
          <p:nvPr/>
        </p:nvSpPr>
        <p:spPr>
          <a:xfrm>
            <a:off x="640080" y="1920240"/>
            <a:ext cx="5212080" cy="73152"/>
          </a:xfrm>
          <a:prstGeom prst="roundRect">
            <a:avLst>
              <a:gd name="adj" fmla="val 50000"/>
            </a:avLst>
          </a:prstGeom>
          <a:solidFill>
            <a:srgbClr val="0078D4"/>
          </a:solidFill>
          <a:ln w="12700">
            <a:solidFill>
              <a:srgbClr val="0078D4"/>
            </a:solidFill>
            <a:prstDash val="solid"/>
          </a:ln>
        </p:spPr>
      </p:sp>
      <p:sp>
        <p:nvSpPr>
          <p:cNvPr id="14" name="Text 11"/>
          <p:cNvSpPr/>
          <p:nvPr/>
        </p:nvSpPr>
        <p:spPr>
          <a:xfrm>
            <a:off x="868680" y="2103120"/>
            <a:ext cx="4754880" cy="320040"/>
          </a:xfrm>
          <a:prstGeom prst="rect">
            <a:avLst/>
          </a:prstGeom>
          <a:noFill/>
          <a:ln/>
        </p:spPr>
        <p:txBody>
          <a:bodyPr wrap="square" rtlCol="0" anchor="ctr"/>
          <a:lstStyle/>
          <a:p>
            <a:pPr indent="0" marL="0">
              <a:buNone/>
            </a:pPr>
            <a:r>
              <a:rPr lang="en-US" sz="1200" b="1" dirty="0">
                <a:solidFill>
                  <a:srgbClr val="0078D4"/>
                </a:solidFill>
              </a:rPr>
              <a:t>Peraturan Standard vs Peraturan Kekal</a:t>
            </a:r>
            <a:endParaRPr lang="en-US" sz="1200" dirty="0"/>
          </a:p>
        </p:txBody>
      </p:sp>
      <p:sp>
        <p:nvSpPr>
          <p:cNvPr id="15" name="Text 12"/>
          <p:cNvSpPr/>
          <p:nvPr/>
        </p:nvSpPr>
        <p:spPr>
          <a:xfrm>
            <a:off x="868680" y="2450592"/>
            <a:ext cx="4754880" cy="3127248"/>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Peraturan Runtime: Berkuat kuasa serta-merta tetapi hilang selepas pelayan reboot.</a:t>
            </a:r>
            <a:endParaRPr lang="en-US" sz="950" dirty="0"/>
          </a:p>
          <a:p>
            <a:pPr marL="342900" indent="-342900">
              <a:lnSpc>
                <a:spcPts val="1400"/>
              </a:lnSpc>
              <a:buSzPct val="100000"/>
              <a:buChar char="•"/>
            </a:pPr>
            <a:r>
              <a:rPr lang="en-US" sz="950" dirty="0">
                <a:solidFill>
                  <a:srgbClr val="334155"/>
                </a:solidFill>
              </a:rPr>
              <a:t>Peraturan Permanent (--permanent): Disimpan ke cakera tetapi memerlukan reload untuk aktif.</a:t>
            </a:r>
            <a:endParaRPr lang="en-US" sz="950" dirty="0"/>
          </a:p>
          <a:p>
            <a:pPr marL="342900" indent="-342900">
              <a:lnSpc>
                <a:spcPts val="1400"/>
              </a:lnSpc>
              <a:buSzPct val="100000"/>
              <a:buChar char="•"/>
            </a:pPr>
            <a:r>
              <a:rPr lang="en-US" sz="950" dirty="0">
                <a:solidFill>
                  <a:srgbClr val="334155"/>
                </a:solidFill>
              </a:rPr>
              <a:t>Amalan Terbaik: Jalankan arahan dengan --permanent kemudian laksanakan: sudo firewall-cmd --reload</a:t>
            </a:r>
            <a:endParaRPr lang="en-US" sz="950" dirty="0"/>
          </a:p>
          <a:p>
            <a:pPr marL="342900" indent="-342900">
              <a:lnSpc>
                <a:spcPts val="1400"/>
              </a:lnSpc>
              <a:buSzPct val="100000"/>
              <a:buChar char="•"/>
            </a:pPr>
            <a:r>
              <a:rPr lang="en-US" sz="950" dirty="0">
                <a:solidFill>
                  <a:srgbClr val="334155"/>
                </a:solidFill>
              </a:rPr>
              <a:t>Membuka perkhidmatan standard:</a:t>
            </a:r>
            <a:endParaRPr lang="en-US" sz="950" dirty="0"/>
          </a:p>
          <a:p>
            <a:pPr marL="342900" indent="-342900">
              <a:lnSpc>
                <a:spcPts val="1400"/>
              </a:lnSpc>
              <a:buSzPct val="100000"/>
              <a:buChar char="•"/>
            </a:pPr>
            <a:r>
              <a:rPr lang="en-US" sz="950" dirty="0">
                <a:solidFill>
                  <a:srgbClr val="334155"/>
                </a:solidFill>
              </a:rPr>
              <a:t>  sudo firewall-cmd --add-service=http --permanent</a:t>
            </a:r>
            <a:endParaRPr lang="en-US" sz="950" dirty="0"/>
          </a:p>
          <a:p>
            <a:pPr marL="342900" indent="-342900">
              <a:lnSpc>
                <a:spcPts val="1400"/>
              </a:lnSpc>
              <a:buSzPct val="100000"/>
              <a:buChar char="•"/>
            </a:pPr>
            <a:r>
              <a:rPr lang="en-US" sz="950" dirty="0">
                <a:solidFill>
                  <a:srgbClr val="334155"/>
                </a:solidFill>
              </a:rPr>
              <a:t>  sudo firewall-cmd --add-port=8088/tcp --permanent</a:t>
            </a:r>
            <a:endParaRPr lang="en-US" sz="950" dirty="0"/>
          </a:p>
        </p:txBody>
      </p:sp>
      <p:sp>
        <p:nvSpPr>
          <p:cNvPr id="16" name="Shape 13"/>
          <p:cNvSpPr/>
          <p:nvPr/>
        </p:nvSpPr>
        <p:spPr>
          <a:xfrm>
            <a:off x="822960" y="5623560"/>
            <a:ext cx="4846320" cy="384048"/>
          </a:xfrm>
          <a:prstGeom prst="roundRect">
            <a:avLst>
              <a:gd name="adj" fmla="val 19048"/>
            </a:avLst>
          </a:prstGeom>
          <a:solidFill>
            <a:srgbClr val="F1F5F9"/>
          </a:solidFill>
          <a:ln w="10160">
            <a:solidFill>
              <a:srgbClr val="E2E8F0"/>
            </a:solidFill>
            <a:prstDash val="solid"/>
          </a:ln>
        </p:spPr>
      </p:sp>
      <p:sp>
        <p:nvSpPr>
          <p:cNvPr id="17" name="Text 14"/>
          <p:cNvSpPr/>
          <p:nvPr/>
        </p:nvSpPr>
        <p:spPr>
          <a:xfrm>
            <a:off x="868680" y="5623560"/>
            <a:ext cx="4754880" cy="384048"/>
          </a:xfrm>
          <a:prstGeom prst="rect">
            <a:avLst/>
          </a:prstGeom>
          <a:noFill/>
          <a:ln/>
        </p:spPr>
        <p:txBody>
          <a:bodyPr wrap="square" rtlCol="0" anchor="ctr"/>
          <a:lstStyle/>
          <a:p>
            <a:pPr indent="0" marL="0">
              <a:buNone/>
            </a:pPr>
            <a:r>
              <a:rPr lang="en-US" sz="850" b="1" dirty="0">
                <a:solidFill>
                  <a:srgbClr val="0078D4"/>
                </a:solidFill>
              </a:rPr>
              <a:t>Sentiasa sahkan dengan: sudo firewall-cmd --list-all</a:t>
            </a:r>
            <a:endParaRPr lang="en-US" sz="850" dirty="0"/>
          </a:p>
        </p:txBody>
      </p:sp>
      <p:sp>
        <p:nvSpPr>
          <p:cNvPr id="18" name="Shape 15"/>
          <p:cNvSpPr/>
          <p:nvPr/>
        </p:nvSpPr>
        <p:spPr>
          <a:xfrm>
            <a:off x="6217920" y="1920240"/>
            <a:ext cx="5303520" cy="4206240"/>
          </a:xfrm>
          <a:prstGeom prst="roundRect">
            <a:avLst>
              <a:gd name="adj" fmla="val 3261"/>
            </a:avLst>
          </a:prstGeom>
          <a:solidFill>
            <a:srgbClr val="FFFFFF"/>
          </a:solidFill>
          <a:ln w="12700">
            <a:solidFill>
              <a:srgbClr val="E2E8F0"/>
            </a:solidFill>
            <a:prstDash val="solid"/>
          </a:ln>
        </p:spPr>
      </p:sp>
      <p:sp>
        <p:nvSpPr>
          <p:cNvPr id="19" name="Shape 16"/>
          <p:cNvSpPr/>
          <p:nvPr/>
        </p:nvSpPr>
        <p:spPr>
          <a:xfrm>
            <a:off x="6217920" y="1920240"/>
            <a:ext cx="5303520" cy="73152"/>
          </a:xfrm>
          <a:prstGeom prst="roundRect">
            <a:avLst>
              <a:gd name="adj" fmla="val 50000"/>
            </a:avLst>
          </a:prstGeom>
          <a:solidFill>
            <a:srgbClr val="7E22CE"/>
          </a:solidFill>
          <a:ln w="12700">
            <a:solidFill>
              <a:srgbClr val="7E22CE"/>
            </a:solidFill>
            <a:prstDash val="solid"/>
          </a:ln>
        </p:spPr>
      </p:sp>
      <p:sp>
        <p:nvSpPr>
          <p:cNvPr id="20" name="Text 17"/>
          <p:cNvSpPr/>
          <p:nvPr/>
        </p:nvSpPr>
        <p:spPr>
          <a:xfrm>
            <a:off x="6446520" y="2103120"/>
            <a:ext cx="4846320" cy="320040"/>
          </a:xfrm>
          <a:prstGeom prst="rect">
            <a:avLst/>
          </a:prstGeom>
          <a:noFill/>
          <a:ln/>
        </p:spPr>
        <p:txBody>
          <a:bodyPr wrap="square" rtlCol="0" anchor="ctr"/>
          <a:lstStyle/>
          <a:p>
            <a:pPr indent="0" marL="0">
              <a:buNone/>
            </a:pPr>
            <a:r>
              <a:rPr lang="en-US" sz="1200" b="1" dirty="0">
                <a:solidFill>
                  <a:srgbClr val="7E22CE"/>
                </a:solidFill>
              </a:rPr>
              <a:t>Kelebihan Rich Rules</a:t>
            </a:r>
            <a:endParaRPr lang="en-US" sz="1200" dirty="0"/>
          </a:p>
        </p:txBody>
      </p:sp>
      <p:sp>
        <p:nvSpPr>
          <p:cNvPr id="21" name="Text 18"/>
          <p:cNvSpPr/>
          <p:nvPr/>
        </p:nvSpPr>
        <p:spPr>
          <a:xfrm>
            <a:off x="6446520" y="2450592"/>
            <a:ext cx="4846320" cy="3127248"/>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Membolehkan penetapan syarat logik kompleks dalam satu peraturan.</a:t>
            </a:r>
            <a:endParaRPr lang="en-US" sz="950" dirty="0"/>
          </a:p>
          <a:p>
            <a:pPr marL="342900" indent="-342900">
              <a:lnSpc>
                <a:spcPts val="1400"/>
              </a:lnSpc>
              <a:buSzPct val="100000"/>
              <a:buChar char="•"/>
            </a:pPr>
            <a:r>
              <a:rPr lang="en-US" sz="950" dirty="0">
                <a:solidFill>
                  <a:srgbClr val="334155"/>
                </a:solidFill>
              </a:rPr>
              <a:t>Mengehadkan akses servis hanya daripada subnet IP yang dibenarkan:</a:t>
            </a:r>
            <a:endParaRPr lang="en-US" sz="950" dirty="0"/>
          </a:p>
          <a:p>
            <a:pPr marL="342900" indent="-342900">
              <a:lnSpc>
                <a:spcPts val="1400"/>
              </a:lnSpc>
              <a:buSzPct val="100000"/>
              <a:buChar char="•"/>
            </a:pPr>
            <a:r>
              <a:rPr lang="en-US" sz="950" dirty="0">
                <a:solidFill>
                  <a:srgbClr val="334155"/>
                </a:solidFill>
              </a:rPr>
              <a:t>  rule family="ipv4" source address="10.0.0.0/24" service name="ssh" accept</a:t>
            </a:r>
            <a:endParaRPr lang="en-US" sz="950" dirty="0"/>
          </a:p>
          <a:p>
            <a:pPr marL="342900" indent="-342900">
              <a:lnSpc>
                <a:spcPts val="1400"/>
              </a:lnSpc>
              <a:buSzPct val="100000"/>
              <a:buChar char="•"/>
            </a:pPr>
            <a:r>
              <a:rPr lang="en-US" sz="950" dirty="0">
                <a:solidFill>
                  <a:srgbClr val="334155"/>
                </a:solidFill>
              </a:rPr>
              <a:t>Menolak capaian daripada IP tertentu berserta rekod log audit:</a:t>
            </a:r>
            <a:endParaRPr lang="en-US" sz="950" dirty="0"/>
          </a:p>
          <a:p>
            <a:pPr marL="342900" indent="-342900">
              <a:lnSpc>
                <a:spcPts val="1400"/>
              </a:lnSpc>
              <a:buSzPct val="100000"/>
              <a:buChar char="•"/>
            </a:pPr>
            <a:r>
              <a:rPr lang="en-US" sz="950" dirty="0">
                <a:solidFill>
                  <a:srgbClr val="334155"/>
                </a:solidFill>
              </a:rPr>
              <a:t>  rule family="ipv4" source address="192.168.1.50" reject log prefix="POJ-BLOCK: "</a:t>
            </a:r>
            <a:endParaRPr lang="en-US" sz="950" dirty="0"/>
          </a:p>
          <a:p>
            <a:pPr marL="342900" indent="-342900">
              <a:lnSpc>
                <a:spcPts val="1400"/>
              </a:lnSpc>
              <a:buSzPct val="100000"/>
              <a:buChar char="•"/>
            </a:pPr>
            <a:r>
              <a:rPr lang="en-US" sz="950" dirty="0">
                <a:solidFill>
                  <a:srgbClr val="334155"/>
                </a:solidFill>
              </a:rPr>
              <a:t>Mengehadkan kadar cubaan sambungan (rate limiting) untuk menghalang serangan DoS.</a:t>
            </a:r>
            <a:endParaRPr lang="en-US" sz="950" dirty="0"/>
          </a:p>
        </p:txBody>
      </p:sp>
      <p:sp>
        <p:nvSpPr>
          <p:cNvPr id="22" name="Shape 19"/>
          <p:cNvSpPr/>
          <p:nvPr/>
        </p:nvSpPr>
        <p:spPr>
          <a:xfrm>
            <a:off x="6400800" y="5623560"/>
            <a:ext cx="4937760" cy="384048"/>
          </a:xfrm>
          <a:prstGeom prst="roundRect">
            <a:avLst>
              <a:gd name="adj" fmla="val 19048"/>
            </a:avLst>
          </a:prstGeom>
          <a:solidFill>
            <a:srgbClr val="F1F5F9"/>
          </a:solidFill>
          <a:ln w="10160">
            <a:solidFill>
              <a:srgbClr val="E2E8F0"/>
            </a:solidFill>
            <a:prstDash val="solid"/>
          </a:ln>
        </p:spPr>
      </p:sp>
      <p:sp>
        <p:nvSpPr>
          <p:cNvPr id="23" name="Text 20"/>
          <p:cNvSpPr/>
          <p:nvPr/>
        </p:nvSpPr>
        <p:spPr>
          <a:xfrm>
            <a:off x="6446520" y="5623560"/>
            <a:ext cx="4846320" cy="384048"/>
          </a:xfrm>
          <a:prstGeom prst="rect">
            <a:avLst/>
          </a:prstGeom>
          <a:noFill/>
          <a:ln/>
        </p:spPr>
        <p:txBody>
          <a:bodyPr wrap="square" rtlCol="0" anchor="ctr"/>
          <a:lstStyle/>
          <a:p>
            <a:pPr indent="0" marL="0">
              <a:buNone/>
            </a:pPr>
            <a:r>
              <a:rPr lang="en-US" sz="850" b="1" dirty="0">
                <a:solidFill>
                  <a:srgbClr val="7E22CE"/>
                </a:solidFill>
              </a:rPr>
              <a:t>Kunci keselamatan akses pelayan dalam rangkaian agensi kerajaan</a:t>
            </a:r>
            <a:endParaRPr lang="en-US" sz="850" dirty="0"/>
          </a:p>
        </p:txBody>
      </p:sp>
      <p:sp>
        <p:nvSpPr>
          <p:cNvPr id="24" name="Shape 21"/>
          <p:cNvSpPr/>
          <p:nvPr/>
        </p:nvSpPr>
        <p:spPr>
          <a:xfrm>
            <a:off x="640080" y="6400800"/>
            <a:ext cx="10881360" cy="0"/>
          </a:xfrm>
          <a:prstGeom prst="line">
            <a:avLst/>
          </a:prstGeom>
          <a:noFill/>
          <a:ln w="12700">
            <a:solidFill>
              <a:srgbClr val="E2E8F0"/>
            </a:solidFill>
            <a:prstDash val="solid"/>
          </a:ln>
        </p:spPr>
      </p:sp>
      <p:sp>
        <p:nvSpPr>
          <p:cNvPr id="25" name="Text 22"/>
          <p:cNvSpPr/>
          <p:nvPr/>
        </p:nvSpPr>
        <p:spPr>
          <a:xfrm>
            <a:off x="640080" y="6446520"/>
            <a:ext cx="4572000" cy="320040"/>
          </a:xfrm>
          <a:prstGeom prst="rect">
            <a:avLst/>
          </a:prstGeom>
          <a:noFill/>
          <a:ln/>
        </p:spPr>
        <p:txBody>
          <a:bodyPr wrap="square" rtlCol="0" anchor="ctr"/>
          <a:lstStyle/>
          <a:p>
            <a:pPr indent="0" marL="0">
              <a:buNone/>
            </a:pPr>
            <a:r>
              <a:rPr lang="en-US" sz="900" b="1" dirty="0">
                <a:solidFill>
                  <a:srgbClr val="64748B"/>
                </a:solidFill>
              </a:rPr>
              <a:t>Cognitoz BetaLab  |  Jabatan Kehakiman Malaysia (POJ)</a:t>
            </a:r>
            <a:endParaRPr lang="en-US" sz="900" dirty="0"/>
          </a:p>
        </p:txBody>
      </p:sp>
      <p:sp>
        <p:nvSpPr>
          <p:cNvPr id="26" name="Text 23"/>
          <p:cNvSpPr/>
          <p:nvPr/>
        </p:nvSpPr>
        <p:spPr>
          <a:xfrm>
            <a:off x="4389120" y="6446520"/>
            <a:ext cx="5029200" cy="320040"/>
          </a:xfrm>
          <a:prstGeom prst="rect">
            <a:avLst/>
          </a:prstGeom>
          <a:noFill/>
          <a:ln/>
        </p:spPr>
        <p:txBody>
          <a:bodyPr wrap="square" rtlCol="0" anchor="ctr"/>
          <a:lstStyle/>
          <a:p>
            <a:pPr algn="ctr" indent="0" marL="0">
              <a:buNone/>
            </a:pPr>
            <a:r>
              <a:rPr lang="en-US" sz="850" dirty="0">
                <a:solidFill>
                  <a:srgbClr val="64748B"/>
                </a:solidFill>
              </a:rPr>
              <a:t>Copyright © 2026 Cognitoz I.T Training Sdn Bhd — www.cognitoz.com</a:t>
            </a:r>
            <a:endParaRPr lang="en-US" sz="850" dirty="0"/>
          </a:p>
        </p:txBody>
      </p:sp>
      <p:sp>
        <p:nvSpPr>
          <p:cNvPr id="27" name="Text 24"/>
          <p:cNvSpPr/>
          <p:nvPr/>
        </p:nvSpPr>
        <p:spPr>
          <a:xfrm>
            <a:off x="9601200" y="6446520"/>
            <a:ext cx="1920240" cy="320040"/>
          </a:xfrm>
          <a:prstGeom prst="rect">
            <a:avLst/>
          </a:prstGeom>
          <a:noFill/>
          <a:ln/>
        </p:spPr>
        <p:txBody>
          <a:bodyPr wrap="square" rtlCol="0" anchor="ctr"/>
          <a:lstStyle/>
          <a:p>
            <a:pPr algn="r" indent="0" marL="0">
              <a:buNone/>
            </a:pPr>
            <a:r>
              <a:rPr lang="en-US" sz="900" b="1" dirty="0">
                <a:solidFill>
                  <a:srgbClr val="64748B"/>
                </a:solidFill>
              </a:rPr>
              <a:t>17 / 22</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3044952" cy="54864"/>
          </a:xfrm>
          <a:prstGeom prst="rect">
            <a:avLst/>
          </a:prstGeom>
          <a:solidFill>
            <a:srgbClr val="7E22CE"/>
          </a:solidFill>
          <a:ln/>
        </p:spPr>
      </p:sp>
      <p:sp>
        <p:nvSpPr>
          <p:cNvPr id="3" name="Shape 1"/>
          <p:cNvSpPr/>
          <p:nvPr/>
        </p:nvSpPr>
        <p:spPr>
          <a:xfrm>
            <a:off x="3044952" y="0"/>
            <a:ext cx="3044952" cy="54864"/>
          </a:xfrm>
          <a:prstGeom prst="rect">
            <a:avLst/>
          </a:prstGeom>
          <a:solidFill>
            <a:srgbClr val="0078D4"/>
          </a:solidFill>
          <a:ln/>
        </p:spPr>
      </p:sp>
      <p:sp>
        <p:nvSpPr>
          <p:cNvPr id="4" name="Shape 2"/>
          <p:cNvSpPr/>
          <p:nvPr/>
        </p:nvSpPr>
        <p:spPr>
          <a:xfrm>
            <a:off x="6089904" y="0"/>
            <a:ext cx="3044952" cy="54864"/>
          </a:xfrm>
          <a:prstGeom prst="rect">
            <a:avLst/>
          </a:prstGeom>
          <a:solidFill>
            <a:srgbClr val="009E96"/>
          </a:solidFill>
          <a:ln/>
        </p:spPr>
      </p:sp>
      <p:sp>
        <p:nvSpPr>
          <p:cNvPr id="5" name="Shape 3"/>
          <p:cNvSpPr/>
          <p:nvPr/>
        </p:nvSpPr>
        <p:spPr>
          <a:xfrm>
            <a:off x="9134856" y="0"/>
            <a:ext cx="3054096" cy="54864"/>
          </a:xfrm>
          <a:prstGeom prst="rect">
            <a:avLst/>
          </a:prstGeom>
          <a:solidFill>
            <a:srgbClr val="D97706"/>
          </a:solidFill>
          <a:ln/>
        </p:spPr>
      </p:sp>
      <p:pic>
        <p:nvPicPr>
          <p:cNvPr id="6" name="Image 0" descr="D:/betalab.cognitoz.com/workshops/poj_centos/public/cognitoz-logo.png">    </p:cNvPr>
          <p:cNvPicPr>
            <a:picLocks noChangeAspect="1"/>
          </p:cNvPicPr>
          <p:nvPr/>
        </p:nvPicPr>
        <p:blipFill>
          <a:blip r:embed="rId1"/>
          <a:stretch>
            <a:fillRect/>
          </a:stretch>
        </p:blipFill>
        <p:spPr>
          <a:xfrm>
            <a:off x="640080" y="201168"/>
            <a:ext cx="1463040" cy="411480"/>
          </a:xfrm>
          <a:prstGeom prst="rect">
            <a:avLst/>
          </a:prstGeom>
        </p:spPr>
      </p:pic>
      <p:sp>
        <p:nvSpPr>
          <p:cNvPr id="7" name="Shape 4"/>
          <p:cNvSpPr/>
          <p:nvPr/>
        </p:nvSpPr>
        <p:spPr>
          <a:xfrm>
            <a:off x="7863840" y="228600"/>
            <a:ext cx="3657600" cy="347472"/>
          </a:xfrm>
          <a:prstGeom prst="roundRect">
            <a:avLst>
              <a:gd name="adj" fmla="val 47368"/>
            </a:avLst>
          </a:prstGeom>
          <a:solidFill>
            <a:srgbClr val="FFFFFF"/>
          </a:solidFill>
          <a:ln w="12700">
            <a:solidFill>
              <a:srgbClr val="E2E8F0"/>
            </a:solidFill>
            <a:prstDash val="solid"/>
          </a:ln>
        </p:spPr>
      </p:sp>
      <p:sp>
        <p:nvSpPr>
          <p:cNvPr id="8" name="Text 5"/>
          <p:cNvSpPr/>
          <p:nvPr/>
        </p:nvSpPr>
        <p:spPr>
          <a:xfrm>
            <a:off x="7863840" y="228600"/>
            <a:ext cx="3657600" cy="347472"/>
          </a:xfrm>
          <a:prstGeom prst="rect">
            <a:avLst/>
          </a:prstGeom>
          <a:noFill/>
          <a:ln/>
        </p:spPr>
        <p:txBody>
          <a:bodyPr wrap="square" rtlCol="0" anchor="ctr"/>
          <a:lstStyle/>
          <a:p>
            <a:pPr algn="ctr" indent="0" marL="0">
              <a:buNone/>
            </a:pPr>
            <a:r>
              <a:rPr lang="en-US" sz="900" b="1" dirty="0">
                <a:solidFill>
                  <a:srgbClr val="7E22CE"/>
                </a:solidFill>
              </a:rPr>
              <a:t>CentOS Stream 10  |  POJ Putrajaya</a:t>
            </a:r>
            <a:endParaRPr lang="en-US" sz="900" dirty="0"/>
          </a:p>
        </p:txBody>
      </p:sp>
      <p:sp>
        <p:nvSpPr>
          <p:cNvPr id="9" name="Text 6"/>
          <p:cNvSpPr/>
          <p:nvPr/>
        </p:nvSpPr>
        <p:spPr>
          <a:xfrm>
            <a:off x="640080" y="777240"/>
            <a:ext cx="10881360" cy="274320"/>
          </a:xfrm>
          <a:prstGeom prst="rect">
            <a:avLst/>
          </a:prstGeom>
          <a:noFill/>
          <a:ln/>
        </p:spPr>
        <p:txBody>
          <a:bodyPr wrap="square" rtlCol="0" anchor="ctr"/>
          <a:lstStyle/>
          <a:p>
            <a:pPr indent="0" marL="0">
              <a:buNone/>
            </a:pPr>
            <a:r>
              <a:rPr lang="en-US" sz="1000" b="1" spc="150" kern="0" dirty="0">
                <a:solidFill>
                  <a:srgbClr val="0078D4"/>
                </a:solidFill>
              </a:rPr>
              <a:t>DEMO MAKMAL 4 (BETALAB)</a:t>
            </a:r>
            <a:endParaRPr lang="en-US" sz="1000" dirty="0"/>
          </a:p>
        </p:txBody>
      </p:sp>
      <p:sp>
        <p:nvSpPr>
          <p:cNvPr id="10" name="Text 7"/>
          <p:cNvSpPr/>
          <p:nvPr/>
        </p:nvSpPr>
        <p:spPr>
          <a:xfrm>
            <a:off x="640080" y="1024128"/>
            <a:ext cx="10881360" cy="502920"/>
          </a:xfrm>
          <a:prstGeom prst="rect">
            <a:avLst/>
          </a:prstGeom>
          <a:noFill/>
          <a:ln/>
        </p:spPr>
        <p:txBody>
          <a:bodyPr wrap="square" rtlCol="0" anchor="ctr"/>
          <a:lstStyle/>
          <a:p>
            <a:pPr indent="0" marL="0">
              <a:buNone/>
            </a:pPr>
            <a:r>
              <a:rPr lang="en-US" sz="2100" b="1" dirty="0">
                <a:solidFill>
                  <a:srgbClr val="0F172A"/>
                </a:solidFill>
              </a:rPr>
              <a:t>Audit Rangkaian &amp; Konfigurasi firewalld Rich Rules</a:t>
            </a:r>
            <a:endParaRPr lang="en-US" sz="2100" dirty="0"/>
          </a:p>
        </p:txBody>
      </p:sp>
      <p:sp>
        <p:nvSpPr>
          <p:cNvPr id="11" name="Text 8"/>
          <p:cNvSpPr/>
          <p:nvPr/>
        </p:nvSpPr>
        <p:spPr>
          <a:xfrm>
            <a:off x="640080" y="1536192"/>
            <a:ext cx="10881360" cy="320040"/>
          </a:xfrm>
          <a:prstGeom prst="rect">
            <a:avLst/>
          </a:prstGeom>
          <a:noFill/>
          <a:ln/>
        </p:spPr>
        <p:txBody>
          <a:bodyPr wrap="square" rtlCol="0" anchor="ctr"/>
          <a:lstStyle/>
          <a:p>
            <a:pPr indent="0" marL="0">
              <a:buNone/>
            </a:pPr>
            <a:r>
              <a:rPr lang="en-US" sz="1200" dirty="0">
                <a:solidFill>
                  <a:srgbClr val="64748B"/>
                </a:solidFill>
              </a:rPr>
              <a:t>Peralihan Terus ke Terminal Interaktif: Amali Berasaskan Senario Nyata</a:t>
            </a:r>
            <a:endParaRPr lang="en-US" sz="1200" dirty="0"/>
          </a:p>
        </p:txBody>
      </p:sp>
      <p:sp>
        <p:nvSpPr>
          <p:cNvPr id="12" name="Shape 9"/>
          <p:cNvSpPr/>
          <p:nvPr/>
        </p:nvSpPr>
        <p:spPr>
          <a:xfrm>
            <a:off x="640080" y="1920240"/>
            <a:ext cx="5303520" cy="4023360"/>
          </a:xfrm>
          <a:prstGeom prst="roundRect">
            <a:avLst>
              <a:gd name="adj" fmla="val 3409"/>
            </a:avLst>
          </a:prstGeom>
          <a:solidFill>
            <a:srgbClr val="FFFFFF"/>
          </a:solidFill>
          <a:ln w="19050">
            <a:solidFill>
              <a:srgbClr val="BAE6FD"/>
            </a:solidFill>
            <a:prstDash val="solid"/>
          </a:ln>
        </p:spPr>
      </p:sp>
      <p:sp>
        <p:nvSpPr>
          <p:cNvPr id="13" name="Shape 10"/>
          <p:cNvSpPr/>
          <p:nvPr/>
        </p:nvSpPr>
        <p:spPr>
          <a:xfrm>
            <a:off x="640080" y="1920240"/>
            <a:ext cx="5303520" cy="411480"/>
          </a:xfrm>
          <a:prstGeom prst="roundRect">
            <a:avLst>
              <a:gd name="adj" fmla="val 33333"/>
            </a:avLst>
          </a:prstGeom>
          <a:solidFill>
            <a:srgbClr val="E0F2FE"/>
          </a:solidFill>
          <a:ln w="12700">
            <a:solidFill>
              <a:srgbClr val="BAE6FD"/>
            </a:solidFill>
            <a:prstDash val="solid"/>
          </a:ln>
        </p:spPr>
      </p:sp>
      <p:sp>
        <p:nvSpPr>
          <p:cNvPr id="14" name="Text 11"/>
          <p:cNvSpPr/>
          <p:nvPr/>
        </p:nvSpPr>
        <p:spPr>
          <a:xfrm>
            <a:off x="822960" y="1965960"/>
            <a:ext cx="4937760" cy="320040"/>
          </a:xfrm>
          <a:prstGeom prst="rect">
            <a:avLst/>
          </a:prstGeom>
          <a:noFill/>
          <a:ln/>
        </p:spPr>
        <p:txBody>
          <a:bodyPr wrap="square" rtlCol="0" anchor="ctr"/>
          <a:lstStyle/>
          <a:p>
            <a:pPr indent="0" marL="0">
              <a:buNone/>
            </a:pPr>
            <a:r>
              <a:rPr lang="en-US" sz="1000" b="1" dirty="0">
                <a:solidFill>
                  <a:srgbClr val="0369A1"/>
                </a:solidFill>
              </a:rPr>
              <a:t>ARAHAN TERMINAL BETALAB (LANGKAH 4)</a:t>
            </a:r>
            <a:endParaRPr lang="en-US" sz="1000" dirty="0"/>
          </a:p>
        </p:txBody>
      </p:sp>
      <p:sp>
        <p:nvSpPr>
          <p:cNvPr id="15" name="Text 12"/>
          <p:cNvSpPr/>
          <p:nvPr/>
        </p:nvSpPr>
        <p:spPr>
          <a:xfrm>
            <a:off x="822960" y="2423160"/>
            <a:ext cx="4937760" cy="3291840"/>
          </a:xfrm>
          <a:prstGeom prst="rect">
            <a:avLst/>
          </a:prstGeom>
          <a:noFill/>
          <a:ln/>
        </p:spPr>
        <p:txBody>
          <a:bodyPr wrap="square" rtlCol="0" anchor="t"/>
          <a:lstStyle/>
          <a:p>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1.  ss -tulpn | grep -E "80|8088|22"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2.  sudo firewall-cmd --state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3.  sudo firewall-cmd --list-all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4.  sudo firewall-cmd --add-service=http --permanent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5.  sudo firewall-cmd --add-rich-rule='rule family="ipv4" port port="8088" protocol="tcp" accept' --permanent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6.  sudo firewall-cmd --reload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7.  sudo firewall-cmd --list-all
</a:t>
            </a:r>
            <a:endParaRPr lang="en-US" sz="950" dirty="0"/>
          </a:p>
        </p:txBody>
      </p:sp>
      <p:sp>
        <p:nvSpPr>
          <p:cNvPr id="16" name="Shape 13"/>
          <p:cNvSpPr/>
          <p:nvPr/>
        </p:nvSpPr>
        <p:spPr>
          <a:xfrm>
            <a:off x="6217920" y="1920240"/>
            <a:ext cx="5303520" cy="4023360"/>
          </a:xfrm>
          <a:prstGeom prst="roundRect">
            <a:avLst>
              <a:gd name="adj" fmla="val 3409"/>
            </a:avLst>
          </a:prstGeom>
          <a:solidFill>
            <a:srgbClr val="FFFFFF"/>
          </a:solidFill>
          <a:ln w="19050">
            <a:solidFill>
              <a:srgbClr val="BBF7D0"/>
            </a:solidFill>
            <a:prstDash val="solid"/>
          </a:ln>
        </p:spPr>
      </p:sp>
      <p:sp>
        <p:nvSpPr>
          <p:cNvPr id="17" name="Shape 14"/>
          <p:cNvSpPr/>
          <p:nvPr/>
        </p:nvSpPr>
        <p:spPr>
          <a:xfrm>
            <a:off x="6217920" y="1920240"/>
            <a:ext cx="5303520" cy="411480"/>
          </a:xfrm>
          <a:prstGeom prst="roundRect">
            <a:avLst>
              <a:gd name="adj" fmla="val 33333"/>
            </a:avLst>
          </a:prstGeom>
          <a:solidFill>
            <a:srgbClr val="DCFCE7"/>
          </a:solidFill>
          <a:ln w="12700">
            <a:solidFill>
              <a:srgbClr val="BBF7D0"/>
            </a:solidFill>
            <a:prstDash val="solid"/>
          </a:ln>
        </p:spPr>
      </p:sp>
      <p:sp>
        <p:nvSpPr>
          <p:cNvPr id="18" name="Text 15"/>
          <p:cNvSpPr/>
          <p:nvPr/>
        </p:nvSpPr>
        <p:spPr>
          <a:xfrm>
            <a:off x="6400800" y="1965960"/>
            <a:ext cx="4937760" cy="320040"/>
          </a:xfrm>
          <a:prstGeom prst="rect">
            <a:avLst/>
          </a:prstGeom>
          <a:noFill/>
          <a:ln/>
        </p:spPr>
        <p:txBody>
          <a:bodyPr wrap="square" rtlCol="0" anchor="ctr"/>
          <a:lstStyle/>
          <a:p>
            <a:pPr indent="0" marL="0">
              <a:buNone/>
            </a:pPr>
            <a:r>
              <a:rPr lang="en-US" sz="1000" b="1" dirty="0">
                <a:solidFill>
                  <a:srgbClr val="15803D"/>
                </a:solidFill>
              </a:rPr>
              <a:t>TITIK PEMERHATIAN &amp; VERIFIKASI BUKTI</a:t>
            </a:r>
            <a:endParaRPr lang="en-US" sz="1000" dirty="0"/>
          </a:p>
        </p:txBody>
      </p:sp>
      <p:sp>
        <p:nvSpPr>
          <p:cNvPr id="19" name="Text 16"/>
          <p:cNvSpPr/>
          <p:nvPr/>
        </p:nvSpPr>
        <p:spPr>
          <a:xfrm>
            <a:off x="6400800" y="2423160"/>
            <a:ext cx="4937760" cy="2468880"/>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Perintah ss menyenaraikan servis nginx (port 80) dan monitor (port 8088).</a:t>
            </a:r>
            <a:endParaRPr lang="en-US" sz="950" dirty="0"/>
          </a:p>
          <a:p>
            <a:pPr marL="342900" indent="-342900">
              <a:lnSpc>
                <a:spcPts val="1400"/>
              </a:lnSpc>
              <a:buSzPct val="100000"/>
              <a:buChar char="•"/>
            </a:pPr>
            <a:r>
              <a:rPr lang="en-US" sz="950" dirty="0">
                <a:solidFill>
                  <a:srgbClr val="334155"/>
                </a:solidFill>
              </a:rPr>
              <a:t>firewalld aktif dalam zon public.</a:t>
            </a:r>
            <a:endParaRPr lang="en-US" sz="950" dirty="0"/>
          </a:p>
          <a:p>
            <a:pPr marL="342900" indent="-342900">
              <a:lnSpc>
                <a:spcPts val="1400"/>
              </a:lnSpc>
              <a:buSzPct val="100000"/>
              <a:buChar char="•"/>
            </a:pPr>
            <a:r>
              <a:rPr lang="en-US" sz="950" dirty="0">
                <a:solidFill>
                  <a:srgbClr val="334155"/>
                </a:solidFill>
              </a:rPr>
              <a:t>Peraturan ditambah dengan flag --permanent dan dimuat semula.</a:t>
            </a:r>
            <a:endParaRPr lang="en-US" sz="950" dirty="0"/>
          </a:p>
          <a:p>
            <a:pPr marL="342900" indent="-342900">
              <a:lnSpc>
                <a:spcPts val="1400"/>
              </a:lnSpc>
              <a:buSzPct val="100000"/>
              <a:buChar char="•"/>
            </a:pPr>
            <a:r>
              <a:rPr lang="en-US" sz="950" dirty="0">
                <a:solidFill>
                  <a:srgbClr val="334155"/>
                </a:solidFill>
              </a:rPr>
              <a:t>Output --list-all membuktikan perkhidmatan http dan port 8088 kini terbuka.</a:t>
            </a:r>
            <a:endParaRPr lang="en-US" sz="950" dirty="0"/>
          </a:p>
        </p:txBody>
      </p:sp>
      <p:sp>
        <p:nvSpPr>
          <p:cNvPr id="20" name="Shape 17"/>
          <p:cNvSpPr/>
          <p:nvPr/>
        </p:nvSpPr>
        <p:spPr>
          <a:xfrm>
            <a:off x="6400800" y="5029200"/>
            <a:ext cx="4937760" cy="685800"/>
          </a:xfrm>
          <a:prstGeom prst="roundRect">
            <a:avLst>
              <a:gd name="adj" fmla="val 13333"/>
            </a:avLst>
          </a:prstGeom>
          <a:solidFill>
            <a:srgbClr val="F0FDF4"/>
          </a:solidFill>
          <a:ln w="12700">
            <a:solidFill>
              <a:srgbClr val="86EFAC"/>
            </a:solidFill>
            <a:prstDash val="solid"/>
          </a:ln>
        </p:spPr>
      </p:sp>
      <p:sp>
        <p:nvSpPr>
          <p:cNvPr id="21" name="Text 18"/>
          <p:cNvSpPr/>
          <p:nvPr/>
        </p:nvSpPr>
        <p:spPr>
          <a:xfrm>
            <a:off x="6537960" y="5029200"/>
            <a:ext cx="4663440" cy="685800"/>
          </a:xfrm>
          <a:prstGeom prst="rect">
            <a:avLst/>
          </a:prstGeom>
          <a:noFill/>
          <a:ln/>
        </p:spPr>
        <p:txBody>
          <a:bodyPr wrap="square" rtlCol="0" anchor="ctr"/>
          <a:lstStyle/>
          <a:p>
            <a:pPr indent="0" marL="0">
              <a:buNone/>
            </a:pPr>
            <a:r>
              <a:rPr lang="en-US" sz="900" b="1" dirty="0">
                <a:solidFill>
                  <a:srgbClr val="166534"/>
                </a:solidFill>
              </a:rPr>
              <a:t>HASIL &amp; BUKTI: Peraturan firewall berjaya dikuatkuasakan secara kekal merentasi sesi reboot sistem.</a:t>
            </a:r>
            <a:endParaRPr lang="en-US" sz="900" dirty="0"/>
          </a:p>
        </p:txBody>
      </p:sp>
      <p:sp>
        <p:nvSpPr>
          <p:cNvPr id="22" name="Shape 19"/>
          <p:cNvSpPr/>
          <p:nvPr/>
        </p:nvSpPr>
        <p:spPr>
          <a:xfrm>
            <a:off x="640080" y="6400800"/>
            <a:ext cx="10881360" cy="0"/>
          </a:xfrm>
          <a:prstGeom prst="line">
            <a:avLst/>
          </a:prstGeom>
          <a:noFill/>
          <a:ln w="12700">
            <a:solidFill>
              <a:srgbClr val="E2E8F0"/>
            </a:solidFill>
            <a:prstDash val="solid"/>
          </a:ln>
        </p:spPr>
      </p:sp>
      <p:sp>
        <p:nvSpPr>
          <p:cNvPr id="23" name="Text 20"/>
          <p:cNvSpPr/>
          <p:nvPr/>
        </p:nvSpPr>
        <p:spPr>
          <a:xfrm>
            <a:off x="640080" y="6446520"/>
            <a:ext cx="4572000" cy="320040"/>
          </a:xfrm>
          <a:prstGeom prst="rect">
            <a:avLst/>
          </a:prstGeom>
          <a:noFill/>
          <a:ln/>
        </p:spPr>
        <p:txBody>
          <a:bodyPr wrap="square" rtlCol="0" anchor="ctr"/>
          <a:lstStyle/>
          <a:p>
            <a:pPr indent="0" marL="0">
              <a:buNone/>
            </a:pPr>
            <a:r>
              <a:rPr lang="en-US" sz="900" b="1" dirty="0">
                <a:solidFill>
                  <a:srgbClr val="64748B"/>
                </a:solidFill>
              </a:rPr>
              <a:t>Cognitoz BetaLab  |  Jabatan Kehakiman Malaysia (POJ)</a:t>
            </a:r>
            <a:endParaRPr lang="en-US" sz="900" dirty="0"/>
          </a:p>
        </p:txBody>
      </p:sp>
      <p:sp>
        <p:nvSpPr>
          <p:cNvPr id="24" name="Text 21"/>
          <p:cNvSpPr/>
          <p:nvPr/>
        </p:nvSpPr>
        <p:spPr>
          <a:xfrm>
            <a:off x="4389120" y="6446520"/>
            <a:ext cx="5029200" cy="320040"/>
          </a:xfrm>
          <a:prstGeom prst="rect">
            <a:avLst/>
          </a:prstGeom>
          <a:noFill/>
          <a:ln/>
        </p:spPr>
        <p:txBody>
          <a:bodyPr wrap="square" rtlCol="0" anchor="ctr"/>
          <a:lstStyle/>
          <a:p>
            <a:pPr algn="ctr" indent="0" marL="0">
              <a:buNone/>
            </a:pPr>
            <a:r>
              <a:rPr lang="en-US" sz="850" dirty="0">
                <a:solidFill>
                  <a:srgbClr val="64748B"/>
                </a:solidFill>
              </a:rPr>
              <a:t>Copyright © 2026 Cognitoz I.T Training Sdn Bhd — www.cognitoz.com</a:t>
            </a:r>
            <a:endParaRPr lang="en-US" sz="850" dirty="0"/>
          </a:p>
        </p:txBody>
      </p:sp>
      <p:sp>
        <p:nvSpPr>
          <p:cNvPr id="25" name="Text 22"/>
          <p:cNvSpPr/>
          <p:nvPr/>
        </p:nvSpPr>
        <p:spPr>
          <a:xfrm>
            <a:off x="9601200" y="6446520"/>
            <a:ext cx="1920240" cy="320040"/>
          </a:xfrm>
          <a:prstGeom prst="rect">
            <a:avLst/>
          </a:prstGeom>
          <a:noFill/>
          <a:ln/>
        </p:spPr>
        <p:txBody>
          <a:bodyPr wrap="square" rtlCol="0" anchor="ctr"/>
          <a:lstStyle/>
          <a:p>
            <a:pPr algn="r" indent="0" marL="0">
              <a:buNone/>
            </a:pPr>
            <a:r>
              <a:rPr lang="en-US" sz="900" b="1" dirty="0">
                <a:solidFill>
                  <a:srgbClr val="64748B"/>
                </a:solidFill>
              </a:rPr>
              <a:t>18 / 22</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3044952" cy="54864"/>
          </a:xfrm>
          <a:prstGeom prst="rect">
            <a:avLst/>
          </a:prstGeom>
          <a:solidFill>
            <a:srgbClr val="7E22CE"/>
          </a:solidFill>
          <a:ln/>
        </p:spPr>
      </p:sp>
      <p:sp>
        <p:nvSpPr>
          <p:cNvPr id="3" name="Shape 1"/>
          <p:cNvSpPr/>
          <p:nvPr/>
        </p:nvSpPr>
        <p:spPr>
          <a:xfrm>
            <a:off x="3044952" y="0"/>
            <a:ext cx="3044952" cy="54864"/>
          </a:xfrm>
          <a:prstGeom prst="rect">
            <a:avLst/>
          </a:prstGeom>
          <a:solidFill>
            <a:srgbClr val="0078D4"/>
          </a:solidFill>
          <a:ln/>
        </p:spPr>
      </p:sp>
      <p:sp>
        <p:nvSpPr>
          <p:cNvPr id="4" name="Shape 2"/>
          <p:cNvSpPr/>
          <p:nvPr/>
        </p:nvSpPr>
        <p:spPr>
          <a:xfrm>
            <a:off x="6089904" y="0"/>
            <a:ext cx="3044952" cy="54864"/>
          </a:xfrm>
          <a:prstGeom prst="rect">
            <a:avLst/>
          </a:prstGeom>
          <a:solidFill>
            <a:srgbClr val="009E96"/>
          </a:solidFill>
          <a:ln/>
        </p:spPr>
      </p:sp>
      <p:sp>
        <p:nvSpPr>
          <p:cNvPr id="5" name="Shape 3"/>
          <p:cNvSpPr/>
          <p:nvPr/>
        </p:nvSpPr>
        <p:spPr>
          <a:xfrm>
            <a:off x="9134856" y="0"/>
            <a:ext cx="3054096" cy="54864"/>
          </a:xfrm>
          <a:prstGeom prst="rect">
            <a:avLst/>
          </a:prstGeom>
          <a:solidFill>
            <a:srgbClr val="D97706"/>
          </a:solidFill>
          <a:ln/>
        </p:spPr>
      </p:sp>
      <p:pic>
        <p:nvPicPr>
          <p:cNvPr id="6" name="Image 0" descr="D:/betalab.cognitoz.com/workshops/poj_centos/public/cognitoz-logo.png">    </p:cNvPr>
          <p:cNvPicPr>
            <a:picLocks noChangeAspect="1"/>
          </p:cNvPicPr>
          <p:nvPr/>
        </p:nvPicPr>
        <p:blipFill>
          <a:blip r:embed="rId1"/>
          <a:stretch>
            <a:fillRect/>
          </a:stretch>
        </p:blipFill>
        <p:spPr>
          <a:xfrm>
            <a:off x="640080" y="201168"/>
            <a:ext cx="1463040" cy="411480"/>
          </a:xfrm>
          <a:prstGeom prst="rect">
            <a:avLst/>
          </a:prstGeom>
        </p:spPr>
      </p:pic>
      <p:sp>
        <p:nvSpPr>
          <p:cNvPr id="7" name="Shape 4"/>
          <p:cNvSpPr/>
          <p:nvPr/>
        </p:nvSpPr>
        <p:spPr>
          <a:xfrm>
            <a:off x="7863840" y="228600"/>
            <a:ext cx="3657600" cy="347472"/>
          </a:xfrm>
          <a:prstGeom prst="roundRect">
            <a:avLst>
              <a:gd name="adj" fmla="val 47368"/>
            </a:avLst>
          </a:prstGeom>
          <a:solidFill>
            <a:srgbClr val="FFFFFF"/>
          </a:solidFill>
          <a:ln w="12700">
            <a:solidFill>
              <a:srgbClr val="E2E8F0"/>
            </a:solidFill>
            <a:prstDash val="solid"/>
          </a:ln>
        </p:spPr>
      </p:sp>
      <p:sp>
        <p:nvSpPr>
          <p:cNvPr id="8" name="Text 5"/>
          <p:cNvSpPr/>
          <p:nvPr/>
        </p:nvSpPr>
        <p:spPr>
          <a:xfrm>
            <a:off x="7863840" y="228600"/>
            <a:ext cx="3657600" cy="347472"/>
          </a:xfrm>
          <a:prstGeom prst="rect">
            <a:avLst/>
          </a:prstGeom>
          <a:noFill/>
          <a:ln/>
        </p:spPr>
        <p:txBody>
          <a:bodyPr wrap="square" rtlCol="0" anchor="ctr"/>
          <a:lstStyle/>
          <a:p>
            <a:pPr algn="ctr" indent="0" marL="0">
              <a:buNone/>
            </a:pPr>
            <a:r>
              <a:rPr lang="en-US" sz="900" b="1" dirty="0">
                <a:solidFill>
                  <a:srgbClr val="7E22CE"/>
                </a:solidFill>
              </a:rPr>
              <a:t>CentOS Stream 10  |  POJ Putrajaya</a:t>
            </a:r>
            <a:endParaRPr lang="en-US" sz="900" dirty="0"/>
          </a:p>
        </p:txBody>
      </p:sp>
      <p:sp>
        <p:nvSpPr>
          <p:cNvPr id="9" name="Text 6"/>
          <p:cNvSpPr/>
          <p:nvPr/>
        </p:nvSpPr>
        <p:spPr>
          <a:xfrm>
            <a:off x="640080" y="777240"/>
            <a:ext cx="10881360" cy="274320"/>
          </a:xfrm>
          <a:prstGeom prst="rect">
            <a:avLst/>
          </a:prstGeom>
          <a:noFill/>
          <a:ln/>
        </p:spPr>
        <p:txBody>
          <a:bodyPr wrap="square" rtlCol="0" anchor="ctr"/>
          <a:lstStyle/>
          <a:p>
            <a:pPr indent="0" marL="0">
              <a:buNone/>
            </a:pPr>
            <a:r>
              <a:rPr lang="en-US" sz="1000" b="1" spc="150" kern="0" dirty="0">
                <a:solidFill>
                  <a:srgbClr val="0078D4"/>
                </a:solidFill>
              </a:rPr>
              <a:t>MODUL 5: PENGURUSAN PAKEJ &amp; AUTOMASI</a:t>
            </a:r>
            <a:endParaRPr lang="en-US" sz="1000" dirty="0"/>
          </a:p>
        </p:txBody>
      </p:sp>
      <p:sp>
        <p:nvSpPr>
          <p:cNvPr id="10" name="Text 7"/>
          <p:cNvSpPr/>
          <p:nvPr/>
        </p:nvSpPr>
        <p:spPr>
          <a:xfrm>
            <a:off x="640080" y="1024128"/>
            <a:ext cx="10881360" cy="502920"/>
          </a:xfrm>
          <a:prstGeom prst="rect">
            <a:avLst/>
          </a:prstGeom>
          <a:noFill/>
          <a:ln/>
        </p:spPr>
        <p:txBody>
          <a:bodyPr wrap="square" rtlCol="0" anchor="ctr"/>
          <a:lstStyle/>
          <a:p>
            <a:pPr indent="0" marL="0">
              <a:buNone/>
            </a:pPr>
            <a:r>
              <a:rPr lang="en-US" sz="2100" b="1" dirty="0">
                <a:solidFill>
                  <a:srgbClr val="0F172A"/>
                </a:solidFill>
              </a:rPr>
              <a:t>Pengurusan Pakej DNF &amp; Automasi Berjadual Cron</a:t>
            </a:r>
            <a:endParaRPr lang="en-US" sz="2100" dirty="0"/>
          </a:p>
        </p:txBody>
      </p:sp>
      <p:sp>
        <p:nvSpPr>
          <p:cNvPr id="11" name="Text 8"/>
          <p:cNvSpPr/>
          <p:nvPr/>
        </p:nvSpPr>
        <p:spPr>
          <a:xfrm>
            <a:off x="640080" y="1536192"/>
            <a:ext cx="10881360" cy="320040"/>
          </a:xfrm>
          <a:prstGeom prst="rect">
            <a:avLst/>
          </a:prstGeom>
          <a:noFill/>
          <a:ln/>
        </p:spPr>
        <p:txBody>
          <a:bodyPr wrap="square" rtlCol="0" anchor="ctr"/>
          <a:lstStyle/>
          <a:p>
            <a:pPr indent="0" marL="0">
              <a:buNone/>
            </a:pPr>
            <a:r>
              <a:rPr lang="en-US" sz="1200" dirty="0">
                <a:solidFill>
                  <a:srgbClr val="64748B"/>
                </a:solidFill>
              </a:rPr>
              <a:t>Penyelenggaraan Perisian, Audit Integriti Pakej, dan Automasi Tugas Sandaran</a:t>
            </a:r>
            <a:endParaRPr lang="en-US" sz="1200" dirty="0"/>
          </a:p>
        </p:txBody>
      </p:sp>
      <p:sp>
        <p:nvSpPr>
          <p:cNvPr id="12" name="Shape 9"/>
          <p:cNvSpPr/>
          <p:nvPr/>
        </p:nvSpPr>
        <p:spPr>
          <a:xfrm>
            <a:off x="640080" y="1920240"/>
            <a:ext cx="5212080" cy="4206240"/>
          </a:xfrm>
          <a:prstGeom prst="roundRect">
            <a:avLst>
              <a:gd name="adj" fmla="val 3261"/>
            </a:avLst>
          </a:prstGeom>
          <a:solidFill>
            <a:srgbClr val="FFFFFF"/>
          </a:solidFill>
          <a:ln w="12700">
            <a:solidFill>
              <a:srgbClr val="E2E8F0"/>
            </a:solidFill>
            <a:prstDash val="solid"/>
          </a:ln>
        </p:spPr>
      </p:sp>
      <p:sp>
        <p:nvSpPr>
          <p:cNvPr id="13" name="Shape 10"/>
          <p:cNvSpPr/>
          <p:nvPr/>
        </p:nvSpPr>
        <p:spPr>
          <a:xfrm>
            <a:off x="640080" y="1920240"/>
            <a:ext cx="5212080" cy="73152"/>
          </a:xfrm>
          <a:prstGeom prst="roundRect">
            <a:avLst>
              <a:gd name="adj" fmla="val 50000"/>
            </a:avLst>
          </a:prstGeom>
          <a:solidFill>
            <a:srgbClr val="0078D4"/>
          </a:solidFill>
          <a:ln w="12700">
            <a:solidFill>
              <a:srgbClr val="0078D4"/>
            </a:solidFill>
            <a:prstDash val="solid"/>
          </a:ln>
        </p:spPr>
      </p:sp>
      <p:sp>
        <p:nvSpPr>
          <p:cNvPr id="14" name="Text 11"/>
          <p:cNvSpPr/>
          <p:nvPr/>
        </p:nvSpPr>
        <p:spPr>
          <a:xfrm>
            <a:off x="868680" y="2103120"/>
            <a:ext cx="4754880" cy="320040"/>
          </a:xfrm>
          <a:prstGeom prst="rect">
            <a:avLst/>
          </a:prstGeom>
          <a:noFill/>
          <a:ln/>
        </p:spPr>
        <p:txBody>
          <a:bodyPr wrap="square" rtlCol="0" anchor="ctr"/>
          <a:lstStyle/>
          <a:p>
            <a:pPr indent="0" marL="0">
              <a:buNone/>
            </a:pPr>
            <a:r>
              <a:rPr lang="en-US" sz="1200" b="1" dirty="0">
                <a:solidFill>
                  <a:srgbClr val="0078D4"/>
                </a:solidFill>
              </a:rPr>
              <a:t>Pengurusan Pakej DNF / RPM</a:t>
            </a:r>
            <a:endParaRPr lang="en-US" sz="1200" dirty="0"/>
          </a:p>
        </p:txBody>
      </p:sp>
      <p:sp>
        <p:nvSpPr>
          <p:cNvPr id="15" name="Text 12"/>
          <p:cNvSpPr/>
          <p:nvPr/>
        </p:nvSpPr>
        <p:spPr>
          <a:xfrm>
            <a:off x="868680" y="2450592"/>
            <a:ext cx="4754880" cy="3127248"/>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DNF (Dandified YUM) adalah pengurus pakej generasi moden CentOS Stream.</a:t>
            </a:r>
            <a:endParaRPr lang="en-US" sz="950" dirty="0"/>
          </a:p>
          <a:p>
            <a:pPr marL="342900" indent="-342900">
              <a:lnSpc>
                <a:spcPts val="1400"/>
              </a:lnSpc>
              <a:buSzPct val="100000"/>
              <a:buChar char="•"/>
            </a:pPr>
            <a:r>
              <a:rPr lang="en-US" sz="950" dirty="0">
                <a:solidFill>
                  <a:srgbClr val="334155"/>
                </a:solidFill>
              </a:rPr>
              <a:t>Sokongan transaksi lengkap dan jejak sejarah perubahan: sudo dnf history</a:t>
            </a:r>
            <a:endParaRPr lang="en-US" sz="950" dirty="0"/>
          </a:p>
          <a:p>
            <a:pPr marL="342900" indent="-342900">
              <a:lnSpc>
                <a:spcPts val="1400"/>
              </a:lnSpc>
              <a:buSzPct val="100000"/>
              <a:buChar char="•"/>
            </a:pPr>
            <a:r>
              <a:rPr lang="en-US" sz="950" dirty="0">
                <a:solidFill>
                  <a:srgbClr val="334155"/>
                </a:solidFill>
              </a:rPr>
              <a:t>Keupayaan rollback kemas kini sekiranya berlaku masalah: sudo dnf history undo &lt;id&gt;</a:t>
            </a:r>
            <a:endParaRPr lang="en-US" sz="950" dirty="0"/>
          </a:p>
          <a:p>
            <a:pPr marL="342900" indent="-342900">
              <a:lnSpc>
                <a:spcPts val="1400"/>
              </a:lnSpc>
              <a:buSzPct val="100000"/>
              <a:buChar char="•"/>
            </a:pPr>
            <a:r>
              <a:rPr lang="en-US" sz="950" dirty="0">
                <a:solidFill>
                  <a:srgbClr val="334155"/>
                </a:solidFill>
              </a:rPr>
              <a:t>Audit Integriti Fail Binari: Gunakan rpm -V &lt;package&gt; untuk menyemak sama ada fail konfigurasi atau binari telah diubah suai secara tidak sah.</a:t>
            </a:r>
            <a:endParaRPr lang="en-US" sz="950" dirty="0"/>
          </a:p>
          <a:p>
            <a:pPr marL="342900" indent="-342900">
              <a:lnSpc>
                <a:spcPts val="1400"/>
              </a:lnSpc>
              <a:buSzPct val="100000"/>
              <a:buChar char="•"/>
            </a:pPr>
            <a:r>
              <a:rPr lang="en-US" sz="950" dirty="0">
                <a:solidFill>
                  <a:srgbClr val="334155"/>
                </a:solidFill>
              </a:rPr>
              <a:t>Pemeriksaan keselamatan berkala: sudo dnf check-update --security</a:t>
            </a:r>
            <a:endParaRPr lang="en-US" sz="950" dirty="0"/>
          </a:p>
        </p:txBody>
      </p:sp>
      <p:sp>
        <p:nvSpPr>
          <p:cNvPr id="16" name="Shape 13"/>
          <p:cNvSpPr/>
          <p:nvPr/>
        </p:nvSpPr>
        <p:spPr>
          <a:xfrm>
            <a:off x="822960" y="5623560"/>
            <a:ext cx="4846320" cy="384048"/>
          </a:xfrm>
          <a:prstGeom prst="roundRect">
            <a:avLst>
              <a:gd name="adj" fmla="val 19048"/>
            </a:avLst>
          </a:prstGeom>
          <a:solidFill>
            <a:srgbClr val="F1F5F9"/>
          </a:solidFill>
          <a:ln w="10160">
            <a:solidFill>
              <a:srgbClr val="E2E8F0"/>
            </a:solidFill>
            <a:prstDash val="solid"/>
          </a:ln>
        </p:spPr>
      </p:sp>
      <p:sp>
        <p:nvSpPr>
          <p:cNvPr id="17" name="Text 14"/>
          <p:cNvSpPr/>
          <p:nvPr/>
        </p:nvSpPr>
        <p:spPr>
          <a:xfrm>
            <a:off x="868680" y="5623560"/>
            <a:ext cx="4754880" cy="384048"/>
          </a:xfrm>
          <a:prstGeom prst="rect">
            <a:avLst/>
          </a:prstGeom>
          <a:noFill/>
          <a:ln/>
        </p:spPr>
        <p:txBody>
          <a:bodyPr wrap="square" rtlCol="0" anchor="ctr"/>
          <a:lstStyle/>
          <a:p>
            <a:pPr indent="0" marL="0">
              <a:buNone/>
            </a:pPr>
            <a:r>
              <a:rPr lang="en-US" sz="850" b="1" dirty="0">
                <a:solidFill>
                  <a:srgbClr val="0078D4"/>
                </a:solidFill>
              </a:rPr>
              <a:t>Integriti binari sistem dapat dikesan serta-merta</a:t>
            </a:r>
            <a:endParaRPr lang="en-US" sz="850" dirty="0"/>
          </a:p>
        </p:txBody>
      </p:sp>
      <p:sp>
        <p:nvSpPr>
          <p:cNvPr id="18" name="Shape 15"/>
          <p:cNvSpPr/>
          <p:nvPr/>
        </p:nvSpPr>
        <p:spPr>
          <a:xfrm>
            <a:off x="6217920" y="1920240"/>
            <a:ext cx="5303520" cy="4206240"/>
          </a:xfrm>
          <a:prstGeom prst="roundRect">
            <a:avLst>
              <a:gd name="adj" fmla="val 3261"/>
            </a:avLst>
          </a:prstGeom>
          <a:solidFill>
            <a:srgbClr val="FFFFFF"/>
          </a:solidFill>
          <a:ln w="12700">
            <a:solidFill>
              <a:srgbClr val="E2E8F0"/>
            </a:solidFill>
            <a:prstDash val="solid"/>
          </a:ln>
        </p:spPr>
      </p:sp>
      <p:sp>
        <p:nvSpPr>
          <p:cNvPr id="19" name="Shape 16"/>
          <p:cNvSpPr/>
          <p:nvPr/>
        </p:nvSpPr>
        <p:spPr>
          <a:xfrm>
            <a:off x="6217920" y="1920240"/>
            <a:ext cx="5303520" cy="73152"/>
          </a:xfrm>
          <a:prstGeom prst="roundRect">
            <a:avLst>
              <a:gd name="adj" fmla="val 50000"/>
            </a:avLst>
          </a:prstGeom>
          <a:solidFill>
            <a:srgbClr val="009E96"/>
          </a:solidFill>
          <a:ln w="12700">
            <a:solidFill>
              <a:srgbClr val="009E96"/>
            </a:solidFill>
            <a:prstDash val="solid"/>
          </a:ln>
        </p:spPr>
      </p:sp>
      <p:sp>
        <p:nvSpPr>
          <p:cNvPr id="20" name="Text 17"/>
          <p:cNvSpPr/>
          <p:nvPr/>
        </p:nvSpPr>
        <p:spPr>
          <a:xfrm>
            <a:off x="6446520" y="2103120"/>
            <a:ext cx="4846320" cy="320040"/>
          </a:xfrm>
          <a:prstGeom prst="rect">
            <a:avLst/>
          </a:prstGeom>
          <a:noFill/>
          <a:ln/>
        </p:spPr>
        <p:txBody>
          <a:bodyPr wrap="square" rtlCol="0" anchor="ctr"/>
          <a:lstStyle/>
          <a:p>
            <a:pPr indent="0" marL="0">
              <a:buNone/>
            </a:pPr>
            <a:r>
              <a:rPr lang="en-US" sz="1200" b="1" dirty="0">
                <a:solidFill>
                  <a:srgbClr val="009E96"/>
                </a:solidFill>
              </a:rPr>
              <a:t>Automasi Tugas Berkala dengan Cron</a:t>
            </a:r>
            <a:endParaRPr lang="en-US" sz="1200" dirty="0"/>
          </a:p>
        </p:txBody>
      </p:sp>
      <p:sp>
        <p:nvSpPr>
          <p:cNvPr id="21" name="Text 18"/>
          <p:cNvSpPr/>
          <p:nvPr/>
        </p:nvSpPr>
        <p:spPr>
          <a:xfrm>
            <a:off x="6446520" y="2450592"/>
            <a:ext cx="4846320" cy="3127248"/>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Perkhidmatan cronie menguruskan jadual tugas automatik sistem.</a:t>
            </a:r>
            <a:endParaRPr lang="en-US" sz="950" dirty="0"/>
          </a:p>
          <a:p>
            <a:pPr marL="342900" indent="-342900">
              <a:lnSpc>
                <a:spcPts val="1400"/>
              </a:lnSpc>
              <a:buSzPct val="100000"/>
              <a:buChar char="•"/>
            </a:pPr>
            <a:r>
              <a:rPr lang="en-US" sz="950" dirty="0">
                <a:solidFill>
                  <a:srgbClr val="334155"/>
                </a:solidFill>
              </a:rPr>
              <a:t>Anatomi format cron: minit jam hari bulan hari_dalam_minggu pengguna arahan</a:t>
            </a:r>
            <a:endParaRPr lang="en-US" sz="950" dirty="0"/>
          </a:p>
          <a:p>
            <a:pPr marL="342900" indent="-342900">
              <a:lnSpc>
                <a:spcPts val="1400"/>
              </a:lnSpc>
              <a:buSzPct val="100000"/>
              <a:buChar char="•"/>
            </a:pPr>
            <a:r>
              <a:rPr lang="en-US" sz="950" dirty="0">
                <a:solidFill>
                  <a:srgbClr val="334155"/>
                </a:solidFill>
              </a:rPr>
              <a:t>Contoh: 0 2 * * * root /opt/poj/scripts/backup-kes.sh</a:t>
            </a:r>
            <a:endParaRPr lang="en-US" sz="950" dirty="0"/>
          </a:p>
          <a:p>
            <a:pPr marL="342900" indent="-342900">
              <a:lnSpc>
                <a:spcPts val="1400"/>
              </a:lnSpc>
              <a:buSzPct val="100000"/>
              <a:buChar char="•"/>
            </a:pPr>
            <a:r>
              <a:rPr lang="en-US" sz="950" dirty="0">
                <a:solidFill>
                  <a:srgbClr val="334155"/>
                </a:solidFill>
              </a:rPr>
              <a:t>Amalan Terbaik Enterprise: Letakkan fail jadual berasingan di /etc/cron.d/ (contoh: /etc/cron.d/poj-backup).</a:t>
            </a:r>
            <a:endParaRPr lang="en-US" sz="950" dirty="0"/>
          </a:p>
          <a:p>
            <a:pPr marL="342900" indent="-342900">
              <a:lnSpc>
                <a:spcPts val="1400"/>
              </a:lnSpc>
              <a:buSzPct val="100000"/>
              <a:buChar char="•"/>
            </a:pPr>
            <a:r>
              <a:rPr lang="en-US" sz="950" dirty="0">
                <a:solidFill>
                  <a:srgbClr val="334155"/>
                </a:solidFill>
              </a:rPr>
              <a:t>Sentiasa salurkan output log bagi tujuan pemantauan: &gt;&gt; /var/log/poj-backup.log 2&gt;&amp;1</a:t>
            </a:r>
            <a:endParaRPr lang="en-US" sz="950" dirty="0"/>
          </a:p>
        </p:txBody>
      </p:sp>
      <p:sp>
        <p:nvSpPr>
          <p:cNvPr id="22" name="Shape 19"/>
          <p:cNvSpPr/>
          <p:nvPr/>
        </p:nvSpPr>
        <p:spPr>
          <a:xfrm>
            <a:off x="6400800" y="5623560"/>
            <a:ext cx="4937760" cy="384048"/>
          </a:xfrm>
          <a:prstGeom prst="roundRect">
            <a:avLst>
              <a:gd name="adj" fmla="val 19048"/>
            </a:avLst>
          </a:prstGeom>
          <a:solidFill>
            <a:srgbClr val="F1F5F9"/>
          </a:solidFill>
          <a:ln w="10160">
            <a:solidFill>
              <a:srgbClr val="E2E8F0"/>
            </a:solidFill>
            <a:prstDash val="solid"/>
          </a:ln>
        </p:spPr>
      </p:sp>
      <p:sp>
        <p:nvSpPr>
          <p:cNvPr id="23" name="Text 20"/>
          <p:cNvSpPr/>
          <p:nvPr/>
        </p:nvSpPr>
        <p:spPr>
          <a:xfrm>
            <a:off x="6446520" y="5623560"/>
            <a:ext cx="4846320" cy="384048"/>
          </a:xfrm>
          <a:prstGeom prst="rect">
            <a:avLst/>
          </a:prstGeom>
          <a:noFill/>
          <a:ln/>
        </p:spPr>
        <p:txBody>
          <a:bodyPr wrap="square" rtlCol="0" anchor="ctr"/>
          <a:lstStyle/>
          <a:p>
            <a:pPr indent="0" marL="0">
              <a:buNone/>
            </a:pPr>
            <a:r>
              <a:rPr lang="en-US" sz="850" b="1" dirty="0">
                <a:solidFill>
                  <a:srgbClr val="009E96"/>
                </a:solidFill>
              </a:rPr>
              <a:t>Memastikan sandaran data kehakiman sentiasa berjalan tepat masa</a:t>
            </a:r>
            <a:endParaRPr lang="en-US" sz="850" dirty="0"/>
          </a:p>
        </p:txBody>
      </p:sp>
      <p:sp>
        <p:nvSpPr>
          <p:cNvPr id="24" name="Shape 21"/>
          <p:cNvSpPr/>
          <p:nvPr/>
        </p:nvSpPr>
        <p:spPr>
          <a:xfrm>
            <a:off x="640080" y="6400800"/>
            <a:ext cx="10881360" cy="0"/>
          </a:xfrm>
          <a:prstGeom prst="line">
            <a:avLst/>
          </a:prstGeom>
          <a:noFill/>
          <a:ln w="12700">
            <a:solidFill>
              <a:srgbClr val="E2E8F0"/>
            </a:solidFill>
            <a:prstDash val="solid"/>
          </a:ln>
        </p:spPr>
      </p:sp>
      <p:sp>
        <p:nvSpPr>
          <p:cNvPr id="25" name="Text 22"/>
          <p:cNvSpPr/>
          <p:nvPr/>
        </p:nvSpPr>
        <p:spPr>
          <a:xfrm>
            <a:off x="640080" y="6446520"/>
            <a:ext cx="4572000" cy="320040"/>
          </a:xfrm>
          <a:prstGeom prst="rect">
            <a:avLst/>
          </a:prstGeom>
          <a:noFill/>
          <a:ln/>
        </p:spPr>
        <p:txBody>
          <a:bodyPr wrap="square" rtlCol="0" anchor="ctr"/>
          <a:lstStyle/>
          <a:p>
            <a:pPr indent="0" marL="0">
              <a:buNone/>
            </a:pPr>
            <a:r>
              <a:rPr lang="en-US" sz="900" b="1" dirty="0">
                <a:solidFill>
                  <a:srgbClr val="64748B"/>
                </a:solidFill>
              </a:rPr>
              <a:t>Cognitoz BetaLab  |  Jabatan Kehakiman Malaysia (POJ)</a:t>
            </a:r>
            <a:endParaRPr lang="en-US" sz="900" dirty="0"/>
          </a:p>
        </p:txBody>
      </p:sp>
      <p:sp>
        <p:nvSpPr>
          <p:cNvPr id="26" name="Text 23"/>
          <p:cNvSpPr/>
          <p:nvPr/>
        </p:nvSpPr>
        <p:spPr>
          <a:xfrm>
            <a:off x="4389120" y="6446520"/>
            <a:ext cx="5029200" cy="320040"/>
          </a:xfrm>
          <a:prstGeom prst="rect">
            <a:avLst/>
          </a:prstGeom>
          <a:noFill/>
          <a:ln/>
        </p:spPr>
        <p:txBody>
          <a:bodyPr wrap="square" rtlCol="0" anchor="ctr"/>
          <a:lstStyle/>
          <a:p>
            <a:pPr algn="ctr" indent="0" marL="0">
              <a:buNone/>
            </a:pPr>
            <a:r>
              <a:rPr lang="en-US" sz="850" dirty="0">
                <a:solidFill>
                  <a:srgbClr val="64748B"/>
                </a:solidFill>
              </a:rPr>
              <a:t>Copyright © 2026 Cognitoz I.T Training Sdn Bhd — www.cognitoz.com</a:t>
            </a:r>
            <a:endParaRPr lang="en-US" sz="850" dirty="0"/>
          </a:p>
        </p:txBody>
      </p:sp>
      <p:sp>
        <p:nvSpPr>
          <p:cNvPr id="27" name="Text 24"/>
          <p:cNvSpPr/>
          <p:nvPr/>
        </p:nvSpPr>
        <p:spPr>
          <a:xfrm>
            <a:off x="9601200" y="6446520"/>
            <a:ext cx="1920240" cy="320040"/>
          </a:xfrm>
          <a:prstGeom prst="rect">
            <a:avLst/>
          </a:prstGeom>
          <a:noFill/>
          <a:ln/>
        </p:spPr>
        <p:txBody>
          <a:bodyPr wrap="square" rtlCol="0" anchor="ctr"/>
          <a:lstStyle/>
          <a:p>
            <a:pPr algn="r" indent="0" marL="0">
              <a:buNone/>
            </a:pPr>
            <a:r>
              <a:rPr lang="en-US" sz="900" b="1" dirty="0">
                <a:solidFill>
                  <a:srgbClr val="64748B"/>
                </a:solidFill>
              </a:rPr>
              <a:t>19 / 22</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3044952" cy="54864"/>
          </a:xfrm>
          <a:prstGeom prst="rect">
            <a:avLst/>
          </a:prstGeom>
          <a:solidFill>
            <a:srgbClr val="7E22CE"/>
          </a:solidFill>
          <a:ln/>
        </p:spPr>
      </p:sp>
      <p:sp>
        <p:nvSpPr>
          <p:cNvPr id="3" name="Shape 1"/>
          <p:cNvSpPr/>
          <p:nvPr/>
        </p:nvSpPr>
        <p:spPr>
          <a:xfrm>
            <a:off x="3044952" y="0"/>
            <a:ext cx="3044952" cy="54864"/>
          </a:xfrm>
          <a:prstGeom prst="rect">
            <a:avLst/>
          </a:prstGeom>
          <a:solidFill>
            <a:srgbClr val="0078D4"/>
          </a:solidFill>
          <a:ln/>
        </p:spPr>
      </p:sp>
      <p:sp>
        <p:nvSpPr>
          <p:cNvPr id="4" name="Shape 2"/>
          <p:cNvSpPr/>
          <p:nvPr/>
        </p:nvSpPr>
        <p:spPr>
          <a:xfrm>
            <a:off x="6089904" y="0"/>
            <a:ext cx="3044952" cy="54864"/>
          </a:xfrm>
          <a:prstGeom prst="rect">
            <a:avLst/>
          </a:prstGeom>
          <a:solidFill>
            <a:srgbClr val="009E96"/>
          </a:solidFill>
          <a:ln/>
        </p:spPr>
      </p:sp>
      <p:sp>
        <p:nvSpPr>
          <p:cNvPr id="5" name="Shape 3"/>
          <p:cNvSpPr/>
          <p:nvPr/>
        </p:nvSpPr>
        <p:spPr>
          <a:xfrm>
            <a:off x="9134856" y="0"/>
            <a:ext cx="3054096" cy="54864"/>
          </a:xfrm>
          <a:prstGeom prst="rect">
            <a:avLst/>
          </a:prstGeom>
          <a:solidFill>
            <a:srgbClr val="D97706"/>
          </a:solidFill>
          <a:ln/>
        </p:spPr>
      </p:sp>
      <p:pic>
        <p:nvPicPr>
          <p:cNvPr id="6" name="Image 0" descr="D:/betalab.cognitoz.com/workshops/poj_centos/public/cognitoz-logo.png">    </p:cNvPr>
          <p:cNvPicPr>
            <a:picLocks noChangeAspect="1"/>
          </p:cNvPicPr>
          <p:nvPr/>
        </p:nvPicPr>
        <p:blipFill>
          <a:blip r:embed="rId1"/>
          <a:stretch>
            <a:fillRect/>
          </a:stretch>
        </p:blipFill>
        <p:spPr>
          <a:xfrm>
            <a:off x="640080" y="201168"/>
            <a:ext cx="1463040" cy="411480"/>
          </a:xfrm>
          <a:prstGeom prst="rect">
            <a:avLst/>
          </a:prstGeom>
        </p:spPr>
      </p:pic>
      <p:sp>
        <p:nvSpPr>
          <p:cNvPr id="7" name="Shape 4"/>
          <p:cNvSpPr/>
          <p:nvPr/>
        </p:nvSpPr>
        <p:spPr>
          <a:xfrm>
            <a:off x="7863840" y="228600"/>
            <a:ext cx="3657600" cy="347472"/>
          </a:xfrm>
          <a:prstGeom prst="roundRect">
            <a:avLst>
              <a:gd name="adj" fmla="val 47368"/>
            </a:avLst>
          </a:prstGeom>
          <a:solidFill>
            <a:srgbClr val="FFFFFF"/>
          </a:solidFill>
          <a:ln w="12700">
            <a:solidFill>
              <a:srgbClr val="E2E8F0"/>
            </a:solidFill>
            <a:prstDash val="solid"/>
          </a:ln>
        </p:spPr>
      </p:sp>
      <p:sp>
        <p:nvSpPr>
          <p:cNvPr id="8" name="Text 5"/>
          <p:cNvSpPr/>
          <p:nvPr/>
        </p:nvSpPr>
        <p:spPr>
          <a:xfrm>
            <a:off x="7863840" y="228600"/>
            <a:ext cx="3657600" cy="347472"/>
          </a:xfrm>
          <a:prstGeom prst="rect">
            <a:avLst/>
          </a:prstGeom>
          <a:noFill/>
          <a:ln/>
        </p:spPr>
        <p:txBody>
          <a:bodyPr wrap="square" rtlCol="0" anchor="ctr"/>
          <a:lstStyle/>
          <a:p>
            <a:pPr algn="ctr" indent="0" marL="0">
              <a:buNone/>
            </a:pPr>
            <a:r>
              <a:rPr lang="en-US" sz="900" b="1" dirty="0">
                <a:solidFill>
                  <a:srgbClr val="7E22CE"/>
                </a:solidFill>
              </a:rPr>
              <a:t>CentOS Stream 10  |  POJ Putrajaya</a:t>
            </a:r>
            <a:endParaRPr lang="en-US" sz="900" dirty="0"/>
          </a:p>
        </p:txBody>
      </p:sp>
      <p:sp>
        <p:nvSpPr>
          <p:cNvPr id="9" name="Text 6"/>
          <p:cNvSpPr/>
          <p:nvPr/>
        </p:nvSpPr>
        <p:spPr>
          <a:xfrm>
            <a:off x="640080" y="777240"/>
            <a:ext cx="10881360" cy="274320"/>
          </a:xfrm>
          <a:prstGeom prst="rect">
            <a:avLst/>
          </a:prstGeom>
          <a:noFill/>
          <a:ln/>
        </p:spPr>
        <p:txBody>
          <a:bodyPr wrap="square" rtlCol="0" anchor="ctr"/>
          <a:lstStyle/>
          <a:p>
            <a:pPr indent="0" marL="0">
              <a:buNone/>
            </a:pPr>
            <a:r>
              <a:rPr lang="en-US" sz="1000" b="1" spc="150" kern="0" dirty="0">
                <a:solidFill>
                  <a:srgbClr val="0078D4"/>
                </a:solidFill>
              </a:rPr>
              <a:t>DEMO MAKMAL 5 (BETALAB)</a:t>
            </a:r>
            <a:endParaRPr lang="en-US" sz="1000" dirty="0"/>
          </a:p>
        </p:txBody>
      </p:sp>
      <p:sp>
        <p:nvSpPr>
          <p:cNvPr id="10" name="Text 7"/>
          <p:cNvSpPr/>
          <p:nvPr/>
        </p:nvSpPr>
        <p:spPr>
          <a:xfrm>
            <a:off x="640080" y="1024128"/>
            <a:ext cx="10881360" cy="502920"/>
          </a:xfrm>
          <a:prstGeom prst="rect">
            <a:avLst/>
          </a:prstGeom>
          <a:noFill/>
          <a:ln/>
        </p:spPr>
        <p:txBody>
          <a:bodyPr wrap="square" rtlCol="0" anchor="ctr"/>
          <a:lstStyle/>
          <a:p>
            <a:pPr indent="0" marL="0">
              <a:buNone/>
            </a:pPr>
            <a:r>
              <a:rPr lang="en-US" sz="2100" b="1" dirty="0">
                <a:solidFill>
                  <a:srgbClr val="0F172A"/>
                </a:solidFill>
              </a:rPr>
              <a:t>Skrip Sandaran Dokumen Kehakiman &amp; Automasi Cron</a:t>
            </a:r>
            <a:endParaRPr lang="en-US" sz="2100" dirty="0"/>
          </a:p>
        </p:txBody>
      </p:sp>
      <p:sp>
        <p:nvSpPr>
          <p:cNvPr id="11" name="Text 8"/>
          <p:cNvSpPr/>
          <p:nvPr/>
        </p:nvSpPr>
        <p:spPr>
          <a:xfrm>
            <a:off x="640080" y="1536192"/>
            <a:ext cx="10881360" cy="320040"/>
          </a:xfrm>
          <a:prstGeom prst="rect">
            <a:avLst/>
          </a:prstGeom>
          <a:noFill/>
          <a:ln/>
        </p:spPr>
        <p:txBody>
          <a:bodyPr wrap="square" rtlCol="0" anchor="ctr"/>
          <a:lstStyle/>
          <a:p>
            <a:pPr indent="0" marL="0">
              <a:buNone/>
            </a:pPr>
            <a:r>
              <a:rPr lang="en-US" sz="1200" dirty="0">
                <a:solidFill>
                  <a:srgbClr val="64748B"/>
                </a:solidFill>
              </a:rPr>
              <a:t>Peralihan Terus ke Terminal Interaktif: Amali Berasaskan Senario Nyata</a:t>
            </a:r>
            <a:endParaRPr lang="en-US" sz="1200" dirty="0"/>
          </a:p>
        </p:txBody>
      </p:sp>
      <p:sp>
        <p:nvSpPr>
          <p:cNvPr id="12" name="Shape 9"/>
          <p:cNvSpPr/>
          <p:nvPr/>
        </p:nvSpPr>
        <p:spPr>
          <a:xfrm>
            <a:off x="640080" y="1920240"/>
            <a:ext cx="5303520" cy="4023360"/>
          </a:xfrm>
          <a:prstGeom prst="roundRect">
            <a:avLst>
              <a:gd name="adj" fmla="val 3409"/>
            </a:avLst>
          </a:prstGeom>
          <a:solidFill>
            <a:srgbClr val="FFFFFF"/>
          </a:solidFill>
          <a:ln w="19050">
            <a:solidFill>
              <a:srgbClr val="BAE6FD"/>
            </a:solidFill>
            <a:prstDash val="solid"/>
          </a:ln>
        </p:spPr>
      </p:sp>
      <p:sp>
        <p:nvSpPr>
          <p:cNvPr id="13" name="Shape 10"/>
          <p:cNvSpPr/>
          <p:nvPr/>
        </p:nvSpPr>
        <p:spPr>
          <a:xfrm>
            <a:off x="640080" y="1920240"/>
            <a:ext cx="5303520" cy="411480"/>
          </a:xfrm>
          <a:prstGeom prst="roundRect">
            <a:avLst>
              <a:gd name="adj" fmla="val 33333"/>
            </a:avLst>
          </a:prstGeom>
          <a:solidFill>
            <a:srgbClr val="E0F2FE"/>
          </a:solidFill>
          <a:ln w="12700">
            <a:solidFill>
              <a:srgbClr val="BAE6FD"/>
            </a:solidFill>
            <a:prstDash val="solid"/>
          </a:ln>
        </p:spPr>
      </p:sp>
      <p:sp>
        <p:nvSpPr>
          <p:cNvPr id="14" name="Text 11"/>
          <p:cNvSpPr/>
          <p:nvPr/>
        </p:nvSpPr>
        <p:spPr>
          <a:xfrm>
            <a:off x="822960" y="1965960"/>
            <a:ext cx="4937760" cy="320040"/>
          </a:xfrm>
          <a:prstGeom prst="rect">
            <a:avLst/>
          </a:prstGeom>
          <a:noFill/>
          <a:ln/>
        </p:spPr>
        <p:txBody>
          <a:bodyPr wrap="square" rtlCol="0" anchor="ctr"/>
          <a:lstStyle/>
          <a:p>
            <a:pPr indent="0" marL="0">
              <a:buNone/>
            </a:pPr>
            <a:r>
              <a:rPr lang="en-US" sz="1000" b="1" dirty="0">
                <a:solidFill>
                  <a:srgbClr val="0369A1"/>
                </a:solidFill>
              </a:rPr>
              <a:t>ARAHAN TERMINAL BETALAB (LANGKAH 5)</a:t>
            </a:r>
            <a:endParaRPr lang="en-US" sz="1000" dirty="0"/>
          </a:p>
        </p:txBody>
      </p:sp>
      <p:sp>
        <p:nvSpPr>
          <p:cNvPr id="15" name="Text 12"/>
          <p:cNvSpPr/>
          <p:nvPr/>
        </p:nvSpPr>
        <p:spPr>
          <a:xfrm>
            <a:off x="822960" y="2423160"/>
            <a:ext cx="4937760" cy="3291840"/>
          </a:xfrm>
          <a:prstGeom prst="rect">
            <a:avLst/>
          </a:prstGeom>
          <a:noFill/>
          <a:ln/>
        </p:spPr>
        <p:txBody>
          <a:bodyPr wrap="square" rtlCol="0" anchor="t"/>
          <a:lstStyle/>
          <a:p>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1.  cat /opt/poj/scripts/backup-kes.sh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2.  sudo /opt/poj/scripts/backup-kes.sh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3.  ls -lh /opt/poj/backups/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4.  sudo tar -tzf /opt/poj/backups/dokumen-*.tar.gz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5.  echo "0 2 * * * root /opt/poj/scripts/backup-kes.sh &gt;&gt; /var/log/poj-backup.log 2&gt;&amp;1" | sudo tee /etc/cron.d/poj-backup
</a:t>
            </a:r>
            <a:pPr indent="0" marL="0">
              <a:lnSpc>
                <a:spcPts val="1800"/>
              </a:lnSpc>
              <a:buNone/>
            </a:pPr>
            <a:r>
              <a:rPr lang="en-US" sz="950" dirty="0">
                <a:solidFill>
                  <a:srgbClr val="0F172A"/>
                </a:solidFill>
                <a:latin typeface="Consolas" pitchFamily="34" charset="0"/>
                <a:ea typeface="Consolas" pitchFamily="34" charset="-122"/>
                <a:cs typeface="Consolas" pitchFamily="34" charset="-120"/>
              </a:rPr>
              <a:t>6.  sudo rpm -V nginx
</a:t>
            </a:r>
            <a:endParaRPr lang="en-US" sz="950" dirty="0"/>
          </a:p>
        </p:txBody>
      </p:sp>
      <p:sp>
        <p:nvSpPr>
          <p:cNvPr id="16" name="Shape 13"/>
          <p:cNvSpPr/>
          <p:nvPr/>
        </p:nvSpPr>
        <p:spPr>
          <a:xfrm>
            <a:off x="6217920" y="1920240"/>
            <a:ext cx="5303520" cy="4023360"/>
          </a:xfrm>
          <a:prstGeom prst="roundRect">
            <a:avLst>
              <a:gd name="adj" fmla="val 3409"/>
            </a:avLst>
          </a:prstGeom>
          <a:solidFill>
            <a:srgbClr val="FFFFFF"/>
          </a:solidFill>
          <a:ln w="19050">
            <a:solidFill>
              <a:srgbClr val="BBF7D0"/>
            </a:solidFill>
            <a:prstDash val="solid"/>
          </a:ln>
        </p:spPr>
      </p:sp>
      <p:sp>
        <p:nvSpPr>
          <p:cNvPr id="17" name="Shape 14"/>
          <p:cNvSpPr/>
          <p:nvPr/>
        </p:nvSpPr>
        <p:spPr>
          <a:xfrm>
            <a:off x="6217920" y="1920240"/>
            <a:ext cx="5303520" cy="411480"/>
          </a:xfrm>
          <a:prstGeom prst="roundRect">
            <a:avLst>
              <a:gd name="adj" fmla="val 33333"/>
            </a:avLst>
          </a:prstGeom>
          <a:solidFill>
            <a:srgbClr val="DCFCE7"/>
          </a:solidFill>
          <a:ln w="12700">
            <a:solidFill>
              <a:srgbClr val="BBF7D0"/>
            </a:solidFill>
            <a:prstDash val="solid"/>
          </a:ln>
        </p:spPr>
      </p:sp>
      <p:sp>
        <p:nvSpPr>
          <p:cNvPr id="18" name="Text 15"/>
          <p:cNvSpPr/>
          <p:nvPr/>
        </p:nvSpPr>
        <p:spPr>
          <a:xfrm>
            <a:off x="6400800" y="1965960"/>
            <a:ext cx="4937760" cy="320040"/>
          </a:xfrm>
          <a:prstGeom prst="rect">
            <a:avLst/>
          </a:prstGeom>
          <a:noFill/>
          <a:ln/>
        </p:spPr>
        <p:txBody>
          <a:bodyPr wrap="square" rtlCol="0" anchor="ctr"/>
          <a:lstStyle/>
          <a:p>
            <a:pPr indent="0" marL="0">
              <a:buNone/>
            </a:pPr>
            <a:r>
              <a:rPr lang="en-US" sz="1000" b="1" dirty="0">
                <a:solidFill>
                  <a:srgbClr val="15803D"/>
                </a:solidFill>
              </a:rPr>
              <a:t>TITIK PEMERHATIAN &amp; VERIFIKASI BUKTI</a:t>
            </a:r>
            <a:endParaRPr lang="en-US" sz="1000" dirty="0"/>
          </a:p>
        </p:txBody>
      </p:sp>
      <p:sp>
        <p:nvSpPr>
          <p:cNvPr id="19" name="Text 16"/>
          <p:cNvSpPr/>
          <p:nvPr/>
        </p:nvSpPr>
        <p:spPr>
          <a:xfrm>
            <a:off x="6400800" y="2423160"/>
            <a:ext cx="4937760" cy="2468880"/>
          </a:xfrm>
          <a:prstGeom prst="rect">
            <a:avLst/>
          </a:prstGeom>
          <a:noFill/>
          <a:ln/>
        </p:spPr>
        <p:txBody>
          <a:bodyPr wrap="square" rtlCol="0" anchor="t"/>
          <a:lstStyle/>
          <a:p>
            <a:pPr marL="342900" indent="-342900">
              <a:lnSpc>
                <a:spcPts val="1400"/>
              </a:lnSpc>
              <a:buSzPct val="100000"/>
              <a:buChar char="•"/>
            </a:pPr>
            <a:r>
              <a:rPr lang="en-US" sz="950" dirty="0">
                <a:solidFill>
                  <a:srgbClr val="334155"/>
                </a:solidFill>
              </a:rPr>
              <a:t>Skrip sandaran memampatkan dokumen kehakiman dengan timestamp dinamik.</a:t>
            </a:r>
            <a:endParaRPr lang="en-US" sz="950" dirty="0"/>
          </a:p>
          <a:p>
            <a:pPr marL="342900" indent="-342900">
              <a:lnSpc>
                <a:spcPts val="1400"/>
              </a:lnSpc>
              <a:buSzPct val="100000"/>
              <a:buChar char="•"/>
            </a:pPr>
            <a:r>
              <a:rPr lang="en-US" sz="950" dirty="0">
                <a:solidFill>
                  <a:srgbClr val="334155"/>
                </a:solidFill>
              </a:rPr>
              <a:t>Arkib tar.gz berjaya dihasilkan dalam direktori /opt/poj/backups/.</a:t>
            </a:r>
            <a:endParaRPr lang="en-US" sz="950" dirty="0"/>
          </a:p>
          <a:p>
            <a:pPr marL="342900" indent="-342900">
              <a:lnSpc>
                <a:spcPts val="1400"/>
              </a:lnSpc>
              <a:buSzPct val="100000"/>
              <a:buChar char="•"/>
            </a:pPr>
            <a:r>
              <a:rPr lang="en-US" sz="950" dirty="0">
                <a:solidFill>
                  <a:srgbClr val="334155"/>
                </a:solidFill>
              </a:rPr>
              <a:t>Kandungan fail arkib disahkan sahih menggunakan tar -tzf.</a:t>
            </a:r>
            <a:endParaRPr lang="en-US" sz="950" dirty="0"/>
          </a:p>
          <a:p>
            <a:pPr marL="342900" indent="-342900">
              <a:lnSpc>
                <a:spcPts val="1400"/>
              </a:lnSpc>
              <a:buSzPct val="100000"/>
              <a:buChar char="•"/>
            </a:pPr>
            <a:r>
              <a:rPr lang="en-US" sz="950" dirty="0">
                <a:solidFill>
                  <a:srgbClr val="334155"/>
                </a:solidFill>
              </a:rPr>
              <a:t>Jadual cron didaftarkan secara modular di /etc/cron.d/poj-backup.</a:t>
            </a:r>
            <a:endParaRPr lang="en-US" sz="950" dirty="0"/>
          </a:p>
          <a:p>
            <a:pPr marL="342900" indent="-342900">
              <a:lnSpc>
                <a:spcPts val="1400"/>
              </a:lnSpc>
              <a:buSzPct val="100000"/>
              <a:buChar char="•"/>
            </a:pPr>
            <a:r>
              <a:rPr lang="en-US" sz="950" dirty="0">
                <a:solidFill>
                  <a:srgbClr val="334155"/>
                </a:solidFill>
              </a:rPr>
              <a:t>Perintah rpm -V mengesahkan integriti fail pakej nginx.</a:t>
            </a:r>
            <a:endParaRPr lang="en-US" sz="950" dirty="0"/>
          </a:p>
        </p:txBody>
      </p:sp>
      <p:sp>
        <p:nvSpPr>
          <p:cNvPr id="20" name="Shape 17"/>
          <p:cNvSpPr/>
          <p:nvPr/>
        </p:nvSpPr>
        <p:spPr>
          <a:xfrm>
            <a:off x="6400800" y="5029200"/>
            <a:ext cx="4937760" cy="685800"/>
          </a:xfrm>
          <a:prstGeom prst="roundRect">
            <a:avLst>
              <a:gd name="adj" fmla="val 13333"/>
            </a:avLst>
          </a:prstGeom>
          <a:solidFill>
            <a:srgbClr val="F0FDF4"/>
          </a:solidFill>
          <a:ln w="12700">
            <a:solidFill>
              <a:srgbClr val="86EFAC"/>
            </a:solidFill>
            <a:prstDash val="solid"/>
          </a:ln>
        </p:spPr>
      </p:sp>
      <p:sp>
        <p:nvSpPr>
          <p:cNvPr id="21" name="Text 18"/>
          <p:cNvSpPr/>
          <p:nvPr/>
        </p:nvSpPr>
        <p:spPr>
          <a:xfrm>
            <a:off x="6537960" y="5029200"/>
            <a:ext cx="4663440" cy="685800"/>
          </a:xfrm>
          <a:prstGeom prst="rect">
            <a:avLst/>
          </a:prstGeom>
          <a:noFill/>
          <a:ln/>
        </p:spPr>
        <p:txBody>
          <a:bodyPr wrap="square" rtlCol="0" anchor="ctr"/>
          <a:lstStyle/>
          <a:p>
            <a:pPr indent="0" marL="0">
              <a:buNone/>
            </a:pPr>
            <a:r>
              <a:rPr lang="en-US" sz="900" b="1" dirty="0">
                <a:solidFill>
                  <a:srgbClr val="166534"/>
                </a:solidFill>
              </a:rPr>
              <a:t>HASIL &amp; BUKTI: Skrip sandaran automasi dan jadual cron bersedia untuk operasi pengeluaran 24/7.</a:t>
            </a:r>
            <a:endParaRPr lang="en-US" sz="900" dirty="0"/>
          </a:p>
        </p:txBody>
      </p:sp>
      <p:sp>
        <p:nvSpPr>
          <p:cNvPr id="22" name="Shape 19"/>
          <p:cNvSpPr/>
          <p:nvPr/>
        </p:nvSpPr>
        <p:spPr>
          <a:xfrm>
            <a:off x="640080" y="6400800"/>
            <a:ext cx="10881360" cy="0"/>
          </a:xfrm>
          <a:prstGeom prst="line">
            <a:avLst/>
          </a:prstGeom>
          <a:noFill/>
          <a:ln w="12700">
            <a:solidFill>
              <a:srgbClr val="E2E8F0"/>
            </a:solidFill>
            <a:prstDash val="solid"/>
          </a:ln>
        </p:spPr>
      </p:sp>
      <p:sp>
        <p:nvSpPr>
          <p:cNvPr id="23" name="Text 20"/>
          <p:cNvSpPr/>
          <p:nvPr/>
        </p:nvSpPr>
        <p:spPr>
          <a:xfrm>
            <a:off x="640080" y="6446520"/>
            <a:ext cx="4572000" cy="320040"/>
          </a:xfrm>
          <a:prstGeom prst="rect">
            <a:avLst/>
          </a:prstGeom>
          <a:noFill/>
          <a:ln/>
        </p:spPr>
        <p:txBody>
          <a:bodyPr wrap="square" rtlCol="0" anchor="ctr"/>
          <a:lstStyle/>
          <a:p>
            <a:pPr indent="0" marL="0">
              <a:buNone/>
            </a:pPr>
            <a:r>
              <a:rPr lang="en-US" sz="900" b="1" dirty="0">
                <a:solidFill>
                  <a:srgbClr val="64748B"/>
                </a:solidFill>
              </a:rPr>
              <a:t>Cognitoz BetaLab  |  Jabatan Kehakiman Malaysia (POJ)</a:t>
            </a:r>
            <a:endParaRPr lang="en-US" sz="900" dirty="0"/>
          </a:p>
        </p:txBody>
      </p:sp>
      <p:sp>
        <p:nvSpPr>
          <p:cNvPr id="24" name="Text 21"/>
          <p:cNvSpPr/>
          <p:nvPr/>
        </p:nvSpPr>
        <p:spPr>
          <a:xfrm>
            <a:off x="4389120" y="6446520"/>
            <a:ext cx="5029200" cy="320040"/>
          </a:xfrm>
          <a:prstGeom prst="rect">
            <a:avLst/>
          </a:prstGeom>
          <a:noFill/>
          <a:ln/>
        </p:spPr>
        <p:txBody>
          <a:bodyPr wrap="square" rtlCol="0" anchor="ctr"/>
          <a:lstStyle/>
          <a:p>
            <a:pPr algn="ctr" indent="0" marL="0">
              <a:buNone/>
            </a:pPr>
            <a:r>
              <a:rPr lang="en-US" sz="850" dirty="0">
                <a:solidFill>
                  <a:srgbClr val="64748B"/>
                </a:solidFill>
              </a:rPr>
              <a:t>Copyright © 2026 Cognitoz I.T Training Sdn Bhd — www.cognitoz.com</a:t>
            </a:r>
            <a:endParaRPr lang="en-US" sz="850" dirty="0"/>
          </a:p>
        </p:txBody>
      </p:sp>
      <p:sp>
        <p:nvSpPr>
          <p:cNvPr id="25" name="Text 22"/>
          <p:cNvSpPr/>
          <p:nvPr/>
        </p:nvSpPr>
        <p:spPr>
          <a:xfrm>
            <a:off x="9601200" y="6446520"/>
            <a:ext cx="1920240" cy="320040"/>
          </a:xfrm>
          <a:prstGeom prst="rect">
            <a:avLst/>
          </a:prstGeom>
          <a:noFill/>
          <a:ln/>
        </p:spPr>
        <p:txBody>
          <a:bodyPr wrap="square" rtlCol="0" anchor="ctr"/>
          <a:lstStyle/>
          <a:p>
            <a:pPr algn="r" indent="0" marL="0">
              <a:buNone/>
            </a:pPr>
            <a:r>
              <a:rPr lang="en-US" sz="900" b="1" dirty="0">
                <a:solidFill>
                  <a:srgbClr val="64748B"/>
                </a:solidFill>
              </a:rPr>
              <a:t>20 / 22</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3044952" cy="54864"/>
          </a:xfrm>
          <a:prstGeom prst="rect">
            <a:avLst/>
          </a:prstGeom>
          <a:solidFill>
            <a:srgbClr val="7E22CE"/>
          </a:solidFill>
          <a:ln/>
        </p:spPr>
      </p:sp>
      <p:sp>
        <p:nvSpPr>
          <p:cNvPr id="3" name="Shape 1"/>
          <p:cNvSpPr/>
          <p:nvPr/>
        </p:nvSpPr>
        <p:spPr>
          <a:xfrm>
            <a:off x="3044952" y="0"/>
            <a:ext cx="3044952" cy="54864"/>
          </a:xfrm>
          <a:prstGeom prst="rect">
            <a:avLst/>
          </a:prstGeom>
          <a:solidFill>
            <a:srgbClr val="0078D4"/>
          </a:solidFill>
          <a:ln/>
        </p:spPr>
      </p:sp>
      <p:sp>
        <p:nvSpPr>
          <p:cNvPr id="4" name="Shape 2"/>
          <p:cNvSpPr/>
          <p:nvPr/>
        </p:nvSpPr>
        <p:spPr>
          <a:xfrm>
            <a:off x="6089904" y="0"/>
            <a:ext cx="3044952" cy="54864"/>
          </a:xfrm>
          <a:prstGeom prst="rect">
            <a:avLst/>
          </a:prstGeom>
          <a:solidFill>
            <a:srgbClr val="009E96"/>
          </a:solidFill>
          <a:ln/>
        </p:spPr>
      </p:sp>
      <p:sp>
        <p:nvSpPr>
          <p:cNvPr id="5" name="Shape 3"/>
          <p:cNvSpPr/>
          <p:nvPr/>
        </p:nvSpPr>
        <p:spPr>
          <a:xfrm>
            <a:off x="9134856" y="0"/>
            <a:ext cx="3054096" cy="54864"/>
          </a:xfrm>
          <a:prstGeom prst="rect">
            <a:avLst/>
          </a:prstGeom>
          <a:solidFill>
            <a:srgbClr val="D97706"/>
          </a:solidFill>
          <a:ln/>
        </p:spPr>
      </p:sp>
      <p:pic>
        <p:nvPicPr>
          <p:cNvPr id="6" name="Image 0" descr="D:/betalab.cognitoz.com/workshops/poj_centos/public/cognitoz-logo.png">    </p:cNvPr>
          <p:cNvPicPr>
            <a:picLocks noChangeAspect="1"/>
          </p:cNvPicPr>
          <p:nvPr/>
        </p:nvPicPr>
        <p:blipFill>
          <a:blip r:embed="rId1"/>
          <a:stretch>
            <a:fillRect/>
          </a:stretch>
        </p:blipFill>
        <p:spPr>
          <a:xfrm>
            <a:off x="640080" y="201168"/>
            <a:ext cx="1463040" cy="411480"/>
          </a:xfrm>
          <a:prstGeom prst="rect">
            <a:avLst/>
          </a:prstGeom>
        </p:spPr>
      </p:pic>
      <p:sp>
        <p:nvSpPr>
          <p:cNvPr id="7" name="Shape 4"/>
          <p:cNvSpPr/>
          <p:nvPr/>
        </p:nvSpPr>
        <p:spPr>
          <a:xfrm>
            <a:off x="7863840" y="228600"/>
            <a:ext cx="3657600" cy="347472"/>
          </a:xfrm>
          <a:prstGeom prst="roundRect">
            <a:avLst>
              <a:gd name="adj" fmla="val 47368"/>
            </a:avLst>
          </a:prstGeom>
          <a:solidFill>
            <a:srgbClr val="FFFFFF"/>
          </a:solidFill>
          <a:ln w="12700">
            <a:solidFill>
              <a:srgbClr val="E2E8F0"/>
            </a:solidFill>
            <a:prstDash val="solid"/>
          </a:ln>
        </p:spPr>
      </p:sp>
      <p:sp>
        <p:nvSpPr>
          <p:cNvPr id="8" name="Text 5"/>
          <p:cNvSpPr/>
          <p:nvPr/>
        </p:nvSpPr>
        <p:spPr>
          <a:xfrm>
            <a:off x="7863840" y="228600"/>
            <a:ext cx="3657600" cy="347472"/>
          </a:xfrm>
          <a:prstGeom prst="rect">
            <a:avLst/>
          </a:prstGeom>
          <a:noFill/>
          <a:ln/>
        </p:spPr>
        <p:txBody>
          <a:bodyPr wrap="square" rtlCol="0" anchor="ctr"/>
          <a:lstStyle/>
          <a:p>
            <a:pPr algn="ctr" indent="0" marL="0">
              <a:buNone/>
            </a:pPr>
            <a:r>
              <a:rPr lang="en-US" sz="900" b="1" dirty="0">
                <a:solidFill>
                  <a:srgbClr val="7E22CE"/>
                </a:solidFill>
              </a:rPr>
              <a:t>CentOS Stream 10  |  POJ Putrajaya</a:t>
            </a:r>
            <a:endParaRPr lang="en-US" sz="900" dirty="0"/>
          </a:p>
        </p:txBody>
      </p:sp>
      <p:sp>
        <p:nvSpPr>
          <p:cNvPr id="9" name="Text 6"/>
          <p:cNvSpPr/>
          <p:nvPr/>
        </p:nvSpPr>
        <p:spPr>
          <a:xfrm>
            <a:off x="640080" y="777240"/>
            <a:ext cx="10881360" cy="274320"/>
          </a:xfrm>
          <a:prstGeom prst="rect">
            <a:avLst/>
          </a:prstGeom>
          <a:noFill/>
          <a:ln/>
        </p:spPr>
        <p:txBody>
          <a:bodyPr wrap="square" rtlCol="0" anchor="ctr"/>
          <a:lstStyle/>
          <a:p>
            <a:pPr indent="0" marL="0">
              <a:buNone/>
            </a:pPr>
            <a:r>
              <a:rPr lang="en-US" sz="1000" b="1" spc="150" kern="0" dirty="0">
                <a:solidFill>
                  <a:srgbClr val="0078D4"/>
                </a:solidFill>
              </a:rPr>
              <a:t>RUMUSAN KESELURUHAN BENGKEL</a:t>
            </a:r>
            <a:endParaRPr lang="en-US" sz="1000" dirty="0"/>
          </a:p>
        </p:txBody>
      </p:sp>
      <p:sp>
        <p:nvSpPr>
          <p:cNvPr id="10" name="Text 7"/>
          <p:cNvSpPr/>
          <p:nvPr/>
        </p:nvSpPr>
        <p:spPr>
          <a:xfrm>
            <a:off x="640080" y="1024128"/>
            <a:ext cx="10881360" cy="502920"/>
          </a:xfrm>
          <a:prstGeom prst="rect">
            <a:avLst/>
          </a:prstGeom>
          <a:noFill/>
          <a:ln/>
        </p:spPr>
        <p:txBody>
          <a:bodyPr wrap="square" rtlCol="0" anchor="ctr"/>
          <a:lstStyle/>
          <a:p>
            <a:pPr indent="0" marL="0">
              <a:buNone/>
            </a:pPr>
            <a:r>
              <a:rPr lang="en-US" sz="2100" b="1" dirty="0">
                <a:solidFill>
                  <a:srgbClr val="0F172A"/>
                </a:solidFill>
              </a:rPr>
              <a:t>5 Teras Kestabilan &amp; Senarai Semak Amalan Terbaik SysAdmin</a:t>
            </a:r>
            <a:endParaRPr lang="en-US" sz="2100" dirty="0"/>
          </a:p>
        </p:txBody>
      </p:sp>
      <p:sp>
        <p:nvSpPr>
          <p:cNvPr id="11" name="Text 8"/>
          <p:cNvSpPr/>
          <p:nvPr/>
        </p:nvSpPr>
        <p:spPr>
          <a:xfrm>
            <a:off x="640080" y="1536192"/>
            <a:ext cx="10881360" cy="320040"/>
          </a:xfrm>
          <a:prstGeom prst="rect">
            <a:avLst/>
          </a:prstGeom>
          <a:noFill/>
          <a:ln/>
        </p:spPr>
        <p:txBody>
          <a:bodyPr wrap="square" rtlCol="0" anchor="ctr"/>
          <a:lstStyle/>
          <a:p>
            <a:pPr indent="0" marL="0">
              <a:buNone/>
            </a:pPr>
            <a:r>
              <a:rPr lang="en-US" sz="1200" dirty="0">
                <a:solidFill>
                  <a:srgbClr val="64748B"/>
                </a:solidFill>
              </a:rPr>
              <a:t>Garis Panduan Operasi Harian Pelayan Linux Enterprise Jabatan Kehakiman Malaysia</a:t>
            </a:r>
            <a:endParaRPr lang="en-US" sz="1200" dirty="0"/>
          </a:p>
        </p:txBody>
      </p:sp>
      <p:sp>
        <p:nvSpPr>
          <p:cNvPr id="12" name="Shape 9"/>
          <p:cNvSpPr/>
          <p:nvPr/>
        </p:nvSpPr>
        <p:spPr>
          <a:xfrm>
            <a:off x="640080" y="1920240"/>
            <a:ext cx="2103120" cy="4023360"/>
          </a:xfrm>
          <a:prstGeom prst="roundRect">
            <a:avLst>
              <a:gd name="adj" fmla="val 6522"/>
            </a:avLst>
          </a:prstGeom>
          <a:solidFill>
            <a:srgbClr val="FFFFFF"/>
          </a:solidFill>
          <a:ln w="12700">
            <a:solidFill>
              <a:srgbClr val="E2E8F0"/>
            </a:solidFill>
            <a:prstDash val="solid"/>
          </a:ln>
        </p:spPr>
      </p:sp>
      <p:sp>
        <p:nvSpPr>
          <p:cNvPr id="13" name="Shape 10"/>
          <p:cNvSpPr/>
          <p:nvPr/>
        </p:nvSpPr>
        <p:spPr>
          <a:xfrm>
            <a:off x="640080" y="1920240"/>
            <a:ext cx="2103120" cy="411480"/>
          </a:xfrm>
          <a:prstGeom prst="roundRect">
            <a:avLst>
              <a:gd name="adj" fmla="val 33333"/>
            </a:avLst>
          </a:prstGeom>
          <a:solidFill>
            <a:srgbClr val="0078D4"/>
          </a:solidFill>
          <a:ln w="12700">
            <a:solidFill>
              <a:srgbClr val="0078D4"/>
            </a:solidFill>
            <a:prstDash val="solid"/>
          </a:ln>
        </p:spPr>
      </p:sp>
      <p:sp>
        <p:nvSpPr>
          <p:cNvPr id="14" name="Text 11"/>
          <p:cNvSpPr/>
          <p:nvPr/>
        </p:nvSpPr>
        <p:spPr>
          <a:xfrm>
            <a:off x="640080" y="1965960"/>
            <a:ext cx="2103120" cy="320040"/>
          </a:xfrm>
          <a:prstGeom prst="rect">
            <a:avLst/>
          </a:prstGeom>
          <a:noFill/>
          <a:ln/>
        </p:spPr>
        <p:txBody>
          <a:bodyPr wrap="square" rtlCol="0" anchor="ctr"/>
          <a:lstStyle/>
          <a:p>
            <a:pPr algn="ctr" indent="0" marL="0">
              <a:buNone/>
            </a:pPr>
            <a:r>
              <a:rPr lang="en-US" sz="950" b="1" dirty="0">
                <a:solidFill>
                  <a:srgbClr val="FFFFFF"/>
                </a:solidFill>
              </a:rPr>
              <a:t>TERAS 1</a:t>
            </a:r>
            <a:endParaRPr lang="en-US" sz="950" dirty="0"/>
          </a:p>
        </p:txBody>
      </p:sp>
      <p:sp>
        <p:nvSpPr>
          <p:cNvPr id="15" name="Text 12"/>
          <p:cNvSpPr/>
          <p:nvPr/>
        </p:nvSpPr>
        <p:spPr>
          <a:xfrm>
            <a:off x="731520" y="2468880"/>
            <a:ext cx="1920240" cy="411480"/>
          </a:xfrm>
          <a:prstGeom prst="rect">
            <a:avLst/>
          </a:prstGeom>
          <a:noFill/>
          <a:ln/>
        </p:spPr>
        <p:txBody>
          <a:bodyPr wrap="square" rtlCol="0" anchor="ctr"/>
          <a:lstStyle/>
          <a:p>
            <a:pPr algn="ctr" indent="0" marL="0">
              <a:buNone/>
            </a:pPr>
            <a:r>
              <a:rPr lang="en-US" sz="1100" b="1" dirty="0">
                <a:solidFill>
                  <a:srgbClr val="0078D4"/>
                </a:solidFill>
              </a:rPr>
              <a:t>Siasat Berbukti</a:t>
            </a:r>
            <a:endParaRPr lang="en-US" sz="1100" dirty="0"/>
          </a:p>
        </p:txBody>
      </p:sp>
      <p:sp>
        <p:nvSpPr>
          <p:cNvPr id="16" name="Text 13"/>
          <p:cNvSpPr/>
          <p:nvPr/>
        </p:nvSpPr>
        <p:spPr>
          <a:xfrm>
            <a:off x="777240" y="2971800"/>
            <a:ext cx="1828800" cy="2743200"/>
          </a:xfrm>
          <a:prstGeom prst="rect">
            <a:avLst/>
          </a:prstGeom>
          <a:noFill/>
          <a:ln/>
        </p:spPr>
        <p:txBody>
          <a:bodyPr wrap="square" rtlCol="0" anchor="ctr"/>
          <a:lstStyle/>
          <a:p>
            <a:pPr indent="0" marL="0">
              <a:lnSpc>
                <a:spcPts val="1500"/>
              </a:lnSpc>
              <a:buNone/>
            </a:pPr>
            <a:r>
              <a:rPr lang="en-US" sz="900" dirty="0">
                <a:solidFill>
                  <a:srgbClr val="334155"/>
                </a:solidFill>
              </a:rPr>
              <a:t>Sentiasa gunakan systemctl status dan journalctl -u untuk mengenal pasti punca sebelum membuat sebarang perubahan.</a:t>
            </a:r>
            <a:endParaRPr lang="en-US" sz="900" dirty="0"/>
          </a:p>
        </p:txBody>
      </p:sp>
      <p:sp>
        <p:nvSpPr>
          <p:cNvPr id="17" name="Shape 14"/>
          <p:cNvSpPr/>
          <p:nvPr/>
        </p:nvSpPr>
        <p:spPr>
          <a:xfrm>
            <a:off x="2880360" y="1920240"/>
            <a:ext cx="2103120" cy="4023360"/>
          </a:xfrm>
          <a:prstGeom prst="roundRect">
            <a:avLst>
              <a:gd name="adj" fmla="val 6522"/>
            </a:avLst>
          </a:prstGeom>
          <a:solidFill>
            <a:srgbClr val="FFFFFF"/>
          </a:solidFill>
          <a:ln w="12700">
            <a:solidFill>
              <a:srgbClr val="E2E8F0"/>
            </a:solidFill>
            <a:prstDash val="solid"/>
          </a:ln>
        </p:spPr>
      </p:sp>
      <p:sp>
        <p:nvSpPr>
          <p:cNvPr id="18" name="Shape 15"/>
          <p:cNvSpPr/>
          <p:nvPr/>
        </p:nvSpPr>
        <p:spPr>
          <a:xfrm>
            <a:off x="2880360" y="1920240"/>
            <a:ext cx="2103120" cy="411480"/>
          </a:xfrm>
          <a:prstGeom prst="roundRect">
            <a:avLst>
              <a:gd name="adj" fmla="val 33333"/>
            </a:avLst>
          </a:prstGeom>
          <a:solidFill>
            <a:srgbClr val="009E96"/>
          </a:solidFill>
          <a:ln w="12700">
            <a:solidFill>
              <a:srgbClr val="009E96"/>
            </a:solidFill>
            <a:prstDash val="solid"/>
          </a:ln>
        </p:spPr>
      </p:sp>
      <p:sp>
        <p:nvSpPr>
          <p:cNvPr id="19" name="Text 16"/>
          <p:cNvSpPr/>
          <p:nvPr/>
        </p:nvSpPr>
        <p:spPr>
          <a:xfrm>
            <a:off x="2880360" y="1965960"/>
            <a:ext cx="2103120" cy="320040"/>
          </a:xfrm>
          <a:prstGeom prst="rect">
            <a:avLst/>
          </a:prstGeom>
          <a:noFill/>
          <a:ln/>
        </p:spPr>
        <p:txBody>
          <a:bodyPr wrap="square" rtlCol="0" anchor="ctr"/>
          <a:lstStyle/>
          <a:p>
            <a:pPr algn="ctr" indent="0" marL="0">
              <a:buNone/>
            </a:pPr>
            <a:r>
              <a:rPr lang="en-US" sz="950" b="1" dirty="0">
                <a:solidFill>
                  <a:srgbClr val="FFFFFF"/>
                </a:solidFill>
              </a:rPr>
              <a:t>TERAS 2</a:t>
            </a:r>
            <a:endParaRPr lang="en-US" sz="950" dirty="0"/>
          </a:p>
        </p:txBody>
      </p:sp>
      <p:sp>
        <p:nvSpPr>
          <p:cNvPr id="20" name="Text 17"/>
          <p:cNvSpPr/>
          <p:nvPr/>
        </p:nvSpPr>
        <p:spPr>
          <a:xfrm>
            <a:off x="2971800" y="2468880"/>
            <a:ext cx="1920240" cy="411480"/>
          </a:xfrm>
          <a:prstGeom prst="rect">
            <a:avLst/>
          </a:prstGeom>
          <a:noFill/>
          <a:ln/>
        </p:spPr>
        <p:txBody>
          <a:bodyPr wrap="square" rtlCol="0" anchor="ctr"/>
          <a:lstStyle/>
          <a:p>
            <a:pPr algn="ctr" indent="0" marL="0">
              <a:buNone/>
            </a:pPr>
            <a:r>
              <a:rPr lang="en-US" sz="1100" b="1" dirty="0">
                <a:solidFill>
                  <a:srgbClr val="009E96"/>
                </a:solidFill>
              </a:rPr>
              <a:t>Least Privilege</a:t>
            </a:r>
            <a:endParaRPr lang="en-US" sz="1100" dirty="0"/>
          </a:p>
        </p:txBody>
      </p:sp>
      <p:sp>
        <p:nvSpPr>
          <p:cNvPr id="21" name="Text 18"/>
          <p:cNvSpPr/>
          <p:nvPr/>
        </p:nvSpPr>
        <p:spPr>
          <a:xfrm>
            <a:off x="3017520" y="2971800"/>
            <a:ext cx="1828800" cy="2743200"/>
          </a:xfrm>
          <a:prstGeom prst="rect">
            <a:avLst/>
          </a:prstGeom>
          <a:noFill/>
          <a:ln/>
        </p:spPr>
        <p:txBody>
          <a:bodyPr wrap="square" rtlCol="0" anchor="ctr"/>
          <a:lstStyle/>
          <a:p>
            <a:pPr indent="0" marL="0">
              <a:lnSpc>
                <a:spcPts val="1500"/>
              </a:lnSpc>
              <a:buNone/>
            </a:pPr>
            <a:r>
              <a:rPr lang="en-US" sz="900" dirty="0">
                <a:solidFill>
                  <a:srgbClr val="334155"/>
                </a:solidFill>
              </a:rPr>
              <a:t>Elakkan log masuk terus akaun root; gunakan akaun peribadi dengan kawalan granular di /etc/sudoers.d/.</a:t>
            </a:r>
            <a:endParaRPr lang="en-US" sz="900" dirty="0"/>
          </a:p>
        </p:txBody>
      </p:sp>
      <p:sp>
        <p:nvSpPr>
          <p:cNvPr id="22" name="Shape 19"/>
          <p:cNvSpPr/>
          <p:nvPr/>
        </p:nvSpPr>
        <p:spPr>
          <a:xfrm>
            <a:off x="5120640" y="1920240"/>
            <a:ext cx="2103120" cy="4023360"/>
          </a:xfrm>
          <a:prstGeom prst="roundRect">
            <a:avLst>
              <a:gd name="adj" fmla="val 6522"/>
            </a:avLst>
          </a:prstGeom>
          <a:solidFill>
            <a:srgbClr val="FFFFFF"/>
          </a:solidFill>
          <a:ln w="12700">
            <a:solidFill>
              <a:srgbClr val="E2E8F0"/>
            </a:solidFill>
            <a:prstDash val="solid"/>
          </a:ln>
        </p:spPr>
      </p:sp>
      <p:sp>
        <p:nvSpPr>
          <p:cNvPr id="23" name="Shape 20"/>
          <p:cNvSpPr/>
          <p:nvPr/>
        </p:nvSpPr>
        <p:spPr>
          <a:xfrm>
            <a:off x="5120640" y="1920240"/>
            <a:ext cx="2103120" cy="411480"/>
          </a:xfrm>
          <a:prstGeom prst="roundRect">
            <a:avLst>
              <a:gd name="adj" fmla="val 33333"/>
            </a:avLst>
          </a:prstGeom>
          <a:solidFill>
            <a:srgbClr val="7E22CE"/>
          </a:solidFill>
          <a:ln w="12700">
            <a:solidFill>
              <a:srgbClr val="7E22CE"/>
            </a:solidFill>
            <a:prstDash val="solid"/>
          </a:ln>
        </p:spPr>
      </p:sp>
      <p:sp>
        <p:nvSpPr>
          <p:cNvPr id="24" name="Text 21"/>
          <p:cNvSpPr/>
          <p:nvPr/>
        </p:nvSpPr>
        <p:spPr>
          <a:xfrm>
            <a:off x="5120640" y="1965960"/>
            <a:ext cx="2103120" cy="320040"/>
          </a:xfrm>
          <a:prstGeom prst="rect">
            <a:avLst/>
          </a:prstGeom>
          <a:noFill/>
          <a:ln/>
        </p:spPr>
        <p:txBody>
          <a:bodyPr wrap="square" rtlCol="0" anchor="ctr"/>
          <a:lstStyle/>
          <a:p>
            <a:pPr algn="ctr" indent="0" marL="0">
              <a:buNone/>
            </a:pPr>
            <a:r>
              <a:rPr lang="en-US" sz="950" b="1" dirty="0">
                <a:solidFill>
                  <a:srgbClr val="FFFFFF"/>
                </a:solidFill>
              </a:rPr>
              <a:t>TERAS 3</a:t>
            </a:r>
            <a:endParaRPr lang="en-US" sz="950" dirty="0"/>
          </a:p>
        </p:txBody>
      </p:sp>
      <p:sp>
        <p:nvSpPr>
          <p:cNvPr id="25" name="Text 22"/>
          <p:cNvSpPr/>
          <p:nvPr/>
        </p:nvSpPr>
        <p:spPr>
          <a:xfrm>
            <a:off x="5212080" y="2468880"/>
            <a:ext cx="1920240" cy="411480"/>
          </a:xfrm>
          <a:prstGeom prst="rect">
            <a:avLst/>
          </a:prstGeom>
          <a:noFill/>
          <a:ln/>
        </p:spPr>
        <p:txBody>
          <a:bodyPr wrap="square" rtlCol="0" anchor="ctr"/>
          <a:lstStyle/>
          <a:p>
            <a:pPr algn="ctr" indent="0" marL="0">
              <a:buNone/>
            </a:pPr>
            <a:r>
              <a:rPr lang="en-US" sz="1100" b="1" dirty="0">
                <a:solidFill>
                  <a:srgbClr val="7E22CE"/>
                </a:solidFill>
              </a:rPr>
              <a:t>Storan Dinamik</a:t>
            </a:r>
            <a:endParaRPr lang="en-US" sz="1100" dirty="0"/>
          </a:p>
        </p:txBody>
      </p:sp>
      <p:sp>
        <p:nvSpPr>
          <p:cNvPr id="26" name="Text 23"/>
          <p:cNvSpPr/>
          <p:nvPr/>
        </p:nvSpPr>
        <p:spPr>
          <a:xfrm>
            <a:off x="5257800" y="2971800"/>
            <a:ext cx="1828800" cy="2743200"/>
          </a:xfrm>
          <a:prstGeom prst="rect">
            <a:avLst/>
          </a:prstGeom>
          <a:noFill/>
          <a:ln/>
        </p:spPr>
        <p:txBody>
          <a:bodyPr wrap="square" rtlCol="0" anchor="ctr"/>
          <a:lstStyle/>
          <a:p>
            <a:pPr indent="0" marL="0">
              <a:lnSpc>
                <a:spcPts val="1500"/>
              </a:lnSpc>
              <a:buNone/>
            </a:pPr>
            <a:r>
              <a:rPr lang="en-US" sz="900" dirty="0">
                <a:solidFill>
                  <a:srgbClr val="334155"/>
                </a:solidFill>
              </a:rPr>
              <a:t>Letakkan direktori data di atas LVM dengan sistem fail XFS untuk keupayaan pembesaran online sifar henti.</a:t>
            </a:r>
            <a:endParaRPr lang="en-US" sz="900" dirty="0"/>
          </a:p>
        </p:txBody>
      </p:sp>
      <p:sp>
        <p:nvSpPr>
          <p:cNvPr id="27" name="Shape 24"/>
          <p:cNvSpPr/>
          <p:nvPr/>
        </p:nvSpPr>
        <p:spPr>
          <a:xfrm>
            <a:off x="7360920" y="1920240"/>
            <a:ext cx="2103120" cy="4023360"/>
          </a:xfrm>
          <a:prstGeom prst="roundRect">
            <a:avLst>
              <a:gd name="adj" fmla="val 6522"/>
            </a:avLst>
          </a:prstGeom>
          <a:solidFill>
            <a:srgbClr val="FFFFFF"/>
          </a:solidFill>
          <a:ln w="12700">
            <a:solidFill>
              <a:srgbClr val="E2E8F0"/>
            </a:solidFill>
            <a:prstDash val="solid"/>
          </a:ln>
        </p:spPr>
      </p:sp>
      <p:sp>
        <p:nvSpPr>
          <p:cNvPr id="28" name="Shape 25"/>
          <p:cNvSpPr/>
          <p:nvPr/>
        </p:nvSpPr>
        <p:spPr>
          <a:xfrm>
            <a:off x="7360920" y="1920240"/>
            <a:ext cx="2103120" cy="411480"/>
          </a:xfrm>
          <a:prstGeom prst="roundRect">
            <a:avLst>
              <a:gd name="adj" fmla="val 33333"/>
            </a:avLst>
          </a:prstGeom>
          <a:solidFill>
            <a:srgbClr val="D97706"/>
          </a:solidFill>
          <a:ln w="12700">
            <a:solidFill>
              <a:srgbClr val="D97706"/>
            </a:solidFill>
            <a:prstDash val="solid"/>
          </a:ln>
        </p:spPr>
      </p:sp>
      <p:sp>
        <p:nvSpPr>
          <p:cNvPr id="29" name="Text 26"/>
          <p:cNvSpPr/>
          <p:nvPr/>
        </p:nvSpPr>
        <p:spPr>
          <a:xfrm>
            <a:off x="7360920" y="1965960"/>
            <a:ext cx="2103120" cy="320040"/>
          </a:xfrm>
          <a:prstGeom prst="rect">
            <a:avLst/>
          </a:prstGeom>
          <a:noFill/>
          <a:ln/>
        </p:spPr>
        <p:txBody>
          <a:bodyPr wrap="square" rtlCol="0" anchor="ctr"/>
          <a:lstStyle/>
          <a:p>
            <a:pPr algn="ctr" indent="0" marL="0">
              <a:buNone/>
            </a:pPr>
            <a:r>
              <a:rPr lang="en-US" sz="950" b="1" dirty="0">
                <a:solidFill>
                  <a:srgbClr val="FFFFFF"/>
                </a:solidFill>
              </a:rPr>
              <a:t>TERAS 4</a:t>
            </a:r>
            <a:endParaRPr lang="en-US" sz="950" dirty="0"/>
          </a:p>
        </p:txBody>
      </p:sp>
      <p:sp>
        <p:nvSpPr>
          <p:cNvPr id="30" name="Text 27"/>
          <p:cNvSpPr/>
          <p:nvPr/>
        </p:nvSpPr>
        <p:spPr>
          <a:xfrm>
            <a:off x="7452360" y="2468880"/>
            <a:ext cx="1920240" cy="411480"/>
          </a:xfrm>
          <a:prstGeom prst="rect">
            <a:avLst/>
          </a:prstGeom>
          <a:noFill/>
          <a:ln/>
        </p:spPr>
        <p:txBody>
          <a:bodyPr wrap="square" rtlCol="0" anchor="ctr"/>
          <a:lstStyle/>
          <a:p>
            <a:pPr algn="ctr" indent="0" marL="0">
              <a:buNone/>
            </a:pPr>
            <a:r>
              <a:rPr lang="en-US" sz="1100" b="1" dirty="0">
                <a:solidFill>
                  <a:srgbClr val="D97706"/>
                </a:solidFill>
              </a:rPr>
              <a:t>Tembok Api Aktif</a:t>
            </a:r>
            <a:endParaRPr lang="en-US" sz="1100" dirty="0"/>
          </a:p>
        </p:txBody>
      </p:sp>
      <p:sp>
        <p:nvSpPr>
          <p:cNvPr id="31" name="Text 28"/>
          <p:cNvSpPr/>
          <p:nvPr/>
        </p:nvSpPr>
        <p:spPr>
          <a:xfrm>
            <a:off x="7498080" y="2971800"/>
            <a:ext cx="1828800" cy="2743200"/>
          </a:xfrm>
          <a:prstGeom prst="rect">
            <a:avLst/>
          </a:prstGeom>
          <a:noFill/>
          <a:ln/>
        </p:spPr>
        <p:txBody>
          <a:bodyPr wrap="square" rtlCol="0" anchor="ctr"/>
          <a:lstStyle/>
          <a:p>
            <a:pPr indent="0" marL="0">
              <a:lnSpc>
                <a:spcPts val="1500"/>
              </a:lnSpc>
              <a:buNone/>
            </a:pPr>
            <a:r>
              <a:rPr lang="en-US" sz="900" dirty="0">
                <a:solidFill>
                  <a:srgbClr val="334155"/>
                </a:solidFill>
              </a:rPr>
              <a:t>Pastikan firewalld sentiasa berjalan dan gunakan Rich Rules bagi menyekat akses mengikut subnet berdaftar.</a:t>
            </a:r>
            <a:endParaRPr lang="en-US" sz="900" dirty="0"/>
          </a:p>
        </p:txBody>
      </p:sp>
      <p:sp>
        <p:nvSpPr>
          <p:cNvPr id="32" name="Shape 29"/>
          <p:cNvSpPr/>
          <p:nvPr/>
        </p:nvSpPr>
        <p:spPr>
          <a:xfrm>
            <a:off x="9601200" y="1920240"/>
            <a:ext cx="2103120" cy="4023360"/>
          </a:xfrm>
          <a:prstGeom prst="roundRect">
            <a:avLst>
              <a:gd name="adj" fmla="val 6522"/>
            </a:avLst>
          </a:prstGeom>
          <a:solidFill>
            <a:srgbClr val="FFFFFF"/>
          </a:solidFill>
          <a:ln w="12700">
            <a:solidFill>
              <a:srgbClr val="E2E8F0"/>
            </a:solidFill>
            <a:prstDash val="solid"/>
          </a:ln>
        </p:spPr>
      </p:sp>
      <p:sp>
        <p:nvSpPr>
          <p:cNvPr id="33" name="Shape 30"/>
          <p:cNvSpPr/>
          <p:nvPr/>
        </p:nvSpPr>
        <p:spPr>
          <a:xfrm>
            <a:off x="9601200" y="1920240"/>
            <a:ext cx="2103120" cy="411480"/>
          </a:xfrm>
          <a:prstGeom prst="roundRect">
            <a:avLst>
              <a:gd name="adj" fmla="val 33333"/>
            </a:avLst>
          </a:prstGeom>
          <a:solidFill>
            <a:srgbClr val="DC2626"/>
          </a:solidFill>
          <a:ln w="12700">
            <a:solidFill>
              <a:srgbClr val="DC2626"/>
            </a:solidFill>
            <a:prstDash val="solid"/>
          </a:ln>
        </p:spPr>
      </p:sp>
      <p:sp>
        <p:nvSpPr>
          <p:cNvPr id="34" name="Text 31"/>
          <p:cNvSpPr/>
          <p:nvPr/>
        </p:nvSpPr>
        <p:spPr>
          <a:xfrm>
            <a:off x="9601200" y="1965960"/>
            <a:ext cx="2103120" cy="320040"/>
          </a:xfrm>
          <a:prstGeom prst="rect">
            <a:avLst/>
          </a:prstGeom>
          <a:noFill/>
          <a:ln/>
        </p:spPr>
        <p:txBody>
          <a:bodyPr wrap="square" rtlCol="0" anchor="ctr"/>
          <a:lstStyle/>
          <a:p>
            <a:pPr algn="ctr" indent="0" marL="0">
              <a:buNone/>
            </a:pPr>
            <a:r>
              <a:rPr lang="en-US" sz="950" b="1" dirty="0">
                <a:solidFill>
                  <a:srgbClr val="FFFFFF"/>
                </a:solidFill>
              </a:rPr>
              <a:t>TERAS 5</a:t>
            </a:r>
            <a:endParaRPr lang="en-US" sz="950" dirty="0"/>
          </a:p>
        </p:txBody>
      </p:sp>
      <p:sp>
        <p:nvSpPr>
          <p:cNvPr id="35" name="Text 32"/>
          <p:cNvSpPr/>
          <p:nvPr/>
        </p:nvSpPr>
        <p:spPr>
          <a:xfrm>
            <a:off x="9692640" y="2468880"/>
            <a:ext cx="1920240" cy="411480"/>
          </a:xfrm>
          <a:prstGeom prst="rect">
            <a:avLst/>
          </a:prstGeom>
          <a:noFill/>
          <a:ln/>
        </p:spPr>
        <p:txBody>
          <a:bodyPr wrap="square" rtlCol="0" anchor="ctr"/>
          <a:lstStyle/>
          <a:p>
            <a:pPr algn="ctr" indent="0" marL="0">
              <a:buNone/>
            </a:pPr>
            <a:r>
              <a:rPr lang="en-US" sz="1100" b="1" dirty="0">
                <a:solidFill>
                  <a:srgbClr val="DC2626"/>
                </a:solidFill>
              </a:rPr>
              <a:t>Automasi &amp; Integriti</a:t>
            </a:r>
            <a:endParaRPr lang="en-US" sz="1100" dirty="0"/>
          </a:p>
        </p:txBody>
      </p:sp>
      <p:sp>
        <p:nvSpPr>
          <p:cNvPr id="36" name="Text 33"/>
          <p:cNvSpPr/>
          <p:nvPr/>
        </p:nvSpPr>
        <p:spPr>
          <a:xfrm>
            <a:off x="9738360" y="2971800"/>
            <a:ext cx="1828800" cy="2743200"/>
          </a:xfrm>
          <a:prstGeom prst="rect">
            <a:avLst/>
          </a:prstGeom>
          <a:noFill/>
          <a:ln/>
        </p:spPr>
        <p:txBody>
          <a:bodyPr wrap="square" rtlCol="0" anchor="ctr"/>
          <a:lstStyle/>
          <a:p>
            <a:pPr indent="0" marL="0">
              <a:lnSpc>
                <a:spcPts val="1500"/>
              </a:lnSpc>
              <a:buNone/>
            </a:pPr>
            <a:r>
              <a:rPr lang="en-US" sz="900" dirty="0">
                <a:solidFill>
                  <a:srgbClr val="334155"/>
                </a:solidFill>
              </a:rPr>
              <a:t>Automasi sandaran dengan fail jadual di /etc/cron.d/ dan laksanakan audit integriti perisian dengan rpm -V.</a:t>
            </a:r>
            <a:endParaRPr lang="en-US" sz="900" dirty="0"/>
          </a:p>
        </p:txBody>
      </p:sp>
      <p:sp>
        <p:nvSpPr>
          <p:cNvPr id="37" name="Shape 34"/>
          <p:cNvSpPr/>
          <p:nvPr/>
        </p:nvSpPr>
        <p:spPr>
          <a:xfrm>
            <a:off x="640080" y="6400800"/>
            <a:ext cx="10881360" cy="0"/>
          </a:xfrm>
          <a:prstGeom prst="line">
            <a:avLst/>
          </a:prstGeom>
          <a:noFill/>
          <a:ln w="12700">
            <a:solidFill>
              <a:srgbClr val="E2E8F0"/>
            </a:solidFill>
            <a:prstDash val="solid"/>
          </a:ln>
        </p:spPr>
      </p:sp>
      <p:sp>
        <p:nvSpPr>
          <p:cNvPr id="38" name="Text 35"/>
          <p:cNvSpPr/>
          <p:nvPr/>
        </p:nvSpPr>
        <p:spPr>
          <a:xfrm>
            <a:off x="640080" y="6446520"/>
            <a:ext cx="4572000" cy="320040"/>
          </a:xfrm>
          <a:prstGeom prst="rect">
            <a:avLst/>
          </a:prstGeom>
          <a:noFill/>
          <a:ln/>
        </p:spPr>
        <p:txBody>
          <a:bodyPr wrap="square" rtlCol="0" anchor="ctr"/>
          <a:lstStyle/>
          <a:p>
            <a:pPr indent="0" marL="0">
              <a:buNone/>
            </a:pPr>
            <a:r>
              <a:rPr lang="en-US" sz="900" b="1" dirty="0">
                <a:solidFill>
                  <a:srgbClr val="64748B"/>
                </a:solidFill>
              </a:rPr>
              <a:t>Cognitoz BetaLab  |  Jabatan Kehakiman Malaysia (POJ)</a:t>
            </a:r>
            <a:endParaRPr lang="en-US" sz="900" dirty="0"/>
          </a:p>
        </p:txBody>
      </p:sp>
      <p:sp>
        <p:nvSpPr>
          <p:cNvPr id="39" name="Text 36"/>
          <p:cNvSpPr/>
          <p:nvPr/>
        </p:nvSpPr>
        <p:spPr>
          <a:xfrm>
            <a:off x="4389120" y="6446520"/>
            <a:ext cx="5029200" cy="320040"/>
          </a:xfrm>
          <a:prstGeom prst="rect">
            <a:avLst/>
          </a:prstGeom>
          <a:noFill/>
          <a:ln/>
        </p:spPr>
        <p:txBody>
          <a:bodyPr wrap="square" rtlCol="0" anchor="ctr"/>
          <a:lstStyle/>
          <a:p>
            <a:pPr algn="ctr" indent="0" marL="0">
              <a:buNone/>
            </a:pPr>
            <a:r>
              <a:rPr lang="en-US" sz="850" dirty="0">
                <a:solidFill>
                  <a:srgbClr val="64748B"/>
                </a:solidFill>
              </a:rPr>
              <a:t>Copyright © 2026 Cognitoz I.T Training Sdn Bhd — www.cognitoz.com</a:t>
            </a:r>
            <a:endParaRPr lang="en-US" sz="850" dirty="0"/>
          </a:p>
        </p:txBody>
      </p:sp>
      <p:sp>
        <p:nvSpPr>
          <p:cNvPr id="40" name="Text 37"/>
          <p:cNvSpPr/>
          <p:nvPr/>
        </p:nvSpPr>
        <p:spPr>
          <a:xfrm>
            <a:off x="9601200" y="6446520"/>
            <a:ext cx="1920240" cy="320040"/>
          </a:xfrm>
          <a:prstGeom prst="rect">
            <a:avLst/>
          </a:prstGeom>
          <a:noFill/>
          <a:ln/>
        </p:spPr>
        <p:txBody>
          <a:bodyPr wrap="square" rtlCol="0" anchor="ctr"/>
          <a:lstStyle/>
          <a:p>
            <a:pPr algn="r" indent="0" marL="0">
              <a:buNone/>
            </a:pPr>
            <a:r>
              <a:rPr lang="en-US" sz="900" b="1" dirty="0">
                <a:solidFill>
                  <a:srgbClr val="64748B"/>
                </a:solidFill>
              </a:rPr>
              <a:t>21 / 22</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3044952" cy="54864"/>
          </a:xfrm>
          <a:prstGeom prst="rect">
            <a:avLst/>
          </a:prstGeom>
          <a:solidFill>
            <a:srgbClr val="7E22CE"/>
          </a:solidFill>
          <a:ln/>
        </p:spPr>
      </p:sp>
      <p:sp>
        <p:nvSpPr>
          <p:cNvPr id="3" name="Shape 1"/>
          <p:cNvSpPr/>
          <p:nvPr/>
        </p:nvSpPr>
        <p:spPr>
          <a:xfrm>
            <a:off x="3044952" y="0"/>
            <a:ext cx="3044952" cy="54864"/>
          </a:xfrm>
          <a:prstGeom prst="rect">
            <a:avLst/>
          </a:prstGeom>
          <a:solidFill>
            <a:srgbClr val="0078D4"/>
          </a:solidFill>
          <a:ln/>
        </p:spPr>
      </p:sp>
      <p:sp>
        <p:nvSpPr>
          <p:cNvPr id="4" name="Shape 2"/>
          <p:cNvSpPr/>
          <p:nvPr/>
        </p:nvSpPr>
        <p:spPr>
          <a:xfrm>
            <a:off x="6089904" y="0"/>
            <a:ext cx="3044952" cy="54864"/>
          </a:xfrm>
          <a:prstGeom prst="rect">
            <a:avLst/>
          </a:prstGeom>
          <a:solidFill>
            <a:srgbClr val="009E96"/>
          </a:solidFill>
          <a:ln/>
        </p:spPr>
      </p:sp>
      <p:sp>
        <p:nvSpPr>
          <p:cNvPr id="5" name="Shape 3"/>
          <p:cNvSpPr/>
          <p:nvPr/>
        </p:nvSpPr>
        <p:spPr>
          <a:xfrm>
            <a:off x="9134856" y="0"/>
            <a:ext cx="3054096" cy="54864"/>
          </a:xfrm>
          <a:prstGeom prst="rect">
            <a:avLst/>
          </a:prstGeom>
          <a:solidFill>
            <a:srgbClr val="D97706"/>
          </a:solidFill>
          <a:ln/>
        </p:spPr>
      </p:sp>
      <p:pic>
        <p:nvPicPr>
          <p:cNvPr id="6" name="Image 0" descr="D:/betalab.cognitoz.com/workshops/poj_centos/public/cognitoz-logo.png">    </p:cNvPr>
          <p:cNvPicPr>
            <a:picLocks noChangeAspect="1"/>
          </p:cNvPicPr>
          <p:nvPr/>
        </p:nvPicPr>
        <p:blipFill>
          <a:blip r:embed="rId1"/>
          <a:stretch>
            <a:fillRect/>
          </a:stretch>
        </p:blipFill>
        <p:spPr>
          <a:xfrm>
            <a:off x="640080" y="201168"/>
            <a:ext cx="1463040" cy="411480"/>
          </a:xfrm>
          <a:prstGeom prst="rect">
            <a:avLst/>
          </a:prstGeom>
        </p:spPr>
      </p:pic>
      <p:sp>
        <p:nvSpPr>
          <p:cNvPr id="7" name="Shape 4"/>
          <p:cNvSpPr/>
          <p:nvPr/>
        </p:nvSpPr>
        <p:spPr>
          <a:xfrm>
            <a:off x="7863840" y="228600"/>
            <a:ext cx="3657600" cy="347472"/>
          </a:xfrm>
          <a:prstGeom prst="roundRect">
            <a:avLst>
              <a:gd name="adj" fmla="val 47368"/>
            </a:avLst>
          </a:prstGeom>
          <a:solidFill>
            <a:srgbClr val="FFFFFF"/>
          </a:solidFill>
          <a:ln w="12700">
            <a:solidFill>
              <a:srgbClr val="E2E8F0"/>
            </a:solidFill>
            <a:prstDash val="solid"/>
          </a:ln>
        </p:spPr>
      </p:sp>
      <p:sp>
        <p:nvSpPr>
          <p:cNvPr id="8" name="Text 5"/>
          <p:cNvSpPr/>
          <p:nvPr/>
        </p:nvSpPr>
        <p:spPr>
          <a:xfrm>
            <a:off x="7863840" y="228600"/>
            <a:ext cx="3657600" cy="347472"/>
          </a:xfrm>
          <a:prstGeom prst="rect">
            <a:avLst/>
          </a:prstGeom>
          <a:noFill/>
          <a:ln/>
        </p:spPr>
        <p:txBody>
          <a:bodyPr wrap="square" rtlCol="0" anchor="ctr"/>
          <a:lstStyle/>
          <a:p>
            <a:pPr algn="ctr" indent="0" marL="0">
              <a:buNone/>
            </a:pPr>
            <a:r>
              <a:rPr lang="en-US" sz="900" b="1" dirty="0">
                <a:solidFill>
                  <a:srgbClr val="7E22CE"/>
                </a:solidFill>
              </a:rPr>
              <a:t>CentOS Stream 10  |  POJ Putrajaya</a:t>
            </a:r>
            <a:endParaRPr lang="en-US" sz="900" dirty="0"/>
          </a:p>
        </p:txBody>
      </p:sp>
      <p:sp>
        <p:nvSpPr>
          <p:cNvPr id="9" name="Text 6"/>
          <p:cNvSpPr/>
          <p:nvPr/>
        </p:nvSpPr>
        <p:spPr>
          <a:xfrm>
            <a:off x="640080" y="777240"/>
            <a:ext cx="10881360" cy="274320"/>
          </a:xfrm>
          <a:prstGeom prst="rect">
            <a:avLst/>
          </a:prstGeom>
          <a:noFill/>
          <a:ln/>
        </p:spPr>
        <p:txBody>
          <a:bodyPr wrap="square" rtlCol="0" anchor="ctr"/>
          <a:lstStyle/>
          <a:p>
            <a:pPr indent="0" marL="0">
              <a:buNone/>
            </a:pPr>
            <a:r>
              <a:rPr lang="en-US" sz="1000" b="1" spc="150" kern="0" dirty="0">
                <a:solidFill>
                  <a:srgbClr val="0078D4"/>
                </a:solidFill>
              </a:rPr>
              <a:t>SESI SOAL JAWAB &amp; MAKLUM BALAS</a:t>
            </a:r>
            <a:endParaRPr lang="en-US" sz="1000" dirty="0"/>
          </a:p>
        </p:txBody>
      </p:sp>
      <p:sp>
        <p:nvSpPr>
          <p:cNvPr id="10" name="Text 7"/>
          <p:cNvSpPr/>
          <p:nvPr/>
        </p:nvSpPr>
        <p:spPr>
          <a:xfrm>
            <a:off x="640080" y="1024128"/>
            <a:ext cx="10881360" cy="502920"/>
          </a:xfrm>
          <a:prstGeom prst="rect">
            <a:avLst/>
          </a:prstGeom>
          <a:noFill/>
          <a:ln/>
        </p:spPr>
        <p:txBody>
          <a:bodyPr wrap="square" rtlCol="0" anchor="ctr"/>
          <a:lstStyle/>
          <a:p>
            <a:pPr indent="0" marL="0">
              <a:buNone/>
            </a:pPr>
            <a:r>
              <a:rPr lang="en-US" sz="2100" b="1" dirty="0">
                <a:solidFill>
                  <a:srgbClr val="0F172A"/>
                </a:solidFill>
              </a:rPr>
              <a:t>Sesi Perbincangan Terbuka &amp; Penilaian Bengkel</a:t>
            </a:r>
            <a:endParaRPr lang="en-US" sz="2100" dirty="0"/>
          </a:p>
        </p:txBody>
      </p:sp>
      <p:sp>
        <p:nvSpPr>
          <p:cNvPr id="11" name="Text 8"/>
          <p:cNvSpPr/>
          <p:nvPr/>
        </p:nvSpPr>
        <p:spPr>
          <a:xfrm>
            <a:off x="640080" y="1536192"/>
            <a:ext cx="10881360" cy="320040"/>
          </a:xfrm>
          <a:prstGeom prst="rect">
            <a:avLst/>
          </a:prstGeom>
          <a:noFill/>
          <a:ln/>
        </p:spPr>
        <p:txBody>
          <a:bodyPr wrap="square" rtlCol="0" anchor="ctr"/>
          <a:lstStyle/>
          <a:p>
            <a:pPr indent="0" marL="0">
              <a:buNone/>
            </a:pPr>
            <a:r>
              <a:rPr lang="en-US" sz="1200" dirty="0">
                <a:solidFill>
                  <a:srgbClr val="64748B"/>
                </a:solidFill>
              </a:rPr>
              <a:t>Ruang Soal Jawab Teknikal, Khidmat Nasihat Operasi &amp; Penilaian Peserta POJ</a:t>
            </a:r>
            <a:endParaRPr lang="en-US" sz="1200" dirty="0"/>
          </a:p>
        </p:txBody>
      </p:sp>
      <p:sp>
        <p:nvSpPr>
          <p:cNvPr id="12" name="Shape 9"/>
          <p:cNvSpPr/>
          <p:nvPr/>
        </p:nvSpPr>
        <p:spPr>
          <a:xfrm>
            <a:off x="640080" y="1920240"/>
            <a:ext cx="6583680" cy="4206240"/>
          </a:xfrm>
          <a:prstGeom prst="roundRect">
            <a:avLst>
              <a:gd name="adj" fmla="val 3261"/>
            </a:avLst>
          </a:prstGeom>
          <a:solidFill>
            <a:srgbClr val="FFFFFF"/>
          </a:solidFill>
          <a:ln w="12700">
            <a:solidFill>
              <a:srgbClr val="E2E8F0"/>
            </a:solidFill>
            <a:prstDash val="solid"/>
          </a:ln>
        </p:spPr>
      </p:sp>
      <p:sp>
        <p:nvSpPr>
          <p:cNvPr id="13" name="Text 10"/>
          <p:cNvSpPr/>
          <p:nvPr/>
        </p:nvSpPr>
        <p:spPr>
          <a:xfrm>
            <a:off x="914400" y="2148840"/>
            <a:ext cx="6035040" cy="320040"/>
          </a:xfrm>
          <a:prstGeom prst="rect">
            <a:avLst/>
          </a:prstGeom>
          <a:noFill/>
          <a:ln/>
        </p:spPr>
        <p:txBody>
          <a:bodyPr wrap="square" rtlCol="0" anchor="ctr"/>
          <a:lstStyle/>
          <a:p>
            <a:pPr indent="0" marL="0">
              <a:buNone/>
            </a:pPr>
            <a:r>
              <a:rPr lang="en-US" sz="1400" b="1" dirty="0">
                <a:solidFill>
                  <a:srgbClr val="0F172A"/>
                </a:solidFill>
              </a:rPr>
              <a:t>Sesi Perbincangan Terbuka</a:t>
            </a:r>
            <a:endParaRPr lang="en-US" sz="1400" dirty="0"/>
          </a:p>
        </p:txBody>
      </p:sp>
      <p:sp>
        <p:nvSpPr>
          <p:cNvPr id="14" name="Text 11"/>
          <p:cNvSpPr/>
          <p:nvPr/>
        </p:nvSpPr>
        <p:spPr>
          <a:xfrm>
            <a:off x="914400" y="2514600"/>
            <a:ext cx="6035040" cy="411480"/>
          </a:xfrm>
          <a:prstGeom prst="rect">
            <a:avLst/>
          </a:prstGeom>
          <a:noFill/>
          <a:ln/>
        </p:spPr>
        <p:txBody>
          <a:bodyPr wrap="square" rtlCol="0" anchor="ctr"/>
          <a:lstStyle/>
          <a:p>
            <a:pPr indent="0" marL="0">
              <a:buNone/>
            </a:pPr>
            <a:r>
              <a:rPr lang="en-US" sz="950" dirty="0">
                <a:solidFill>
                  <a:srgbClr val="64748B"/>
                </a:solidFill>
              </a:rPr>
              <a:t>Sila kemukakan sebarang soalan teknikal berkaitan pentadbiran CentOS Stream 10, operasi di POJ, atau amalan terbaik SysAdmin Enterprise:</a:t>
            </a:r>
            <a:endParaRPr lang="en-US" sz="950" dirty="0"/>
          </a:p>
        </p:txBody>
      </p:sp>
      <p:sp>
        <p:nvSpPr>
          <p:cNvPr id="15" name="Shape 12"/>
          <p:cNvSpPr/>
          <p:nvPr/>
        </p:nvSpPr>
        <p:spPr>
          <a:xfrm>
            <a:off x="914400" y="3063240"/>
            <a:ext cx="411480" cy="411480"/>
          </a:xfrm>
          <a:prstGeom prst="roundRect">
            <a:avLst>
              <a:gd name="adj" fmla="val 17778"/>
            </a:avLst>
          </a:prstGeom>
          <a:solidFill>
            <a:srgbClr val="F1F5F9"/>
          </a:solidFill>
          <a:ln w="10160">
            <a:solidFill>
              <a:srgbClr val="E2E8F0"/>
            </a:solidFill>
            <a:prstDash val="solid"/>
          </a:ln>
        </p:spPr>
      </p:sp>
      <p:sp>
        <p:nvSpPr>
          <p:cNvPr id="16" name="Text 13"/>
          <p:cNvSpPr/>
          <p:nvPr/>
        </p:nvSpPr>
        <p:spPr>
          <a:xfrm>
            <a:off x="914400" y="3063240"/>
            <a:ext cx="411480" cy="411480"/>
          </a:xfrm>
          <a:prstGeom prst="rect">
            <a:avLst/>
          </a:prstGeom>
          <a:noFill/>
          <a:ln/>
        </p:spPr>
        <p:txBody>
          <a:bodyPr wrap="square" rtlCol="0" anchor="ctr"/>
          <a:lstStyle/>
          <a:p>
            <a:pPr algn="ctr" indent="0" marL="0">
              <a:buNone/>
            </a:pPr>
            <a:r>
              <a:rPr lang="en-US" sz="1000" b="1" dirty="0">
                <a:solidFill>
                  <a:srgbClr val="0078D4"/>
                </a:solidFill>
              </a:rPr>
              <a:t>1</a:t>
            </a:r>
            <a:endParaRPr lang="en-US" sz="1000" dirty="0"/>
          </a:p>
        </p:txBody>
      </p:sp>
      <p:sp>
        <p:nvSpPr>
          <p:cNvPr id="17" name="Text 14"/>
          <p:cNvSpPr/>
          <p:nvPr/>
        </p:nvSpPr>
        <p:spPr>
          <a:xfrm>
            <a:off x="1463040" y="3063240"/>
            <a:ext cx="5303520" cy="228600"/>
          </a:xfrm>
          <a:prstGeom prst="rect">
            <a:avLst/>
          </a:prstGeom>
          <a:noFill/>
          <a:ln/>
        </p:spPr>
        <p:txBody>
          <a:bodyPr wrap="square" rtlCol="0" anchor="ctr"/>
          <a:lstStyle/>
          <a:p>
            <a:pPr indent="0" marL="0">
              <a:buNone/>
            </a:pPr>
            <a:r>
              <a:rPr lang="en-US" sz="1000" b="1" dirty="0">
                <a:solidFill>
                  <a:srgbClr val="0F172A"/>
                </a:solidFill>
              </a:rPr>
              <a:t>Pengurusan Servis &amp; Log</a:t>
            </a:r>
            <a:endParaRPr lang="en-US" sz="1000" dirty="0"/>
          </a:p>
        </p:txBody>
      </p:sp>
      <p:sp>
        <p:nvSpPr>
          <p:cNvPr id="18" name="Text 15"/>
          <p:cNvSpPr/>
          <p:nvPr/>
        </p:nvSpPr>
        <p:spPr>
          <a:xfrm>
            <a:off x="1463040" y="3264408"/>
            <a:ext cx="5303520" cy="228600"/>
          </a:xfrm>
          <a:prstGeom prst="rect">
            <a:avLst/>
          </a:prstGeom>
          <a:noFill/>
          <a:ln/>
        </p:spPr>
        <p:txBody>
          <a:bodyPr wrap="square" rtlCol="0" anchor="ctr"/>
          <a:lstStyle/>
          <a:p>
            <a:pPr indent="0" marL="0">
              <a:buNone/>
            </a:pPr>
            <a:r>
              <a:rPr lang="en-US" sz="850" dirty="0">
                <a:solidFill>
                  <a:srgbClr val="64748B"/>
                </a:solidFill>
              </a:rPr>
              <a:t>systemd, journalctl, cgroups, dan siasatan crash log</a:t>
            </a:r>
            <a:endParaRPr lang="en-US" sz="850" dirty="0"/>
          </a:p>
        </p:txBody>
      </p:sp>
      <p:sp>
        <p:nvSpPr>
          <p:cNvPr id="19" name="Shape 16"/>
          <p:cNvSpPr/>
          <p:nvPr/>
        </p:nvSpPr>
        <p:spPr>
          <a:xfrm>
            <a:off x="914400" y="3703320"/>
            <a:ext cx="411480" cy="411480"/>
          </a:xfrm>
          <a:prstGeom prst="roundRect">
            <a:avLst>
              <a:gd name="adj" fmla="val 17778"/>
            </a:avLst>
          </a:prstGeom>
          <a:solidFill>
            <a:srgbClr val="F1F5F9"/>
          </a:solidFill>
          <a:ln w="10160">
            <a:solidFill>
              <a:srgbClr val="E2E8F0"/>
            </a:solidFill>
            <a:prstDash val="solid"/>
          </a:ln>
        </p:spPr>
      </p:sp>
      <p:sp>
        <p:nvSpPr>
          <p:cNvPr id="20" name="Text 17"/>
          <p:cNvSpPr/>
          <p:nvPr/>
        </p:nvSpPr>
        <p:spPr>
          <a:xfrm>
            <a:off x="914400" y="3703320"/>
            <a:ext cx="411480" cy="411480"/>
          </a:xfrm>
          <a:prstGeom prst="rect">
            <a:avLst/>
          </a:prstGeom>
          <a:noFill/>
          <a:ln/>
        </p:spPr>
        <p:txBody>
          <a:bodyPr wrap="square" rtlCol="0" anchor="ctr"/>
          <a:lstStyle/>
          <a:p>
            <a:pPr algn="ctr" indent="0" marL="0">
              <a:buNone/>
            </a:pPr>
            <a:r>
              <a:rPr lang="en-US" sz="1000" b="1" dirty="0">
                <a:solidFill>
                  <a:srgbClr val="009E96"/>
                </a:solidFill>
              </a:rPr>
              <a:t>2</a:t>
            </a:r>
            <a:endParaRPr lang="en-US" sz="1000" dirty="0"/>
          </a:p>
        </p:txBody>
      </p:sp>
      <p:sp>
        <p:nvSpPr>
          <p:cNvPr id="21" name="Text 18"/>
          <p:cNvSpPr/>
          <p:nvPr/>
        </p:nvSpPr>
        <p:spPr>
          <a:xfrm>
            <a:off x="1463040" y="3703320"/>
            <a:ext cx="5303520" cy="228600"/>
          </a:xfrm>
          <a:prstGeom prst="rect">
            <a:avLst/>
          </a:prstGeom>
          <a:noFill/>
          <a:ln/>
        </p:spPr>
        <p:txBody>
          <a:bodyPr wrap="square" rtlCol="0" anchor="ctr"/>
          <a:lstStyle/>
          <a:p>
            <a:pPr indent="0" marL="0">
              <a:buNone/>
            </a:pPr>
            <a:r>
              <a:rPr lang="en-US" sz="1000" b="1" dirty="0">
                <a:solidFill>
                  <a:srgbClr val="0F172A"/>
                </a:solidFill>
              </a:rPr>
              <a:t>Akaun, Akses Kolaborasi &amp; Granular Sudo</a:t>
            </a:r>
            <a:endParaRPr lang="en-US" sz="1000" dirty="0"/>
          </a:p>
        </p:txBody>
      </p:sp>
      <p:sp>
        <p:nvSpPr>
          <p:cNvPr id="22" name="Text 19"/>
          <p:cNvSpPr/>
          <p:nvPr/>
        </p:nvSpPr>
        <p:spPr>
          <a:xfrm>
            <a:off x="1463040" y="3904488"/>
            <a:ext cx="5303520" cy="228600"/>
          </a:xfrm>
          <a:prstGeom prst="rect">
            <a:avLst/>
          </a:prstGeom>
          <a:noFill/>
          <a:ln/>
        </p:spPr>
        <p:txBody>
          <a:bodyPr wrap="square" rtlCol="0" anchor="ctr"/>
          <a:lstStyle/>
          <a:p>
            <a:pPr indent="0" marL="0">
              <a:buNone/>
            </a:pPr>
            <a:r>
              <a:rPr lang="en-US" sz="850" dirty="0">
                <a:solidFill>
                  <a:srgbClr val="64748B"/>
                </a:solidFill>
              </a:rPr>
              <a:t>Kumpulan wheel, SetGID 2770, dan fail modular /etc/sudoers.d/</a:t>
            </a:r>
            <a:endParaRPr lang="en-US" sz="850" dirty="0"/>
          </a:p>
        </p:txBody>
      </p:sp>
      <p:sp>
        <p:nvSpPr>
          <p:cNvPr id="23" name="Shape 20"/>
          <p:cNvSpPr/>
          <p:nvPr/>
        </p:nvSpPr>
        <p:spPr>
          <a:xfrm>
            <a:off x="914400" y="4343400"/>
            <a:ext cx="411480" cy="411480"/>
          </a:xfrm>
          <a:prstGeom prst="roundRect">
            <a:avLst>
              <a:gd name="adj" fmla="val 17778"/>
            </a:avLst>
          </a:prstGeom>
          <a:solidFill>
            <a:srgbClr val="F1F5F9"/>
          </a:solidFill>
          <a:ln w="10160">
            <a:solidFill>
              <a:srgbClr val="E2E8F0"/>
            </a:solidFill>
            <a:prstDash val="solid"/>
          </a:ln>
        </p:spPr>
      </p:sp>
      <p:sp>
        <p:nvSpPr>
          <p:cNvPr id="24" name="Text 21"/>
          <p:cNvSpPr/>
          <p:nvPr/>
        </p:nvSpPr>
        <p:spPr>
          <a:xfrm>
            <a:off x="914400" y="4343400"/>
            <a:ext cx="411480" cy="411480"/>
          </a:xfrm>
          <a:prstGeom prst="rect">
            <a:avLst/>
          </a:prstGeom>
          <a:noFill/>
          <a:ln/>
        </p:spPr>
        <p:txBody>
          <a:bodyPr wrap="square" rtlCol="0" anchor="ctr"/>
          <a:lstStyle/>
          <a:p>
            <a:pPr algn="ctr" indent="0" marL="0">
              <a:buNone/>
            </a:pPr>
            <a:r>
              <a:rPr lang="en-US" sz="1000" b="1" dirty="0">
                <a:solidFill>
                  <a:srgbClr val="D97706"/>
                </a:solidFill>
              </a:rPr>
              <a:t>3</a:t>
            </a:r>
            <a:endParaRPr lang="en-US" sz="1000" dirty="0"/>
          </a:p>
        </p:txBody>
      </p:sp>
      <p:sp>
        <p:nvSpPr>
          <p:cNvPr id="25" name="Text 22"/>
          <p:cNvSpPr/>
          <p:nvPr/>
        </p:nvSpPr>
        <p:spPr>
          <a:xfrm>
            <a:off x="1463040" y="4343400"/>
            <a:ext cx="5303520" cy="228600"/>
          </a:xfrm>
          <a:prstGeom prst="rect">
            <a:avLst/>
          </a:prstGeom>
          <a:noFill/>
          <a:ln/>
        </p:spPr>
        <p:txBody>
          <a:bodyPr wrap="square" rtlCol="0" anchor="ctr"/>
          <a:lstStyle/>
          <a:p>
            <a:pPr indent="0" marL="0">
              <a:buNone/>
            </a:pPr>
            <a:r>
              <a:rPr lang="en-US" sz="1000" b="1" dirty="0">
                <a:solidFill>
                  <a:srgbClr val="0F172A"/>
                </a:solidFill>
              </a:rPr>
              <a:t>Storan Enterprise &amp; LVM Dinamik</a:t>
            </a:r>
            <a:endParaRPr lang="en-US" sz="1000" dirty="0"/>
          </a:p>
        </p:txBody>
      </p:sp>
      <p:sp>
        <p:nvSpPr>
          <p:cNvPr id="26" name="Text 23"/>
          <p:cNvSpPr/>
          <p:nvPr/>
        </p:nvSpPr>
        <p:spPr>
          <a:xfrm>
            <a:off x="1463040" y="4544568"/>
            <a:ext cx="5303520" cy="228600"/>
          </a:xfrm>
          <a:prstGeom prst="rect">
            <a:avLst/>
          </a:prstGeom>
          <a:noFill/>
          <a:ln/>
        </p:spPr>
        <p:txBody>
          <a:bodyPr wrap="square" rtlCol="0" anchor="ctr"/>
          <a:lstStyle/>
          <a:p>
            <a:pPr indent="0" marL="0">
              <a:buNone/>
            </a:pPr>
            <a:r>
              <a:rPr lang="en-US" sz="850" dirty="0">
                <a:solidFill>
                  <a:srgbClr val="64748B"/>
                </a:solidFill>
              </a:rPr>
              <a:t>PV / VG / LV, sistem fail XFS, dan pembesaran volum secara langsung</a:t>
            </a:r>
            <a:endParaRPr lang="en-US" sz="850" dirty="0"/>
          </a:p>
        </p:txBody>
      </p:sp>
      <p:sp>
        <p:nvSpPr>
          <p:cNvPr id="27" name="Shape 24"/>
          <p:cNvSpPr/>
          <p:nvPr/>
        </p:nvSpPr>
        <p:spPr>
          <a:xfrm>
            <a:off x="914400" y="4983480"/>
            <a:ext cx="411480" cy="411480"/>
          </a:xfrm>
          <a:prstGeom prst="roundRect">
            <a:avLst>
              <a:gd name="adj" fmla="val 17778"/>
            </a:avLst>
          </a:prstGeom>
          <a:solidFill>
            <a:srgbClr val="F1F5F9"/>
          </a:solidFill>
          <a:ln w="10160">
            <a:solidFill>
              <a:srgbClr val="E2E8F0"/>
            </a:solidFill>
            <a:prstDash val="solid"/>
          </a:ln>
        </p:spPr>
      </p:sp>
      <p:sp>
        <p:nvSpPr>
          <p:cNvPr id="28" name="Text 25"/>
          <p:cNvSpPr/>
          <p:nvPr/>
        </p:nvSpPr>
        <p:spPr>
          <a:xfrm>
            <a:off x="914400" y="4983480"/>
            <a:ext cx="411480" cy="411480"/>
          </a:xfrm>
          <a:prstGeom prst="rect">
            <a:avLst/>
          </a:prstGeom>
          <a:noFill/>
          <a:ln/>
        </p:spPr>
        <p:txBody>
          <a:bodyPr wrap="square" rtlCol="0" anchor="ctr"/>
          <a:lstStyle/>
          <a:p>
            <a:pPr algn="ctr" indent="0" marL="0">
              <a:buNone/>
            </a:pPr>
            <a:r>
              <a:rPr lang="en-US" sz="1000" b="1" dirty="0">
                <a:solidFill>
                  <a:srgbClr val="7E22CE"/>
                </a:solidFill>
              </a:rPr>
              <a:t>4</a:t>
            </a:r>
            <a:endParaRPr lang="en-US" sz="1000" dirty="0"/>
          </a:p>
        </p:txBody>
      </p:sp>
      <p:sp>
        <p:nvSpPr>
          <p:cNvPr id="29" name="Text 26"/>
          <p:cNvSpPr/>
          <p:nvPr/>
        </p:nvSpPr>
        <p:spPr>
          <a:xfrm>
            <a:off x="1463040" y="4983480"/>
            <a:ext cx="5303520" cy="228600"/>
          </a:xfrm>
          <a:prstGeom prst="rect">
            <a:avLst/>
          </a:prstGeom>
          <a:noFill/>
          <a:ln/>
        </p:spPr>
        <p:txBody>
          <a:bodyPr wrap="square" rtlCol="0" anchor="ctr"/>
          <a:lstStyle/>
          <a:p>
            <a:pPr indent="0" marL="0">
              <a:buNone/>
            </a:pPr>
            <a:r>
              <a:rPr lang="en-US" sz="1000" b="1" dirty="0">
                <a:solidFill>
                  <a:srgbClr val="0F172A"/>
                </a:solidFill>
              </a:rPr>
              <a:t>Sekuriti Rangkaian &amp; Automasi</a:t>
            </a:r>
            <a:endParaRPr lang="en-US" sz="1000" dirty="0"/>
          </a:p>
        </p:txBody>
      </p:sp>
      <p:sp>
        <p:nvSpPr>
          <p:cNvPr id="30" name="Text 27"/>
          <p:cNvSpPr/>
          <p:nvPr/>
        </p:nvSpPr>
        <p:spPr>
          <a:xfrm>
            <a:off x="1463040" y="5184648"/>
            <a:ext cx="5303520" cy="228600"/>
          </a:xfrm>
          <a:prstGeom prst="rect">
            <a:avLst/>
          </a:prstGeom>
          <a:noFill/>
          <a:ln/>
        </p:spPr>
        <p:txBody>
          <a:bodyPr wrap="square" rtlCol="0" anchor="ctr"/>
          <a:lstStyle/>
          <a:p>
            <a:pPr indent="0" marL="0">
              <a:buNone/>
            </a:pPr>
            <a:r>
              <a:rPr lang="en-US" sz="850" dirty="0">
                <a:solidFill>
                  <a:srgbClr val="64748B"/>
                </a:solidFill>
              </a:rPr>
              <a:t>firewalld Rich Rules, integriti pakej dnf/rpm, dan automasi cron</a:t>
            </a:r>
            <a:endParaRPr lang="en-US" sz="850" dirty="0"/>
          </a:p>
        </p:txBody>
      </p:sp>
      <p:sp>
        <p:nvSpPr>
          <p:cNvPr id="31" name="Shape 28"/>
          <p:cNvSpPr/>
          <p:nvPr/>
        </p:nvSpPr>
        <p:spPr>
          <a:xfrm>
            <a:off x="914400" y="5715000"/>
            <a:ext cx="6035040" cy="347472"/>
          </a:xfrm>
          <a:prstGeom prst="roundRect">
            <a:avLst>
              <a:gd name="adj" fmla="val 21053"/>
            </a:avLst>
          </a:prstGeom>
          <a:solidFill>
            <a:srgbClr val="F0FDF4"/>
          </a:solidFill>
          <a:ln w="10160">
            <a:solidFill>
              <a:srgbClr val="BBF7D0"/>
            </a:solidFill>
            <a:prstDash val="solid"/>
          </a:ln>
        </p:spPr>
      </p:sp>
      <p:sp>
        <p:nvSpPr>
          <p:cNvPr id="32" name="Text 29"/>
          <p:cNvSpPr/>
          <p:nvPr/>
        </p:nvSpPr>
        <p:spPr>
          <a:xfrm>
            <a:off x="914400" y="5715000"/>
            <a:ext cx="6035040" cy="347472"/>
          </a:xfrm>
          <a:prstGeom prst="rect">
            <a:avLst/>
          </a:prstGeom>
          <a:noFill/>
          <a:ln/>
        </p:spPr>
        <p:txBody>
          <a:bodyPr wrap="square" rtlCol="0" anchor="ctr"/>
          <a:lstStyle/>
          <a:p>
            <a:pPr algn="ctr" indent="0" marL="0">
              <a:buNone/>
            </a:pPr>
            <a:r>
              <a:rPr lang="en-US" sz="850" b="1" dirty="0">
                <a:solidFill>
                  <a:srgbClr val="15803D"/>
                </a:solidFill>
              </a:rPr>
              <a:t>Setinggi-tinggi penghargaan &amp; terima kasih atas kerjasama padu warga Jabatan Kehakiman Malaysia (POJ).</a:t>
            </a:r>
            <a:endParaRPr lang="en-US" sz="850" dirty="0"/>
          </a:p>
        </p:txBody>
      </p:sp>
      <p:sp>
        <p:nvSpPr>
          <p:cNvPr id="33" name="Shape 30"/>
          <p:cNvSpPr/>
          <p:nvPr/>
        </p:nvSpPr>
        <p:spPr>
          <a:xfrm>
            <a:off x="7498080" y="1920240"/>
            <a:ext cx="4023360" cy="4206240"/>
          </a:xfrm>
          <a:prstGeom prst="roundRect">
            <a:avLst>
              <a:gd name="adj" fmla="val 3409"/>
            </a:avLst>
          </a:prstGeom>
          <a:solidFill>
            <a:srgbClr val="FFFFFF"/>
          </a:solidFill>
          <a:ln w="12700">
            <a:solidFill>
              <a:srgbClr val="E2E8F0"/>
            </a:solidFill>
            <a:prstDash val="solid"/>
          </a:ln>
        </p:spPr>
      </p:sp>
      <p:sp>
        <p:nvSpPr>
          <p:cNvPr id="34" name="Text 31"/>
          <p:cNvSpPr/>
          <p:nvPr/>
        </p:nvSpPr>
        <p:spPr>
          <a:xfrm>
            <a:off x="7680960" y="2103120"/>
            <a:ext cx="3657600" cy="320040"/>
          </a:xfrm>
          <a:prstGeom prst="rect">
            <a:avLst/>
          </a:prstGeom>
          <a:noFill/>
          <a:ln/>
        </p:spPr>
        <p:txBody>
          <a:bodyPr wrap="square" rtlCol="0" anchor="ctr"/>
          <a:lstStyle/>
          <a:p>
            <a:pPr algn="ctr" indent="0" marL="0">
              <a:buNone/>
            </a:pPr>
            <a:r>
              <a:rPr lang="en-US" sz="1300" b="1" dirty="0">
                <a:solidFill>
                  <a:srgbClr val="0F172A"/>
                </a:solidFill>
              </a:rPr>
              <a:t>Penilaian &amp; Maklum Balas</a:t>
            </a:r>
            <a:endParaRPr lang="en-US" sz="1300" dirty="0"/>
          </a:p>
        </p:txBody>
      </p:sp>
      <p:pic>
        <p:nvPicPr>
          <p:cNvPr id="35" name="Image 1" descr="D:/betalab.cognitoz.com/workshops/poj_centos/public/feedback-qr.png">    </p:cNvPr>
          <p:cNvPicPr>
            <a:picLocks noChangeAspect="1"/>
          </p:cNvPicPr>
          <p:nvPr/>
        </p:nvPicPr>
        <p:blipFill>
          <a:blip r:embed="rId2"/>
          <a:stretch>
            <a:fillRect/>
          </a:stretch>
        </p:blipFill>
        <p:spPr>
          <a:xfrm>
            <a:off x="8503920" y="2514600"/>
            <a:ext cx="2011680" cy="2011680"/>
          </a:xfrm>
          <a:prstGeom prst="rect">
            <a:avLst/>
          </a:prstGeom>
        </p:spPr>
      </p:pic>
      <p:sp>
        <p:nvSpPr>
          <p:cNvPr id="36" name="Text 32"/>
          <p:cNvSpPr/>
          <p:nvPr/>
        </p:nvSpPr>
        <p:spPr>
          <a:xfrm>
            <a:off x="7772400" y="4617720"/>
            <a:ext cx="3474720" cy="594360"/>
          </a:xfrm>
          <a:prstGeom prst="rect">
            <a:avLst/>
          </a:prstGeom>
          <a:noFill/>
          <a:ln/>
        </p:spPr>
        <p:txBody>
          <a:bodyPr wrap="square" rtlCol="0" anchor="ctr"/>
          <a:lstStyle/>
          <a:p>
            <a:pPr algn="ctr" indent="0" marL="0">
              <a:buNone/>
            </a:pPr>
            <a:r>
              <a:rPr lang="en-US" sz="900" dirty="0">
                <a:solidFill>
                  <a:srgbClr val="64748B"/>
                </a:solidFill>
              </a:rPr>
              <a:t>Sila imbas kod QR di atas menggunakan telefon pintar anda untuk melengkapkan borang penilaian bengkel.</a:t>
            </a:r>
            <a:endParaRPr lang="en-US" sz="900" dirty="0"/>
          </a:p>
        </p:txBody>
      </p:sp>
      <p:sp>
        <p:nvSpPr>
          <p:cNvPr id="37" name="Shape 33"/>
          <p:cNvSpPr/>
          <p:nvPr/>
        </p:nvSpPr>
        <p:spPr>
          <a:xfrm>
            <a:off x="8229600" y="5303520"/>
            <a:ext cx="2560320" cy="384048"/>
          </a:xfrm>
          <a:prstGeom prst="roundRect">
            <a:avLst>
              <a:gd name="adj" fmla="val 50000"/>
            </a:avLst>
          </a:prstGeom>
          <a:solidFill>
            <a:srgbClr val="7E22CE"/>
          </a:solidFill>
          <a:ln w="12700">
            <a:solidFill>
              <a:srgbClr val="7E22CE"/>
            </a:solidFill>
            <a:prstDash val="solid"/>
          </a:ln>
        </p:spPr>
      </p:sp>
      <p:sp>
        <p:nvSpPr>
          <p:cNvPr id="38" name="Text 34"/>
          <p:cNvSpPr/>
          <p:nvPr/>
        </p:nvSpPr>
        <p:spPr>
          <a:xfrm>
            <a:off x="8229600" y="5303520"/>
            <a:ext cx="2560320" cy="384048"/>
          </a:xfrm>
          <a:prstGeom prst="rect">
            <a:avLst/>
          </a:prstGeom>
          <a:noFill/>
          <a:ln/>
        </p:spPr>
        <p:txBody>
          <a:bodyPr wrap="square" rtlCol="0" anchor="ctr"/>
          <a:lstStyle/>
          <a:p>
            <a:pPr algn="ctr" indent="0" marL="0">
              <a:buNone/>
            </a:pPr>
            <a:r>
              <a:rPr lang="en-US" sz="950" b="1" dirty="0">
                <a:solidFill>
                  <a:srgbClr val="FFFFFF"/>
                </a:solidFill>
              </a:rPr>
              <a:t>Borang Penilaian Kursus</a:t>
            </a:r>
            <a:endParaRPr lang="en-US" sz="950" dirty="0"/>
          </a:p>
        </p:txBody>
      </p:sp>
      <p:sp>
        <p:nvSpPr>
          <p:cNvPr id="39" name="Shape 35"/>
          <p:cNvSpPr/>
          <p:nvPr/>
        </p:nvSpPr>
        <p:spPr>
          <a:xfrm>
            <a:off x="640080" y="6400800"/>
            <a:ext cx="10881360" cy="0"/>
          </a:xfrm>
          <a:prstGeom prst="line">
            <a:avLst/>
          </a:prstGeom>
          <a:noFill/>
          <a:ln w="12700">
            <a:solidFill>
              <a:srgbClr val="E2E8F0"/>
            </a:solidFill>
            <a:prstDash val="solid"/>
          </a:ln>
        </p:spPr>
      </p:sp>
      <p:sp>
        <p:nvSpPr>
          <p:cNvPr id="40" name="Text 36"/>
          <p:cNvSpPr/>
          <p:nvPr/>
        </p:nvSpPr>
        <p:spPr>
          <a:xfrm>
            <a:off x="640080" y="6446520"/>
            <a:ext cx="4572000" cy="320040"/>
          </a:xfrm>
          <a:prstGeom prst="rect">
            <a:avLst/>
          </a:prstGeom>
          <a:noFill/>
          <a:ln/>
        </p:spPr>
        <p:txBody>
          <a:bodyPr wrap="square" rtlCol="0" anchor="ctr"/>
          <a:lstStyle/>
          <a:p>
            <a:pPr indent="0" marL="0">
              <a:buNone/>
            </a:pPr>
            <a:r>
              <a:rPr lang="en-US" sz="900" b="1" dirty="0">
                <a:solidFill>
                  <a:srgbClr val="64748B"/>
                </a:solidFill>
              </a:rPr>
              <a:t>Cognitoz BetaLab  |  Jabatan Kehakiman Malaysia (POJ)</a:t>
            </a:r>
            <a:endParaRPr lang="en-US" sz="900" dirty="0"/>
          </a:p>
        </p:txBody>
      </p:sp>
      <p:sp>
        <p:nvSpPr>
          <p:cNvPr id="41" name="Text 37"/>
          <p:cNvSpPr/>
          <p:nvPr/>
        </p:nvSpPr>
        <p:spPr>
          <a:xfrm>
            <a:off x="4389120" y="6446520"/>
            <a:ext cx="5029200" cy="320040"/>
          </a:xfrm>
          <a:prstGeom prst="rect">
            <a:avLst/>
          </a:prstGeom>
          <a:noFill/>
          <a:ln/>
        </p:spPr>
        <p:txBody>
          <a:bodyPr wrap="square" rtlCol="0" anchor="ctr"/>
          <a:lstStyle/>
          <a:p>
            <a:pPr algn="ctr" indent="0" marL="0">
              <a:buNone/>
            </a:pPr>
            <a:r>
              <a:rPr lang="en-US" sz="850" dirty="0">
                <a:solidFill>
                  <a:srgbClr val="64748B"/>
                </a:solidFill>
              </a:rPr>
              <a:t>Copyright © 2026 Cognitoz I.T Training Sdn Bhd — www.cognitoz.com</a:t>
            </a:r>
            <a:endParaRPr lang="en-US" sz="850" dirty="0"/>
          </a:p>
        </p:txBody>
      </p:sp>
      <p:sp>
        <p:nvSpPr>
          <p:cNvPr id="42" name="Text 38"/>
          <p:cNvSpPr/>
          <p:nvPr/>
        </p:nvSpPr>
        <p:spPr>
          <a:xfrm>
            <a:off x="9601200" y="6446520"/>
            <a:ext cx="1920240" cy="320040"/>
          </a:xfrm>
          <a:prstGeom prst="rect">
            <a:avLst/>
          </a:prstGeom>
          <a:noFill/>
          <a:ln/>
        </p:spPr>
        <p:txBody>
          <a:bodyPr wrap="square" rtlCol="0" anchor="ctr"/>
          <a:lstStyle/>
          <a:p>
            <a:pPr algn="r" indent="0" marL="0">
              <a:buNone/>
            </a:pPr>
            <a:r>
              <a:rPr lang="en-US" sz="900" b="1" dirty="0">
                <a:solidFill>
                  <a:srgbClr val="64748B"/>
                </a:solidFill>
              </a:rPr>
              <a:t>22 / 22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Cognitoz I.T Training Sdn Bhd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Pentadbiran CentOS Stream 10: Siasatan Sistem, Keselamatan, Storan LVM &amp; Automasi</dc:title>
  <dc:subject>Pentadbiran CentOS Stream 10 untuk Jabatan Kehakiman Malaysia (POJ)</dc:subject>
  <dc:creator>Cognitoz I.T Training Sdn Bhd</dc:creator>
  <cp:lastModifiedBy>Cognitoz I.T Training Sdn Bhd</cp:lastModifiedBy>
  <cp:revision>1</cp:revision>
  <dcterms:created xsi:type="dcterms:W3CDTF">2026-09-29T03:21:22Z</dcterms:created>
  <dcterms:modified xsi:type="dcterms:W3CDTF">2026-09-29T03:21:22Z</dcterms:modified>
</cp:coreProperties>
</file>